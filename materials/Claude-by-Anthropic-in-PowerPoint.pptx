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56"/>
    <p:restoredTop sz="94647"/>
  </p:normalViewPr>
  <p:slideViewPr>
    <p:cSldViewPr snapToGrid="0" snapToObjects="1">
      <p:cViewPr varScale="1">
        <p:scale>
          <a:sx n="99" d="100"/>
          <a:sy n="99" d="100"/>
        </p:scale>
        <p:origin x="192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BottomBar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gradFill>
            <a:gsLst>
              <a:gs pos="0">
                <a:srgbClr val="4A90D9"/>
              </a:gs>
              <a:gs pos="25000">
                <a:srgbClr val="51CF66"/>
              </a:gs>
              <a:gs pos="50000">
                <a:srgbClr val="FCC419"/>
              </a:gs>
              <a:gs pos="75000">
                <a:srgbClr val="FF922B"/>
              </a:gs>
              <a:gs pos="100000">
                <a:srgbClr val="FF6B6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1" name="TopLine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E3A5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43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CD5BC22C-154E-4A48-AAE5-C86C8DE315D7}"/>
              </a:ext>
            </a:extLst>
          </p:cNvPr>
          <p:cNvSpPr/>
          <p:nvPr/>
        </p:nvSpPr>
        <p:spPr>
          <a:xfrm>
            <a:off x="5207000" y="762000"/>
            <a:ext cx="1905000" cy="19050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5600" b="1">
                <a:solidFill>
                  <a:srgbClr val="FFFFFF"/>
                </a:solidFill>
              </a:rPr>
              <a:t>D</a:t>
            </a:r>
            <a:endParaRPr lang="ko-Kore-KR" altLang="en-US" sz="5600" b="1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2C7B0-A47A-E74C-BB4C-136178FAEFA1}"/>
              </a:ext>
            </a:extLst>
          </p:cNvPr>
          <p:cNvSpPr txBox="1"/>
          <p:nvPr/>
        </p:nvSpPr>
        <p:spPr>
          <a:xfrm>
            <a:off x="1016000" y="2794000"/>
            <a:ext cx="1016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4400" b="1">
                <a:solidFill>
                  <a:srgbClr val="1E3A5F"/>
                </a:solidFill>
              </a:rPr>
              <a:t>드론은 어떻게 날까</a:t>
            </a:r>
            <a:r>
              <a:rPr lang="en-US" altLang="ko-KR" sz="4400" b="1">
                <a:solidFill>
                  <a:srgbClr val="1E3A5F"/>
                </a:solidFill>
              </a:rPr>
              <a:t>?</a:t>
            </a:r>
            <a:endParaRPr lang="ko-Kore-KR" altLang="en-US" sz="4400" b="1">
              <a:solidFill>
                <a:srgbClr val="1E3A5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FD73E-0A93-1247-AE80-05DD50A5BE86}"/>
              </a:ext>
            </a:extLst>
          </p:cNvPr>
          <p:cNvSpPr txBox="1"/>
          <p:nvPr/>
        </p:nvSpPr>
        <p:spPr>
          <a:xfrm>
            <a:off x="1651000" y="3937000"/>
            <a:ext cx="889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>
                <a:solidFill>
                  <a:srgbClr val="4A90D9"/>
                </a:solidFill>
              </a:rPr>
              <a:t>드론 물리 엔진의 비밀을 알아보자</a:t>
            </a:r>
            <a:r>
              <a:rPr lang="en-US" altLang="ko-KR" sz="2400">
                <a:solidFill>
                  <a:srgbClr val="4A90D9"/>
                </a:solidFill>
              </a:rPr>
              <a:t>!</a:t>
            </a:r>
            <a:endParaRPr lang="ko-Kore-KR" altLang="en-US" sz="2400">
              <a:solidFill>
                <a:srgbClr val="4A90D9"/>
              </a:solidFill>
            </a:endParaRPr>
          </a:p>
        </p:txBody>
      </p:sp>
      <p:sp>
        <p:nvSpPr>
          <p:cNvPr id="5" name="포인트가 5개인 별[5] 4">
            <a:extLst>
              <a:ext uri="{FF2B5EF4-FFF2-40B4-BE49-F238E27FC236}">
                <a16:creationId xmlns:a16="http://schemas.microsoft.com/office/drawing/2014/main" id="{CB291503-409F-8144-8BD6-656B81B6C594}"/>
              </a:ext>
            </a:extLst>
          </p:cNvPr>
          <p:cNvSpPr/>
          <p:nvPr/>
        </p:nvSpPr>
        <p:spPr>
          <a:xfrm>
            <a:off x="1270000" y="1143000"/>
            <a:ext cx="508000" cy="508000"/>
          </a:xfrm>
          <a:prstGeom prst="star5">
            <a:avLst/>
          </a:prstGeom>
          <a:solidFill>
            <a:srgbClr val="FCC4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6" name="포인트가 5개인 별[5] 5">
            <a:extLst>
              <a:ext uri="{FF2B5EF4-FFF2-40B4-BE49-F238E27FC236}">
                <a16:creationId xmlns:a16="http://schemas.microsoft.com/office/drawing/2014/main" id="{8B4BE80D-59FA-2146-B49F-C9C9A94C98E0}"/>
              </a:ext>
            </a:extLst>
          </p:cNvPr>
          <p:cNvSpPr/>
          <p:nvPr/>
        </p:nvSpPr>
        <p:spPr>
          <a:xfrm>
            <a:off x="10414000" y="1524000"/>
            <a:ext cx="444500" cy="444500"/>
          </a:xfrm>
          <a:prstGeom prst="star5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7" name="포인트가 5개인 별[5] 6">
            <a:extLst>
              <a:ext uri="{FF2B5EF4-FFF2-40B4-BE49-F238E27FC236}">
                <a16:creationId xmlns:a16="http://schemas.microsoft.com/office/drawing/2014/main" id="{018D374F-F639-3A49-9EF2-75FBE678DC65}"/>
              </a:ext>
            </a:extLst>
          </p:cNvPr>
          <p:cNvSpPr/>
          <p:nvPr/>
        </p:nvSpPr>
        <p:spPr>
          <a:xfrm>
            <a:off x="9525000" y="762000"/>
            <a:ext cx="317500" cy="317500"/>
          </a:xfrm>
          <a:prstGeom prst="star5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85A931-5EF4-EB4D-AFBB-2E05B4326B62}"/>
              </a:ext>
            </a:extLst>
          </p:cNvPr>
          <p:cNvSpPr txBox="1"/>
          <p:nvPr/>
        </p:nvSpPr>
        <p:spPr>
          <a:xfrm>
            <a:off x="3175000" y="5334000"/>
            <a:ext cx="584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>
                <a:solidFill>
                  <a:srgbClr val="845EF7"/>
                </a:solidFill>
              </a:rPr>
              <a:t>초등학생을 위한 드론 과학 교실</a:t>
            </a:r>
            <a:endParaRPr lang="ko-Kore-KR" altLang="en-US">
              <a:solidFill>
                <a:srgbClr val="845EF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522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52A4A0-7F0C-63C3-6A48-8D8BB297D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825500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드론이 뭐야</a:t>
            </a:r>
            <a:r>
              <a:rPr kumimoji="1" lang="en-US" altLang="ko-KR" sz="3600" b="1"/>
              <a:t>?</a:t>
            </a:r>
            <a:endParaRPr kumimoji="1" lang="ko-Kore-KR" altLang="en-US" sz="3600" b="1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CE5A55F-B9B9-6C40-B52C-BBD186CAFEC4}"/>
              </a:ext>
            </a:extLst>
          </p:cNvPr>
          <p:cNvSpPr/>
          <p:nvPr/>
        </p:nvSpPr>
        <p:spPr>
          <a:xfrm>
            <a:off x="762000" y="1524000"/>
            <a:ext cx="1016000" cy="10160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3200" b="1">
                <a:solidFill>
                  <a:srgbClr val="FFFFFF"/>
                </a:solidFill>
              </a:rPr>
              <a:t>4</a:t>
            </a:r>
            <a:endParaRPr lang="ko-Kore-KR" altLang="en-US" sz="3200" b="1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F6E9C9-CCB2-3E48-9112-FF71E6F1FE67}"/>
              </a:ext>
            </a:extLst>
          </p:cNvPr>
          <p:cNvSpPr txBox="1"/>
          <p:nvPr/>
        </p:nvSpPr>
        <p:spPr>
          <a:xfrm>
            <a:off x="2032000" y="1524000"/>
            <a:ext cx="4826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</a:rPr>
              <a:t>프로펠러가 </a:t>
            </a:r>
            <a:r>
              <a:rPr lang="en-US" altLang="ko-KR" sz="1600">
                <a:solidFill>
                  <a:srgbClr val="2D3436"/>
                </a:solidFill>
              </a:rPr>
              <a:t>4</a:t>
            </a:r>
            <a:r>
              <a:rPr lang="ko-KR" altLang="en-US" sz="1600">
                <a:solidFill>
                  <a:srgbClr val="2D3436"/>
                </a:solidFill>
              </a:rPr>
              <a:t>개</a:t>
            </a:r>
            <a:r>
              <a:rPr lang="en-US" altLang="ko-KR" sz="1600">
                <a:solidFill>
                  <a:srgbClr val="2D3436"/>
                </a:solidFill>
              </a:rPr>
              <a:t>!
</a:t>
            </a:r>
            <a:r>
              <a:rPr lang="ko-KR" altLang="en-US" sz="1600">
                <a:solidFill>
                  <a:srgbClr val="2D3436"/>
                </a:solidFill>
              </a:rPr>
              <a:t>드론에는 프로펠러</a:t>
            </a:r>
            <a:r>
              <a:rPr lang="en-US" altLang="ko-KR" sz="1600">
                <a:solidFill>
                  <a:srgbClr val="2D3436"/>
                </a:solidFill>
              </a:rPr>
              <a:t>(</a:t>
            </a:r>
            <a:r>
              <a:rPr lang="ko-KR" altLang="en-US" sz="1600">
                <a:solidFill>
                  <a:srgbClr val="2D3436"/>
                </a:solidFill>
              </a:rPr>
              <a:t>날개</a:t>
            </a:r>
            <a:r>
              <a:rPr lang="en-US" altLang="ko-KR" sz="1600">
                <a:solidFill>
                  <a:srgbClr val="2D3436"/>
                </a:solidFill>
              </a:rPr>
              <a:t>)</a:t>
            </a:r>
            <a:r>
              <a:rPr lang="ko-KR" altLang="en-US" sz="1600">
                <a:solidFill>
                  <a:srgbClr val="2D3436"/>
                </a:solidFill>
              </a:rPr>
              <a:t>가 </a:t>
            </a:r>
            <a:r>
              <a:rPr lang="en-US" altLang="ko-KR" sz="1600">
                <a:solidFill>
                  <a:srgbClr val="2D3436"/>
                </a:solidFill>
              </a:rPr>
              <a:t>4</a:t>
            </a:r>
            <a:r>
              <a:rPr lang="ko-KR" altLang="en-US" sz="1600">
                <a:solidFill>
                  <a:srgbClr val="2D3436"/>
                </a:solidFill>
              </a:rPr>
              <a:t>개 달려 있어요</a:t>
            </a:r>
            <a:r>
              <a:rPr lang="en-US" altLang="ko-KR" sz="1600">
                <a:solidFill>
                  <a:srgbClr val="2D3436"/>
                </a:solidFill>
              </a:rPr>
              <a:t>.
</a:t>
            </a:r>
            <a:r>
              <a:rPr lang="ko-KR" altLang="en-US" sz="1600">
                <a:solidFill>
                  <a:srgbClr val="2D3436"/>
                </a:solidFill>
              </a:rPr>
              <a:t>이 프로펠러들이 빠르게 돌면서
바람을 아래로 밀어내면 드론이 위로 떠올라요</a:t>
            </a:r>
            <a:r>
              <a:rPr lang="en-US" altLang="ko-KR" sz="1600">
                <a:solidFill>
                  <a:srgbClr val="2D3436"/>
                </a:solidFill>
              </a:rPr>
              <a:t>!</a:t>
            </a:r>
            <a:endParaRPr lang="ko-Kore-KR" altLang="en-US" sz="1600">
              <a:solidFill>
                <a:srgbClr val="2D3436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2DBAC01-6E45-B94D-8024-FCF2D615C19C}"/>
              </a:ext>
            </a:extLst>
          </p:cNvPr>
          <p:cNvSpPr/>
          <p:nvPr/>
        </p:nvSpPr>
        <p:spPr>
          <a:xfrm>
            <a:off x="7239000" y="1524000"/>
            <a:ext cx="1016000" cy="10160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3200" b="1">
                <a:solidFill>
                  <a:srgbClr val="FFFFFF"/>
                </a:solidFill>
              </a:rPr>
              <a:t>M</a:t>
            </a:r>
            <a:endParaRPr lang="ko-Kore-KR" altLang="en-US" sz="32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07E871-1CD7-BC47-A740-0BCACD0FA369}"/>
              </a:ext>
            </a:extLst>
          </p:cNvPr>
          <p:cNvSpPr txBox="1"/>
          <p:nvPr/>
        </p:nvSpPr>
        <p:spPr>
          <a:xfrm>
            <a:off x="8509000" y="1524000"/>
            <a:ext cx="3429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</a:rPr>
              <a:t>모터가 힘을 만들어요</a:t>
            </a:r>
            <a:r>
              <a:rPr lang="en-US" altLang="ko-KR" sz="1600">
                <a:solidFill>
                  <a:srgbClr val="2D3436"/>
                </a:solidFill>
              </a:rPr>
              <a:t>!
</a:t>
            </a:r>
            <a:r>
              <a:rPr lang="ko-KR" altLang="en-US" sz="1600">
                <a:solidFill>
                  <a:srgbClr val="2D3436"/>
                </a:solidFill>
              </a:rPr>
              <a:t>모터는 전기로 프로펠러를 돌려주는
작은 기계예요</a:t>
            </a:r>
            <a:r>
              <a:rPr lang="en-US" altLang="ko-KR" sz="1600">
                <a:solidFill>
                  <a:srgbClr val="2D3436"/>
                </a:solidFill>
              </a:rPr>
              <a:t>. </a:t>
            </a:r>
            <a:r>
              <a:rPr lang="ko-KR" altLang="en-US" sz="1600">
                <a:solidFill>
                  <a:srgbClr val="2D3436"/>
                </a:solidFill>
              </a:rPr>
              <a:t>명령을 받으면
빠르게 또는 느리게 돌아요</a:t>
            </a:r>
            <a:r>
              <a:rPr lang="en-US" altLang="ko-KR" sz="1600">
                <a:solidFill>
                  <a:srgbClr val="2D3436"/>
                </a:solidFill>
              </a:rPr>
              <a:t>!</a:t>
            </a:r>
            <a:endParaRPr lang="ko-Kore-KR" altLang="en-US" sz="1600">
              <a:solidFill>
                <a:srgbClr val="2D3436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9F355620-04E2-DC45-934A-BF9FF257DF62}"/>
              </a:ext>
            </a:extLst>
          </p:cNvPr>
          <p:cNvSpPr/>
          <p:nvPr/>
        </p:nvSpPr>
        <p:spPr>
          <a:xfrm>
            <a:off x="762000" y="3556000"/>
            <a:ext cx="10668000" cy="1778000"/>
          </a:xfrm>
          <a:prstGeom prst="roundRect">
            <a:avLst/>
          </a:prstGeom>
          <a:solidFill>
            <a:srgbClr val="F0F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11328-6024-6045-A241-6703D2D80E58}"/>
              </a:ext>
            </a:extLst>
          </p:cNvPr>
          <p:cNvSpPr txBox="1"/>
          <p:nvPr/>
        </p:nvSpPr>
        <p:spPr>
          <a:xfrm>
            <a:off x="1016000" y="3683000"/>
            <a:ext cx="10160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>
                <a:solidFill>
                  <a:srgbClr val="1E3A5F"/>
                </a:solidFill>
              </a:rPr>
              <a:t>쉽게 말하면</a:t>
            </a:r>
            <a:r>
              <a:rPr lang="en-US" altLang="ko-KR">
                <a:solidFill>
                  <a:srgbClr val="1E3A5F"/>
                </a:solidFill>
              </a:rPr>
              <a:t>...
</a:t>
            </a:r>
            <a:r>
              <a:rPr lang="ko-KR" altLang="en-US">
                <a:solidFill>
                  <a:srgbClr val="1E3A5F"/>
                </a:solidFill>
              </a:rPr>
              <a:t>드론 </a:t>
            </a:r>
            <a:r>
              <a:rPr lang="en-US" altLang="ko-KR">
                <a:solidFill>
                  <a:srgbClr val="1E3A5F"/>
                </a:solidFill>
              </a:rPr>
              <a:t>= </a:t>
            </a:r>
            <a:r>
              <a:rPr lang="ko-KR" altLang="en-US">
                <a:solidFill>
                  <a:srgbClr val="1E3A5F"/>
                </a:solidFill>
              </a:rPr>
              <a:t>몸체 </a:t>
            </a:r>
            <a:r>
              <a:rPr lang="en-US" altLang="ko-KR">
                <a:solidFill>
                  <a:srgbClr val="1E3A5F"/>
                </a:solidFill>
              </a:rPr>
              <a:t>+ </a:t>
            </a:r>
            <a:r>
              <a:rPr lang="ko-KR" altLang="en-US">
                <a:solidFill>
                  <a:srgbClr val="1E3A5F"/>
                </a:solidFill>
              </a:rPr>
              <a:t>프로펠러 </a:t>
            </a:r>
            <a:r>
              <a:rPr lang="en-US" altLang="ko-KR">
                <a:solidFill>
                  <a:srgbClr val="1E3A5F"/>
                </a:solidFill>
              </a:rPr>
              <a:t>4</a:t>
            </a:r>
            <a:r>
              <a:rPr lang="ko-KR" altLang="en-US">
                <a:solidFill>
                  <a:srgbClr val="1E3A5F"/>
                </a:solidFill>
              </a:rPr>
              <a:t>개 </a:t>
            </a:r>
            <a:r>
              <a:rPr lang="en-US" altLang="ko-KR">
                <a:solidFill>
                  <a:srgbClr val="1E3A5F"/>
                </a:solidFill>
              </a:rPr>
              <a:t>+ </a:t>
            </a:r>
            <a:r>
              <a:rPr lang="ko-KR" altLang="en-US">
                <a:solidFill>
                  <a:srgbClr val="1E3A5F"/>
                </a:solidFill>
              </a:rPr>
              <a:t>모터 </a:t>
            </a:r>
            <a:r>
              <a:rPr lang="en-US" altLang="ko-KR">
                <a:solidFill>
                  <a:srgbClr val="1E3A5F"/>
                </a:solidFill>
              </a:rPr>
              <a:t>4</a:t>
            </a:r>
            <a:r>
              <a:rPr lang="ko-KR" altLang="en-US">
                <a:solidFill>
                  <a:srgbClr val="1E3A5F"/>
                </a:solidFill>
              </a:rPr>
              <a:t>개 </a:t>
            </a:r>
            <a:r>
              <a:rPr lang="en-US" altLang="ko-KR">
                <a:solidFill>
                  <a:srgbClr val="1E3A5F"/>
                </a:solidFill>
              </a:rPr>
              <a:t>+ </a:t>
            </a:r>
            <a:r>
              <a:rPr lang="ko-KR" altLang="en-US">
                <a:solidFill>
                  <a:srgbClr val="1E3A5F"/>
                </a:solidFill>
              </a:rPr>
              <a:t>배터리 </a:t>
            </a:r>
            <a:r>
              <a:rPr lang="en-US" altLang="ko-KR">
                <a:solidFill>
                  <a:srgbClr val="1E3A5F"/>
                </a:solidFill>
              </a:rPr>
              <a:t>+ </a:t>
            </a:r>
            <a:r>
              <a:rPr lang="ko-KR" altLang="en-US">
                <a:solidFill>
                  <a:srgbClr val="1E3A5F"/>
                </a:solidFill>
              </a:rPr>
              <a:t>컴퓨터</a:t>
            </a:r>
            <a:r>
              <a:rPr lang="en-US" altLang="ko-KR">
                <a:solidFill>
                  <a:srgbClr val="1E3A5F"/>
                </a:solidFill>
              </a:rPr>
              <a:t>(</a:t>
            </a:r>
            <a:r>
              <a:rPr lang="ko-KR" altLang="en-US">
                <a:solidFill>
                  <a:srgbClr val="1E3A5F"/>
                </a:solidFill>
              </a:rPr>
              <a:t>두뇌</a:t>
            </a:r>
            <a:r>
              <a:rPr lang="en-US" altLang="ko-KR">
                <a:solidFill>
                  <a:srgbClr val="1E3A5F"/>
                </a:solidFill>
              </a:rPr>
              <a:t>)
</a:t>
            </a:r>
            <a:r>
              <a:rPr lang="ko-KR" altLang="en-US">
                <a:solidFill>
                  <a:srgbClr val="1E3A5F"/>
                </a:solidFill>
              </a:rPr>
              <a:t>컴퓨터가 각 모터의 속도를 조절해서 드론이 위</a:t>
            </a:r>
            <a:r>
              <a:rPr lang="en-US" altLang="ko-KR">
                <a:solidFill>
                  <a:srgbClr val="1E3A5F"/>
                </a:solidFill>
              </a:rPr>
              <a:t>/</a:t>
            </a:r>
            <a:r>
              <a:rPr lang="ko-KR" altLang="en-US">
                <a:solidFill>
                  <a:srgbClr val="1E3A5F"/>
                </a:solidFill>
              </a:rPr>
              <a:t>아래</a:t>
            </a:r>
            <a:r>
              <a:rPr lang="en-US" altLang="ko-KR">
                <a:solidFill>
                  <a:srgbClr val="1E3A5F"/>
                </a:solidFill>
              </a:rPr>
              <a:t>/</a:t>
            </a:r>
            <a:r>
              <a:rPr lang="ko-KR" altLang="en-US">
                <a:solidFill>
                  <a:srgbClr val="1E3A5F"/>
                </a:solidFill>
              </a:rPr>
              <a:t>앞</a:t>
            </a:r>
            <a:r>
              <a:rPr lang="en-US" altLang="ko-KR">
                <a:solidFill>
                  <a:srgbClr val="1E3A5F"/>
                </a:solidFill>
              </a:rPr>
              <a:t>/</a:t>
            </a:r>
            <a:r>
              <a:rPr lang="ko-KR" altLang="en-US">
                <a:solidFill>
                  <a:srgbClr val="1E3A5F"/>
                </a:solidFill>
              </a:rPr>
              <a:t>뒤</a:t>
            </a:r>
            <a:r>
              <a:rPr lang="en-US" altLang="ko-KR">
                <a:solidFill>
                  <a:srgbClr val="1E3A5F"/>
                </a:solidFill>
              </a:rPr>
              <a:t>/</a:t>
            </a:r>
            <a:r>
              <a:rPr lang="ko-KR" altLang="en-US">
                <a:solidFill>
                  <a:srgbClr val="1E3A5F"/>
                </a:solidFill>
              </a:rPr>
              <a:t>좌</a:t>
            </a:r>
            <a:r>
              <a:rPr lang="en-US" altLang="ko-KR">
                <a:solidFill>
                  <a:srgbClr val="1E3A5F"/>
                </a:solidFill>
              </a:rPr>
              <a:t>/</a:t>
            </a:r>
            <a:r>
              <a:rPr lang="ko-KR" altLang="en-US">
                <a:solidFill>
                  <a:srgbClr val="1E3A5F"/>
                </a:solidFill>
              </a:rPr>
              <a:t>우로 움직여요</a:t>
            </a:r>
            <a:r>
              <a:rPr lang="en-US" altLang="ko-KR">
                <a:solidFill>
                  <a:srgbClr val="1E3A5F"/>
                </a:solidFill>
              </a:rPr>
              <a:t>!</a:t>
            </a:r>
            <a:endParaRPr lang="ko-Kore-KR" altLang="en-US">
              <a:solidFill>
                <a:srgbClr val="1E3A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517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96794-9F67-BC04-27E5-4BC629BD0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825500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드론이 뜨는 원리</a:t>
            </a:r>
            <a:r>
              <a:rPr kumimoji="1" lang="en-US" altLang="ko-KR" sz="3600" b="1"/>
              <a:t>: </a:t>
            </a:r>
            <a:r>
              <a:rPr kumimoji="1" lang="ko-KR" altLang="en-US" sz="3600" b="1"/>
              <a:t>추력</a:t>
            </a:r>
            <a:endParaRPr kumimoji="1" lang="ko-Kore-KR" altLang="en-US" sz="3600" b="1"/>
          </a:p>
        </p:txBody>
      </p:sp>
      <p:sp>
        <p:nvSpPr>
          <p:cNvPr id="3" name="아래쪽 화살표[D] 2">
            <a:extLst>
              <a:ext uri="{FF2B5EF4-FFF2-40B4-BE49-F238E27FC236}">
                <a16:creationId xmlns:a16="http://schemas.microsoft.com/office/drawing/2014/main" id="{4EFBBD38-A1BC-3841-81F3-D7DCBAD3F601}"/>
              </a:ext>
            </a:extLst>
          </p:cNvPr>
          <p:cNvSpPr/>
          <p:nvPr/>
        </p:nvSpPr>
        <p:spPr>
          <a:xfrm>
            <a:off x="5651500" y="3556000"/>
            <a:ext cx="635000" cy="1270000"/>
          </a:xfrm>
          <a:prstGeom prst="downArrow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D93E94-F26B-CC4C-A1CC-F11F82D36272}"/>
              </a:ext>
            </a:extLst>
          </p:cNvPr>
          <p:cNvSpPr txBox="1"/>
          <p:nvPr/>
        </p:nvSpPr>
        <p:spPr>
          <a:xfrm>
            <a:off x="4318000" y="49530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FF6B6B"/>
                </a:solidFill>
              </a:rPr>
              <a:t>중력 </a:t>
            </a:r>
            <a:r>
              <a:rPr lang="en-US" altLang="ko-KR" sz="1600" b="1">
                <a:solidFill>
                  <a:srgbClr val="FF6B6B"/>
                </a:solidFill>
              </a:rPr>
              <a:t>(</a:t>
            </a:r>
            <a:r>
              <a:rPr lang="ko-KR" altLang="en-US" sz="1600" b="1">
                <a:solidFill>
                  <a:srgbClr val="FF6B6B"/>
                </a:solidFill>
              </a:rPr>
              <a:t>아래로 당기는 힘</a:t>
            </a:r>
            <a:r>
              <a:rPr lang="en-US" altLang="ko-KR" sz="1600" b="1">
                <a:solidFill>
                  <a:srgbClr val="FF6B6B"/>
                </a:solidFill>
              </a:rPr>
              <a:t>)</a:t>
            </a:r>
            <a:endParaRPr lang="ko-Kore-KR" altLang="en-US" sz="1600" b="1">
              <a:solidFill>
                <a:srgbClr val="FF6B6B"/>
              </a:solidFill>
            </a:endParaRPr>
          </a:p>
        </p:txBody>
      </p:sp>
      <p:sp>
        <p:nvSpPr>
          <p:cNvPr id="5" name="위쪽 화살표[U] 4">
            <a:extLst>
              <a:ext uri="{FF2B5EF4-FFF2-40B4-BE49-F238E27FC236}">
                <a16:creationId xmlns:a16="http://schemas.microsoft.com/office/drawing/2014/main" id="{9C4551BB-F7E9-044E-A52B-C56D27F9B9C5}"/>
              </a:ext>
            </a:extLst>
          </p:cNvPr>
          <p:cNvSpPr/>
          <p:nvPr/>
        </p:nvSpPr>
        <p:spPr>
          <a:xfrm>
            <a:off x="5651500" y="1524000"/>
            <a:ext cx="635000" cy="1270000"/>
          </a:xfrm>
          <a:prstGeom prst="upArrow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A76327-A3A1-F44E-B392-41C66B37EF98}"/>
              </a:ext>
            </a:extLst>
          </p:cNvPr>
          <p:cNvSpPr txBox="1"/>
          <p:nvPr/>
        </p:nvSpPr>
        <p:spPr>
          <a:xfrm>
            <a:off x="4318000" y="12700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51CF66"/>
                </a:solidFill>
              </a:rPr>
              <a:t>추력 </a:t>
            </a:r>
            <a:r>
              <a:rPr lang="en-US" altLang="ko-KR" sz="1600" b="1">
                <a:solidFill>
                  <a:srgbClr val="51CF66"/>
                </a:solidFill>
              </a:rPr>
              <a:t>(</a:t>
            </a:r>
            <a:r>
              <a:rPr lang="ko-KR" altLang="en-US" sz="1600" b="1">
                <a:solidFill>
                  <a:srgbClr val="51CF66"/>
                </a:solidFill>
              </a:rPr>
              <a:t>위로 밀어주는 힘</a:t>
            </a:r>
            <a:r>
              <a:rPr lang="en-US" altLang="ko-KR" sz="1600" b="1">
                <a:solidFill>
                  <a:srgbClr val="51CF66"/>
                </a:solidFill>
              </a:rPr>
              <a:t>)</a:t>
            </a:r>
            <a:endParaRPr lang="ko-Kore-KR" altLang="en-US" sz="1600" b="1">
              <a:solidFill>
                <a:srgbClr val="51CF66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62F7510-BCC2-D945-94AC-7D7019E10D51}"/>
              </a:ext>
            </a:extLst>
          </p:cNvPr>
          <p:cNvSpPr/>
          <p:nvPr/>
        </p:nvSpPr>
        <p:spPr>
          <a:xfrm>
            <a:off x="5080000" y="2794000"/>
            <a:ext cx="1778000" cy="762000"/>
          </a:xfrm>
          <a:prstGeom prst="roundRect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FFFFFF"/>
                </a:solidFill>
              </a:rPr>
              <a:t>드론</a:t>
            </a:r>
            <a:endParaRPr lang="ko-Kore-KR" altLang="en-US" sz="2000" b="1">
              <a:solidFill>
                <a:srgbClr val="FFFFFF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EA5AD80-033C-2C44-8CFB-B3AAE6FF104E}"/>
              </a:ext>
            </a:extLst>
          </p:cNvPr>
          <p:cNvSpPr/>
          <p:nvPr/>
        </p:nvSpPr>
        <p:spPr>
          <a:xfrm>
            <a:off x="508000" y="1651000"/>
            <a:ext cx="3302000" cy="1524000"/>
          </a:xfrm>
          <a:prstGeom prst="roundRect">
            <a:avLst/>
          </a:prstGeom>
          <a:solidFill>
            <a:srgbClr val="E8F5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A5A611-D149-254B-9089-B255AE56BE2B}"/>
              </a:ext>
            </a:extLst>
          </p:cNvPr>
          <p:cNvSpPr txBox="1"/>
          <p:nvPr/>
        </p:nvSpPr>
        <p:spPr>
          <a:xfrm>
            <a:off x="698500" y="1778000"/>
            <a:ext cx="2921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</a:rPr>
              <a:t>추력 </a:t>
            </a:r>
            <a:r>
              <a:rPr lang="en-US" altLang="ko-KR" sz="1600">
                <a:solidFill>
                  <a:srgbClr val="2D3436"/>
                </a:solidFill>
              </a:rPr>
              <a:t>&gt; </a:t>
            </a:r>
            <a:r>
              <a:rPr lang="ko-KR" altLang="en-US" sz="1600">
                <a:solidFill>
                  <a:srgbClr val="2D3436"/>
                </a:solidFill>
              </a:rPr>
              <a:t>중력 이면</a:t>
            </a:r>
            <a:r>
              <a:rPr lang="en-US" altLang="ko-KR" sz="1600">
                <a:solidFill>
                  <a:srgbClr val="2D3436"/>
                </a:solidFill>
              </a:rPr>
              <a:t>?
</a:t>
            </a:r>
            <a:r>
              <a:rPr lang="ko-KR" altLang="en-US" sz="1600">
                <a:solidFill>
                  <a:srgbClr val="2D3436"/>
                </a:solidFill>
              </a:rPr>
              <a:t>드론이 위로 올라가요</a:t>
            </a:r>
            <a:r>
              <a:rPr lang="en-US" altLang="ko-KR" sz="1600">
                <a:solidFill>
                  <a:srgbClr val="2D3436"/>
                </a:solidFill>
              </a:rPr>
              <a:t>!
</a:t>
            </a:r>
            <a:r>
              <a:rPr lang="ko-KR" altLang="en-US" sz="1600">
                <a:solidFill>
                  <a:srgbClr val="2D3436"/>
                </a:solidFill>
              </a:rPr>
              <a:t>프로펠러를 더 빠르게 돌리면
추력이 커져요</a:t>
            </a:r>
            <a:r>
              <a:rPr lang="en-US" altLang="ko-KR" sz="1600">
                <a:solidFill>
                  <a:srgbClr val="2D3436"/>
                </a:solidFill>
              </a:rPr>
              <a:t>.</a:t>
            </a:r>
            <a:endParaRPr lang="ko-Kore-KR" altLang="en-US" sz="1600">
              <a:solidFill>
                <a:srgbClr val="2D3436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85CFE2D8-A0C2-3043-9EC6-EC6663E20DA3}"/>
              </a:ext>
            </a:extLst>
          </p:cNvPr>
          <p:cNvSpPr/>
          <p:nvPr/>
        </p:nvSpPr>
        <p:spPr>
          <a:xfrm>
            <a:off x="8128000" y="1651000"/>
            <a:ext cx="3556000" cy="1524000"/>
          </a:xfrm>
          <a:prstGeom prst="roundRect">
            <a:avLst/>
          </a:prstGeom>
          <a:solidFill>
            <a:srgbClr val="FFEB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8D4F8D-18A4-E040-A990-510E0C48C703}"/>
              </a:ext>
            </a:extLst>
          </p:cNvPr>
          <p:cNvSpPr txBox="1"/>
          <p:nvPr/>
        </p:nvSpPr>
        <p:spPr>
          <a:xfrm>
            <a:off x="8318500" y="1778000"/>
            <a:ext cx="3175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</a:rPr>
              <a:t>추력 </a:t>
            </a:r>
            <a:r>
              <a:rPr lang="en-US" altLang="ko-KR" sz="1600">
                <a:solidFill>
                  <a:srgbClr val="2D3436"/>
                </a:solidFill>
              </a:rPr>
              <a:t>= </a:t>
            </a:r>
            <a:r>
              <a:rPr lang="ko-KR" altLang="en-US" sz="1600">
                <a:solidFill>
                  <a:srgbClr val="2D3436"/>
                </a:solidFill>
              </a:rPr>
              <a:t>중력 이면</a:t>
            </a:r>
            <a:r>
              <a:rPr lang="en-US" altLang="ko-KR" sz="1600">
                <a:solidFill>
                  <a:srgbClr val="2D3436"/>
                </a:solidFill>
              </a:rPr>
              <a:t>?
</a:t>
            </a:r>
            <a:r>
              <a:rPr lang="ko-KR" altLang="en-US" sz="1600">
                <a:solidFill>
                  <a:srgbClr val="2D3436"/>
                </a:solidFill>
              </a:rPr>
              <a:t>드론이 공중에 가만히 떠 있어요</a:t>
            </a:r>
            <a:r>
              <a:rPr lang="en-US" altLang="ko-KR" sz="1600">
                <a:solidFill>
                  <a:srgbClr val="2D3436"/>
                </a:solidFill>
              </a:rPr>
              <a:t>!
</a:t>
            </a:r>
            <a:r>
              <a:rPr lang="ko-KR" altLang="en-US" sz="1600">
                <a:solidFill>
                  <a:srgbClr val="2D3436"/>
                </a:solidFill>
              </a:rPr>
              <a:t>이것을 </a:t>
            </a:r>
            <a:r>
              <a:rPr lang="en-US" altLang="ko-KR" sz="1600">
                <a:solidFill>
                  <a:srgbClr val="2D3436"/>
                </a:solidFill>
              </a:rPr>
              <a:t>'</a:t>
            </a:r>
            <a:r>
              <a:rPr lang="ko-KR" altLang="en-US" sz="1600">
                <a:solidFill>
                  <a:srgbClr val="2D3436"/>
                </a:solidFill>
              </a:rPr>
              <a:t>호버링</a:t>
            </a:r>
            <a:r>
              <a:rPr lang="en-US" altLang="ko-KR" sz="1600">
                <a:solidFill>
                  <a:srgbClr val="2D3436"/>
                </a:solidFill>
              </a:rPr>
              <a:t>'</a:t>
            </a:r>
            <a:r>
              <a:rPr lang="ko-KR" altLang="en-US" sz="1600">
                <a:solidFill>
                  <a:srgbClr val="2D3436"/>
                </a:solidFill>
              </a:rPr>
              <a:t>이라고 해요</a:t>
            </a:r>
            <a:r>
              <a:rPr lang="en-US" altLang="ko-KR" sz="1600">
                <a:solidFill>
                  <a:srgbClr val="2D3436"/>
                </a:solidFill>
              </a:rPr>
              <a:t>.</a:t>
            </a:r>
            <a:endParaRPr lang="ko-Kore-KR" altLang="en-US" sz="16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7CC11B9-E1E5-BF43-964B-92CDB666549F}"/>
              </a:ext>
            </a:extLst>
          </p:cNvPr>
          <p:cNvSpPr/>
          <p:nvPr/>
        </p:nvSpPr>
        <p:spPr>
          <a:xfrm>
            <a:off x="2032000" y="5524500"/>
            <a:ext cx="8128000" cy="698500"/>
          </a:xfrm>
          <a:prstGeom prst="roundRect">
            <a:avLst/>
          </a:prstGeom>
          <a:solidFill>
            <a:srgbClr val="1E3A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779360-829E-7E46-A0DC-81E7AB990E65}"/>
              </a:ext>
            </a:extLst>
          </p:cNvPr>
          <p:cNvSpPr txBox="1"/>
          <p:nvPr/>
        </p:nvSpPr>
        <p:spPr>
          <a:xfrm>
            <a:off x="2222500" y="5588000"/>
            <a:ext cx="7747000" cy="571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</a:rPr>
              <a:t>추력 공식</a:t>
            </a:r>
            <a:r>
              <a:rPr lang="en-US" altLang="ko-KR" b="1">
                <a:solidFill>
                  <a:srgbClr val="FFFFFF"/>
                </a:solidFill>
              </a:rPr>
              <a:t>:  </a:t>
            </a:r>
            <a:r>
              <a:rPr lang="en" altLang="ko-Kore-KR" b="1">
                <a:solidFill>
                  <a:srgbClr val="FFFFFF"/>
                </a:solidFill>
              </a:rPr>
              <a:t>T = k x (</a:t>
            </a:r>
            <a:r>
              <a:rPr lang="ko-KR" altLang="en-US" b="1">
                <a:solidFill>
                  <a:srgbClr val="FFFFFF"/>
                </a:solidFill>
              </a:rPr>
              <a:t>회전속도</a:t>
            </a:r>
            <a:r>
              <a:rPr lang="en-US" altLang="ko-KR" b="1">
                <a:solidFill>
                  <a:srgbClr val="FFFFFF"/>
                </a:solidFill>
              </a:rPr>
              <a:t>)²     </a:t>
            </a:r>
            <a:r>
              <a:rPr lang="ko-KR" altLang="en-US" b="1">
                <a:solidFill>
                  <a:srgbClr val="FFFFFF"/>
                </a:solidFill>
              </a:rPr>
              <a:t>빠르게 돌수록 힘이 세져요</a:t>
            </a:r>
            <a:r>
              <a:rPr lang="en-US" altLang="ko-KR" b="1">
                <a:solidFill>
                  <a:srgbClr val="FFFFFF"/>
                </a:solidFill>
              </a:rPr>
              <a:t>!</a:t>
            </a:r>
            <a:endParaRPr lang="ko-Kore-KR" altLang="en-US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171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9B4C1-C8E4-0D2F-1780-45B5FED4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825500"/>
          </a:xfrm>
        </p:spPr>
        <p:txBody>
          <a:bodyPr>
            <a:normAutofit/>
          </a:bodyPr>
          <a:lstStyle/>
          <a:p>
            <a:r>
              <a:rPr kumimoji="1" lang="ko-KR" altLang="en-US" sz="3400" b="1"/>
              <a:t>드론이 움직이는 </a:t>
            </a:r>
            <a:r>
              <a:rPr kumimoji="1" lang="en-US" altLang="ko-KR" sz="3400" b="1"/>
              <a:t>4</a:t>
            </a:r>
            <a:r>
              <a:rPr kumimoji="1" lang="ko-KR" altLang="en-US" sz="3400" b="1"/>
              <a:t>가지 방법</a:t>
            </a:r>
            <a:endParaRPr kumimoji="1" lang="ko-Kore-KR" altLang="en-US" sz="34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EF4A2DC6-F9DF-1B40-90C9-3B8CECE61BDA}"/>
              </a:ext>
            </a:extLst>
          </p:cNvPr>
          <p:cNvSpPr/>
          <p:nvPr/>
        </p:nvSpPr>
        <p:spPr>
          <a:xfrm>
            <a:off x="508000" y="1397000"/>
            <a:ext cx="5334000" cy="2159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5E9E05B-6452-D645-81C9-7ECBDBF67EFF}"/>
              </a:ext>
            </a:extLst>
          </p:cNvPr>
          <p:cNvSpPr/>
          <p:nvPr/>
        </p:nvSpPr>
        <p:spPr>
          <a:xfrm>
            <a:off x="698500" y="1587500"/>
            <a:ext cx="635000" cy="6350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400" b="1">
                <a:solidFill>
                  <a:srgbClr val="FFFFFF"/>
                </a:solidFill>
              </a:rPr>
              <a:t>1</a:t>
            </a:r>
            <a:endParaRPr lang="ko-Kore-KR" altLang="en-US" sz="24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7C5468-2C8C-094E-B479-DF07514247AB}"/>
              </a:ext>
            </a:extLst>
          </p:cNvPr>
          <p:cNvSpPr txBox="1"/>
          <p:nvPr/>
        </p:nvSpPr>
        <p:spPr>
          <a:xfrm>
            <a:off x="1460500" y="1587500"/>
            <a:ext cx="4191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4A90D9"/>
                </a:solidFill>
              </a:rPr>
              <a:t>위</a:t>
            </a:r>
            <a:r>
              <a:rPr lang="en-US" altLang="ko-KR" sz="2000" b="1">
                <a:solidFill>
                  <a:srgbClr val="4A90D9"/>
                </a:solidFill>
              </a:rPr>
              <a:t>/</a:t>
            </a:r>
            <a:r>
              <a:rPr lang="ko-KR" altLang="en-US" sz="2000" b="1">
                <a:solidFill>
                  <a:srgbClr val="4A90D9"/>
                </a:solidFill>
              </a:rPr>
              <a:t>아래 </a:t>
            </a:r>
            <a:r>
              <a:rPr lang="en-US" altLang="ko-KR" sz="2000" b="1">
                <a:solidFill>
                  <a:srgbClr val="4A90D9"/>
                </a:solidFill>
              </a:rPr>
              <a:t>(</a:t>
            </a:r>
            <a:r>
              <a:rPr lang="ko-KR" altLang="en-US" sz="2000" b="1">
                <a:solidFill>
                  <a:srgbClr val="4A90D9"/>
                </a:solidFill>
              </a:rPr>
              <a:t>스로틀</a:t>
            </a:r>
            <a:r>
              <a:rPr lang="en-US" altLang="ko-KR" sz="2000" b="1">
                <a:solidFill>
                  <a:srgbClr val="4A90D9"/>
                </a:solidFill>
              </a:rPr>
              <a:t>)</a:t>
            </a:r>
            <a:endParaRPr lang="ko-Kore-KR" altLang="en-US" sz="2000" b="1">
              <a:solidFill>
                <a:srgbClr val="4A90D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20677-B61C-A54B-95C3-AA503DB3B91D}"/>
              </a:ext>
            </a:extLst>
          </p:cNvPr>
          <p:cNvSpPr txBox="1"/>
          <p:nvPr/>
        </p:nvSpPr>
        <p:spPr>
          <a:xfrm>
            <a:off x="1460500" y="2095500"/>
            <a:ext cx="4191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>
                <a:solidFill>
                  <a:srgbClr val="2D3436"/>
                </a:solidFill>
              </a:rPr>
              <a:t>4</a:t>
            </a:r>
            <a:r>
              <a:rPr lang="ko-KR" altLang="en-US" sz="1600">
                <a:solidFill>
                  <a:srgbClr val="2D3436"/>
                </a:solidFill>
              </a:rPr>
              <a:t>개 프로펠러를 모두
똑같이 빠르게 돌리면
위로</a:t>
            </a:r>
            <a:r>
              <a:rPr lang="en-US" altLang="ko-KR" sz="1600">
                <a:solidFill>
                  <a:srgbClr val="2D3436"/>
                </a:solidFill>
              </a:rPr>
              <a:t>! </a:t>
            </a:r>
            <a:r>
              <a:rPr lang="ko-KR" altLang="en-US" sz="1600">
                <a:solidFill>
                  <a:srgbClr val="2D3436"/>
                </a:solidFill>
              </a:rPr>
              <a:t>느리게 하면 아래로</a:t>
            </a:r>
            <a:r>
              <a:rPr lang="en-US" altLang="ko-KR" sz="1600">
                <a:solidFill>
                  <a:srgbClr val="2D3436"/>
                </a:solidFill>
              </a:rPr>
              <a:t>!</a:t>
            </a:r>
            <a:endParaRPr lang="ko-Kore-KR" altLang="en-US" sz="1600">
              <a:solidFill>
                <a:srgbClr val="2D3436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D093D690-4AEB-FC44-B6A4-48D599E503B6}"/>
              </a:ext>
            </a:extLst>
          </p:cNvPr>
          <p:cNvSpPr/>
          <p:nvPr/>
        </p:nvSpPr>
        <p:spPr>
          <a:xfrm>
            <a:off x="6350000" y="1397000"/>
            <a:ext cx="5334000" cy="2159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45F8B42-E149-5B4A-B3BF-601FDED2FD99}"/>
              </a:ext>
            </a:extLst>
          </p:cNvPr>
          <p:cNvSpPr/>
          <p:nvPr/>
        </p:nvSpPr>
        <p:spPr>
          <a:xfrm>
            <a:off x="6540500" y="1587500"/>
            <a:ext cx="635000" cy="6350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400" b="1">
                <a:solidFill>
                  <a:srgbClr val="FFFFFF"/>
                </a:solidFill>
              </a:rPr>
              <a:t>2</a:t>
            </a:r>
            <a:endParaRPr lang="ko-Kore-KR" altLang="en-US" sz="2400" b="1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4A28D3-4C18-344A-BBAB-32F47A8879B5}"/>
              </a:ext>
            </a:extLst>
          </p:cNvPr>
          <p:cNvSpPr txBox="1"/>
          <p:nvPr/>
        </p:nvSpPr>
        <p:spPr>
          <a:xfrm>
            <a:off x="7302500" y="1587500"/>
            <a:ext cx="4191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FF6B6B"/>
                </a:solidFill>
              </a:rPr>
              <a:t>앞</a:t>
            </a:r>
            <a:r>
              <a:rPr lang="en-US" altLang="ko-KR" sz="2000" b="1">
                <a:solidFill>
                  <a:srgbClr val="FF6B6B"/>
                </a:solidFill>
              </a:rPr>
              <a:t>/</a:t>
            </a:r>
            <a:r>
              <a:rPr lang="ko-KR" altLang="en-US" sz="2000" b="1">
                <a:solidFill>
                  <a:srgbClr val="FF6B6B"/>
                </a:solidFill>
              </a:rPr>
              <a:t>뒤 </a:t>
            </a:r>
            <a:r>
              <a:rPr lang="en-US" altLang="ko-KR" sz="2000" b="1">
                <a:solidFill>
                  <a:srgbClr val="FF6B6B"/>
                </a:solidFill>
              </a:rPr>
              <a:t>(</a:t>
            </a:r>
            <a:r>
              <a:rPr lang="ko-KR" altLang="en-US" sz="2000" b="1">
                <a:solidFill>
                  <a:srgbClr val="FF6B6B"/>
                </a:solidFill>
              </a:rPr>
              <a:t>피치</a:t>
            </a:r>
            <a:r>
              <a:rPr lang="en-US" altLang="ko-KR" sz="2000" b="1">
                <a:solidFill>
                  <a:srgbClr val="FF6B6B"/>
                </a:solidFill>
              </a:rPr>
              <a:t>)</a:t>
            </a:r>
            <a:endParaRPr lang="ko-Kore-KR" altLang="en-US" sz="2000" b="1">
              <a:solidFill>
                <a:srgbClr val="FF6B6B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35D780-1982-5F48-A836-F308FA8CA034}"/>
              </a:ext>
            </a:extLst>
          </p:cNvPr>
          <p:cNvSpPr txBox="1"/>
          <p:nvPr/>
        </p:nvSpPr>
        <p:spPr>
          <a:xfrm>
            <a:off x="7302500" y="2095500"/>
            <a:ext cx="4191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</a:rPr>
              <a:t>앞쪽 프로펠러를 느리게</a:t>
            </a:r>
            <a:r>
              <a:rPr lang="en-US" altLang="ko-KR" sz="1600">
                <a:solidFill>
                  <a:srgbClr val="2D3436"/>
                </a:solidFill>
              </a:rPr>
              <a:t>,
</a:t>
            </a:r>
            <a:r>
              <a:rPr lang="ko-KR" altLang="en-US" sz="1600">
                <a:solidFill>
                  <a:srgbClr val="2D3436"/>
                </a:solidFill>
              </a:rPr>
              <a:t>뒤쪽을 빠르게 하면
드론이 앞으로 기울어져 전진</a:t>
            </a:r>
            <a:r>
              <a:rPr lang="en-US" altLang="ko-KR" sz="1600">
                <a:solidFill>
                  <a:srgbClr val="2D3436"/>
                </a:solidFill>
              </a:rPr>
              <a:t>!</a:t>
            </a:r>
            <a:endParaRPr lang="ko-Kore-KR" altLang="en-US" sz="1600">
              <a:solidFill>
                <a:srgbClr val="2D3436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C3003C76-9049-1840-935F-E96318CBB271}"/>
              </a:ext>
            </a:extLst>
          </p:cNvPr>
          <p:cNvSpPr/>
          <p:nvPr/>
        </p:nvSpPr>
        <p:spPr>
          <a:xfrm>
            <a:off x="508000" y="3937000"/>
            <a:ext cx="5334000" cy="2159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C620435-E3E9-1D43-9200-54964FA34539}"/>
              </a:ext>
            </a:extLst>
          </p:cNvPr>
          <p:cNvSpPr/>
          <p:nvPr/>
        </p:nvSpPr>
        <p:spPr>
          <a:xfrm>
            <a:off x="698500" y="4127500"/>
            <a:ext cx="635000" cy="6350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400" b="1">
                <a:solidFill>
                  <a:srgbClr val="FFFFFF"/>
                </a:solidFill>
              </a:rPr>
              <a:t>3</a:t>
            </a:r>
            <a:endParaRPr lang="ko-Kore-KR" altLang="en-US" sz="2400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5DDA35-BF7E-D94B-85B9-484FBD60AB5D}"/>
              </a:ext>
            </a:extLst>
          </p:cNvPr>
          <p:cNvSpPr txBox="1"/>
          <p:nvPr/>
        </p:nvSpPr>
        <p:spPr>
          <a:xfrm>
            <a:off x="1460500" y="4127500"/>
            <a:ext cx="4191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51CF66"/>
                </a:solidFill>
              </a:rPr>
              <a:t>좌</a:t>
            </a:r>
            <a:r>
              <a:rPr lang="en-US" altLang="ko-KR" sz="2000" b="1">
                <a:solidFill>
                  <a:srgbClr val="51CF66"/>
                </a:solidFill>
              </a:rPr>
              <a:t>/</a:t>
            </a:r>
            <a:r>
              <a:rPr lang="ko-KR" altLang="en-US" sz="2000" b="1">
                <a:solidFill>
                  <a:srgbClr val="51CF66"/>
                </a:solidFill>
              </a:rPr>
              <a:t>우 </a:t>
            </a:r>
            <a:r>
              <a:rPr lang="en-US" altLang="ko-KR" sz="2000" b="1">
                <a:solidFill>
                  <a:srgbClr val="51CF66"/>
                </a:solidFill>
              </a:rPr>
              <a:t>(</a:t>
            </a:r>
            <a:r>
              <a:rPr lang="ko-KR" altLang="en-US" sz="2000" b="1">
                <a:solidFill>
                  <a:srgbClr val="51CF66"/>
                </a:solidFill>
              </a:rPr>
              <a:t>롤</a:t>
            </a:r>
            <a:r>
              <a:rPr lang="en-US" altLang="ko-KR" sz="2000" b="1">
                <a:solidFill>
                  <a:srgbClr val="51CF66"/>
                </a:solidFill>
              </a:rPr>
              <a:t>)</a:t>
            </a:r>
            <a:endParaRPr lang="ko-Kore-KR" altLang="en-US" sz="2000" b="1">
              <a:solidFill>
                <a:srgbClr val="51CF6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823F7F-550E-BF4E-B28B-2031334E463A}"/>
              </a:ext>
            </a:extLst>
          </p:cNvPr>
          <p:cNvSpPr txBox="1"/>
          <p:nvPr/>
        </p:nvSpPr>
        <p:spPr>
          <a:xfrm>
            <a:off x="1460500" y="4635500"/>
            <a:ext cx="4191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</a:rPr>
              <a:t>왼쪽 프로펠러를 느리게</a:t>
            </a:r>
            <a:r>
              <a:rPr lang="en-US" altLang="ko-KR" sz="1600">
                <a:solidFill>
                  <a:srgbClr val="2D3436"/>
                </a:solidFill>
              </a:rPr>
              <a:t>,
</a:t>
            </a:r>
            <a:r>
              <a:rPr lang="ko-KR" altLang="en-US" sz="1600">
                <a:solidFill>
                  <a:srgbClr val="2D3436"/>
                </a:solidFill>
              </a:rPr>
              <a:t>오른쪽을 빠르게 하면
드론이 옆으로 이동</a:t>
            </a:r>
            <a:r>
              <a:rPr lang="en-US" altLang="ko-KR" sz="1600">
                <a:solidFill>
                  <a:srgbClr val="2D3436"/>
                </a:solidFill>
              </a:rPr>
              <a:t>!</a:t>
            </a:r>
            <a:endParaRPr lang="ko-Kore-KR" altLang="en-US" sz="1600">
              <a:solidFill>
                <a:srgbClr val="2D3436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C38A1DF5-42F8-4C44-9191-70D6081066CE}"/>
              </a:ext>
            </a:extLst>
          </p:cNvPr>
          <p:cNvSpPr/>
          <p:nvPr/>
        </p:nvSpPr>
        <p:spPr>
          <a:xfrm>
            <a:off x="6350000" y="3937000"/>
            <a:ext cx="5334000" cy="2159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7F4E415-C4CE-7547-84B7-33EBCA5C6A81}"/>
              </a:ext>
            </a:extLst>
          </p:cNvPr>
          <p:cNvSpPr/>
          <p:nvPr/>
        </p:nvSpPr>
        <p:spPr>
          <a:xfrm>
            <a:off x="6540500" y="4127500"/>
            <a:ext cx="635000" cy="6350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400" b="1">
                <a:solidFill>
                  <a:srgbClr val="FFFFFF"/>
                </a:solidFill>
              </a:rPr>
              <a:t>4</a:t>
            </a:r>
            <a:endParaRPr lang="ko-Kore-KR" altLang="en-US" sz="2400" b="1">
              <a:solidFill>
                <a:srgbClr val="FFFF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79F281-1131-5643-AA34-946E0FA211B1}"/>
              </a:ext>
            </a:extLst>
          </p:cNvPr>
          <p:cNvSpPr txBox="1"/>
          <p:nvPr/>
        </p:nvSpPr>
        <p:spPr>
          <a:xfrm>
            <a:off x="7302500" y="4127500"/>
            <a:ext cx="4191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FF922B"/>
                </a:solidFill>
              </a:rPr>
              <a:t>회전 </a:t>
            </a:r>
            <a:r>
              <a:rPr lang="en-US" altLang="ko-KR" sz="2000" b="1">
                <a:solidFill>
                  <a:srgbClr val="FF922B"/>
                </a:solidFill>
              </a:rPr>
              <a:t>(</a:t>
            </a:r>
            <a:r>
              <a:rPr lang="ko-KR" altLang="en-US" sz="2000" b="1">
                <a:solidFill>
                  <a:srgbClr val="FF922B"/>
                </a:solidFill>
              </a:rPr>
              <a:t>요</a:t>
            </a:r>
            <a:r>
              <a:rPr lang="en-US" altLang="ko-KR" sz="2000" b="1">
                <a:solidFill>
                  <a:srgbClr val="FF922B"/>
                </a:solidFill>
              </a:rPr>
              <a:t>)</a:t>
            </a:r>
            <a:endParaRPr lang="ko-Kore-KR" altLang="en-US" sz="2000" b="1">
              <a:solidFill>
                <a:srgbClr val="FF922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2872D6-5155-4B45-8E55-C212C4692652}"/>
              </a:ext>
            </a:extLst>
          </p:cNvPr>
          <p:cNvSpPr txBox="1"/>
          <p:nvPr/>
        </p:nvSpPr>
        <p:spPr>
          <a:xfrm>
            <a:off x="7302500" y="4635500"/>
            <a:ext cx="4191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</a:rPr>
              <a:t>시계방향 프로펠러만 빠르게
하면 드론 몸체가
반시계로 회전</a:t>
            </a:r>
            <a:r>
              <a:rPr lang="en-US" altLang="ko-KR" sz="1600">
                <a:solidFill>
                  <a:srgbClr val="2D3436"/>
                </a:solidFill>
              </a:rPr>
              <a:t>!</a:t>
            </a:r>
            <a:endParaRPr lang="ko-Kore-KR" altLang="en-US" sz="16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21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DFCF8-BF1F-7D78-08F1-F4702BEAC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825500"/>
          </a:xfrm>
        </p:spPr>
        <p:txBody>
          <a:bodyPr>
            <a:normAutofit/>
          </a:bodyPr>
          <a:lstStyle/>
          <a:p>
            <a:r>
              <a:rPr kumimoji="1" lang="ko-KR" altLang="en-US" sz="3400" b="1"/>
              <a:t>프로펠러는 이렇게 배치돼요</a:t>
            </a:r>
            <a:r>
              <a:rPr kumimoji="1" lang="en-US" altLang="ko-KR" sz="3400" b="1"/>
              <a:t>!</a:t>
            </a:r>
            <a:endParaRPr kumimoji="1" lang="ko-Kore-KR" altLang="en-US" sz="34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FF565C17-C736-F440-B29A-BBEC3B63566C}"/>
              </a:ext>
            </a:extLst>
          </p:cNvPr>
          <p:cNvSpPr/>
          <p:nvPr/>
        </p:nvSpPr>
        <p:spPr>
          <a:xfrm>
            <a:off x="4699000" y="3048000"/>
            <a:ext cx="1270000" cy="762000"/>
          </a:xfrm>
          <a:prstGeom prst="roundRect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</a:rPr>
              <a:t>드론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ED38B9E-476C-754C-94F6-6C1982973895}"/>
              </a:ext>
            </a:extLst>
          </p:cNvPr>
          <p:cNvSpPr/>
          <p:nvPr/>
        </p:nvSpPr>
        <p:spPr>
          <a:xfrm>
            <a:off x="6350000" y="1651000"/>
            <a:ext cx="889000" cy="8890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R1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EF0E6-B937-AA4F-8144-86CF1A18E07D}"/>
              </a:ext>
            </a:extLst>
          </p:cNvPr>
          <p:cNvSpPr txBox="1"/>
          <p:nvPr/>
        </p:nvSpPr>
        <p:spPr>
          <a:xfrm>
            <a:off x="6223000" y="2540000"/>
            <a:ext cx="1143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FF6B6B"/>
                </a:solidFill>
              </a:rPr>
              <a:t>시계방향</a:t>
            </a:r>
            <a:endParaRPr lang="ko-Kore-KR" altLang="en-US" sz="1400">
              <a:solidFill>
                <a:srgbClr val="FF6B6B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7A55A42-5488-BD4D-B26C-44DEAA44D999}"/>
              </a:ext>
            </a:extLst>
          </p:cNvPr>
          <p:cNvSpPr/>
          <p:nvPr/>
        </p:nvSpPr>
        <p:spPr>
          <a:xfrm>
            <a:off x="3429000" y="1651000"/>
            <a:ext cx="889000" cy="8890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R2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99EC1-5DBD-CD48-83AD-67EF2ABB998A}"/>
              </a:ext>
            </a:extLst>
          </p:cNvPr>
          <p:cNvSpPr txBox="1"/>
          <p:nvPr/>
        </p:nvSpPr>
        <p:spPr>
          <a:xfrm>
            <a:off x="3238500" y="2540000"/>
            <a:ext cx="127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51CF66"/>
                </a:solidFill>
              </a:rPr>
              <a:t>반시계방향</a:t>
            </a:r>
            <a:endParaRPr lang="ko-Kore-KR" altLang="en-US" sz="1400">
              <a:solidFill>
                <a:srgbClr val="51CF66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2D65C5E-E34C-B94E-A931-83C3B856216C}"/>
              </a:ext>
            </a:extLst>
          </p:cNvPr>
          <p:cNvSpPr/>
          <p:nvPr/>
        </p:nvSpPr>
        <p:spPr>
          <a:xfrm>
            <a:off x="3429000" y="4191000"/>
            <a:ext cx="889000" cy="8890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R3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A62AF9-6194-5D45-AE5D-04CA21A02D1B}"/>
              </a:ext>
            </a:extLst>
          </p:cNvPr>
          <p:cNvSpPr txBox="1"/>
          <p:nvPr/>
        </p:nvSpPr>
        <p:spPr>
          <a:xfrm>
            <a:off x="3302000" y="5080000"/>
            <a:ext cx="1143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FF6B6B"/>
                </a:solidFill>
              </a:rPr>
              <a:t>시계방향</a:t>
            </a:r>
            <a:endParaRPr lang="ko-Kore-KR" altLang="en-US" sz="1400">
              <a:solidFill>
                <a:srgbClr val="FF6B6B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A4F4AB2-94C6-AE4B-ACBD-73F33E3ABAA5}"/>
              </a:ext>
            </a:extLst>
          </p:cNvPr>
          <p:cNvSpPr/>
          <p:nvPr/>
        </p:nvSpPr>
        <p:spPr>
          <a:xfrm>
            <a:off x="6350000" y="4191000"/>
            <a:ext cx="889000" cy="8890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R4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BA3B67-1109-D741-BF53-F82DB8BB9924}"/>
              </a:ext>
            </a:extLst>
          </p:cNvPr>
          <p:cNvSpPr txBox="1"/>
          <p:nvPr/>
        </p:nvSpPr>
        <p:spPr>
          <a:xfrm>
            <a:off x="6159500" y="5080000"/>
            <a:ext cx="127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51CF66"/>
                </a:solidFill>
              </a:rPr>
              <a:t>반시계방향</a:t>
            </a:r>
            <a:endParaRPr lang="ko-Kore-KR" altLang="en-US" sz="1400">
              <a:solidFill>
                <a:srgbClr val="51CF66"/>
              </a:solidFill>
            </a:endParaRPr>
          </a:p>
        </p:txBody>
      </p:sp>
      <p:sp>
        <p:nvSpPr>
          <p:cNvPr id="12" name="위쪽 화살표[U] 11">
            <a:extLst>
              <a:ext uri="{FF2B5EF4-FFF2-40B4-BE49-F238E27FC236}">
                <a16:creationId xmlns:a16="http://schemas.microsoft.com/office/drawing/2014/main" id="{1B98C808-90FE-C041-A540-E800DC3D826E}"/>
              </a:ext>
            </a:extLst>
          </p:cNvPr>
          <p:cNvSpPr/>
          <p:nvPr/>
        </p:nvSpPr>
        <p:spPr>
          <a:xfrm>
            <a:off x="5156200" y="1460500"/>
            <a:ext cx="355600" cy="571500"/>
          </a:xfrm>
          <a:prstGeom prst="upArrow">
            <a:avLst/>
          </a:prstGeom>
          <a:solidFill>
            <a:srgbClr val="FCC4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17DB4B-79EC-F548-84AF-28B7D2BC38A7}"/>
              </a:ext>
            </a:extLst>
          </p:cNvPr>
          <p:cNvSpPr txBox="1"/>
          <p:nvPr/>
        </p:nvSpPr>
        <p:spPr>
          <a:xfrm>
            <a:off x="4953000" y="1206500"/>
            <a:ext cx="762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FCC419"/>
                </a:solidFill>
              </a:rPr>
              <a:t>전방</a:t>
            </a:r>
            <a:endParaRPr lang="ko-Kore-KR" altLang="en-US" sz="1600" b="1">
              <a:solidFill>
                <a:srgbClr val="FCC419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E8ABD086-A9E0-A846-B69E-86917E0E9901}"/>
              </a:ext>
            </a:extLst>
          </p:cNvPr>
          <p:cNvSpPr/>
          <p:nvPr/>
        </p:nvSpPr>
        <p:spPr>
          <a:xfrm>
            <a:off x="8255000" y="1778000"/>
            <a:ext cx="3556000" cy="2540000"/>
          </a:xfrm>
          <a:prstGeom prst="roundRect">
            <a:avLst/>
          </a:prstGeom>
          <a:solidFill>
            <a:srgbClr val="F0F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CA0CF1-D228-7944-A34B-C81B7AE9AC83}"/>
              </a:ext>
            </a:extLst>
          </p:cNvPr>
          <p:cNvSpPr txBox="1"/>
          <p:nvPr/>
        </p:nvSpPr>
        <p:spPr>
          <a:xfrm>
            <a:off x="8445500" y="1905000"/>
            <a:ext cx="3175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왜 방향이 다를까</a:t>
            </a:r>
            <a:r>
              <a:rPr lang="en-US" altLang="ko-KR" sz="1500">
                <a:solidFill>
                  <a:srgbClr val="2D3436"/>
                </a:solidFill>
              </a:rPr>
              <a:t>?
</a:t>
            </a:r>
            <a:r>
              <a:rPr lang="ko-KR" altLang="en-US" sz="1500">
                <a:solidFill>
                  <a:srgbClr val="2D3436"/>
                </a:solidFill>
              </a:rPr>
              <a:t>대각선 로터가 같은 방향으로 돌아요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en" altLang="ko-Kore-KR" sz="1500">
                <a:solidFill>
                  <a:srgbClr val="2D3436"/>
                </a:solidFill>
              </a:rPr>
              <a:t>R1+R3 = </a:t>
            </a:r>
            <a:r>
              <a:rPr lang="ko-KR" altLang="en-US" sz="1500">
                <a:solidFill>
                  <a:srgbClr val="2D3436"/>
                </a:solidFill>
              </a:rPr>
              <a:t>시계방향
</a:t>
            </a:r>
            <a:r>
              <a:rPr lang="en" altLang="ko-Kore-KR" sz="1500">
                <a:solidFill>
                  <a:srgbClr val="2D3436"/>
                </a:solidFill>
              </a:rPr>
              <a:t>R2+R4 = </a:t>
            </a:r>
            <a:r>
              <a:rPr lang="ko-KR" altLang="en-US" sz="1500">
                <a:solidFill>
                  <a:srgbClr val="2D3436"/>
                </a:solidFill>
              </a:rPr>
              <a:t>반시계방향
이렇게 해야 드론이
빙글빙글 안 돌아요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158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70C14-4E19-BE10-6E5B-E8979D660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825500"/>
          </a:xfrm>
        </p:spPr>
        <p:txBody>
          <a:bodyPr>
            <a:normAutofit/>
          </a:bodyPr>
          <a:lstStyle/>
          <a:p>
            <a:r>
              <a:rPr kumimoji="1" lang="ko-KR" altLang="en-US" sz="3400" b="1"/>
              <a:t>드론의 두뇌</a:t>
            </a:r>
            <a:r>
              <a:rPr kumimoji="1" lang="en-US" altLang="ko-KR" sz="3400" b="1"/>
              <a:t>: </a:t>
            </a:r>
            <a:r>
              <a:rPr kumimoji="1" lang="ko-KR" altLang="en-US" sz="3400" b="1"/>
              <a:t>컴퓨터가 하는 일</a:t>
            </a:r>
            <a:endParaRPr kumimoji="1" lang="ko-Kore-KR" altLang="en-US" sz="3400" b="1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5A58488-4011-B444-9813-FEABB66BA389}"/>
              </a:ext>
            </a:extLst>
          </p:cNvPr>
          <p:cNvSpPr/>
          <p:nvPr/>
        </p:nvSpPr>
        <p:spPr>
          <a:xfrm>
            <a:off x="635000" y="1524000"/>
            <a:ext cx="1270000" cy="12700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</a:rPr>
              <a:t>조종기
입력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AD11AA-DECC-1044-82D0-221CE21DD4FB}"/>
              </a:ext>
            </a:extLst>
          </p:cNvPr>
          <p:cNvSpPr txBox="1"/>
          <p:nvPr/>
        </p:nvSpPr>
        <p:spPr>
          <a:xfrm>
            <a:off x="381000" y="29210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2D3436"/>
                </a:solidFill>
              </a:rPr>
              <a:t>조이스틱으로
방향 명령</a:t>
            </a:r>
            <a:endParaRPr lang="ko-Kore-KR" altLang="en-US" sz="1400">
              <a:solidFill>
                <a:srgbClr val="2D3436"/>
              </a:solidFill>
            </a:endParaRPr>
          </a:p>
        </p:txBody>
      </p:sp>
      <p:sp>
        <p:nvSpPr>
          <p:cNvPr id="5" name="오른쪽 화살표[R] 4">
            <a:extLst>
              <a:ext uri="{FF2B5EF4-FFF2-40B4-BE49-F238E27FC236}">
                <a16:creationId xmlns:a16="http://schemas.microsoft.com/office/drawing/2014/main" id="{A7B55169-5FFA-5547-A7E7-648872B64627}"/>
              </a:ext>
            </a:extLst>
          </p:cNvPr>
          <p:cNvSpPr/>
          <p:nvPr/>
        </p:nvSpPr>
        <p:spPr>
          <a:xfrm>
            <a:off x="2184400" y="1968500"/>
            <a:ext cx="381000" cy="3810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C2B00ED-521B-FB42-AA80-95A34F5F004F}"/>
              </a:ext>
            </a:extLst>
          </p:cNvPr>
          <p:cNvSpPr/>
          <p:nvPr/>
        </p:nvSpPr>
        <p:spPr>
          <a:xfrm>
            <a:off x="2921000" y="1524000"/>
            <a:ext cx="1270000" cy="12700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</a:rPr>
              <a:t>목표
자세 계산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810E1-C07F-8849-A70E-89C8404A948B}"/>
              </a:ext>
            </a:extLst>
          </p:cNvPr>
          <p:cNvSpPr txBox="1"/>
          <p:nvPr/>
        </p:nvSpPr>
        <p:spPr>
          <a:xfrm>
            <a:off x="2667000" y="29210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2D3436"/>
                </a:solidFill>
              </a:rPr>
              <a:t>어떤 각도로
기울어질지 계산</a:t>
            </a:r>
            <a:endParaRPr lang="ko-Kore-KR" altLang="en-US" sz="1400">
              <a:solidFill>
                <a:srgbClr val="2D3436"/>
              </a:solidFill>
            </a:endParaRPr>
          </a:p>
        </p:txBody>
      </p:sp>
      <p:sp>
        <p:nvSpPr>
          <p:cNvPr id="8" name="오른쪽 화살표[R] 7">
            <a:extLst>
              <a:ext uri="{FF2B5EF4-FFF2-40B4-BE49-F238E27FC236}">
                <a16:creationId xmlns:a16="http://schemas.microsoft.com/office/drawing/2014/main" id="{62464BBD-1680-894D-A53B-DC8954D0FDF2}"/>
              </a:ext>
            </a:extLst>
          </p:cNvPr>
          <p:cNvSpPr/>
          <p:nvPr/>
        </p:nvSpPr>
        <p:spPr>
          <a:xfrm>
            <a:off x="4470400" y="1968500"/>
            <a:ext cx="381000" cy="3810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45F39C5-6B6F-2B48-867A-7D2791C0F626}"/>
              </a:ext>
            </a:extLst>
          </p:cNvPr>
          <p:cNvSpPr/>
          <p:nvPr/>
        </p:nvSpPr>
        <p:spPr>
          <a:xfrm>
            <a:off x="5207000" y="1524000"/>
            <a:ext cx="1270000" cy="12700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</a:rPr>
              <a:t>오차
확인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94A15-9098-214B-A858-0380888D36EB}"/>
              </a:ext>
            </a:extLst>
          </p:cNvPr>
          <p:cNvSpPr txBox="1"/>
          <p:nvPr/>
        </p:nvSpPr>
        <p:spPr>
          <a:xfrm>
            <a:off x="4953000" y="29210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2D3436"/>
                </a:solidFill>
              </a:rPr>
              <a:t>지금 자세와
목표 비교</a:t>
            </a:r>
            <a:endParaRPr lang="ko-Kore-KR" altLang="en-US" sz="1400">
              <a:solidFill>
                <a:srgbClr val="2D3436"/>
              </a:solidFill>
            </a:endParaRPr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9B3A3CEB-EE91-6A43-87AB-A7D11D4660F3}"/>
              </a:ext>
            </a:extLst>
          </p:cNvPr>
          <p:cNvSpPr/>
          <p:nvPr/>
        </p:nvSpPr>
        <p:spPr>
          <a:xfrm>
            <a:off x="6756400" y="1968500"/>
            <a:ext cx="381000" cy="3810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0D8BA60-0F48-8E4B-AB45-8B95131196AB}"/>
              </a:ext>
            </a:extLst>
          </p:cNvPr>
          <p:cNvSpPr/>
          <p:nvPr/>
        </p:nvSpPr>
        <p:spPr>
          <a:xfrm>
            <a:off x="7493000" y="1524000"/>
            <a:ext cx="1270000" cy="12700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</a:rPr>
              <a:t>모터
속도 결정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46C878-325D-7247-91C5-39AB61025740}"/>
              </a:ext>
            </a:extLst>
          </p:cNvPr>
          <p:cNvSpPr txBox="1"/>
          <p:nvPr/>
        </p:nvSpPr>
        <p:spPr>
          <a:xfrm>
            <a:off x="7239000" y="29210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2D3436"/>
                </a:solidFill>
              </a:rPr>
              <a:t>각 프로펠러를
얼마나 빠르게</a:t>
            </a:r>
            <a:r>
              <a:rPr lang="en-US" altLang="ko-KR" sz="1400">
                <a:solidFill>
                  <a:srgbClr val="2D3436"/>
                </a:solidFill>
              </a:rPr>
              <a:t>?</a:t>
            </a:r>
            <a:endParaRPr lang="ko-Kore-KR" altLang="en-US" sz="1400">
              <a:solidFill>
                <a:srgbClr val="2D3436"/>
              </a:solidFill>
            </a:endParaRPr>
          </a:p>
        </p:txBody>
      </p:sp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682F8B90-23AA-634F-8541-1EB1EC4A8C4A}"/>
              </a:ext>
            </a:extLst>
          </p:cNvPr>
          <p:cNvSpPr/>
          <p:nvPr/>
        </p:nvSpPr>
        <p:spPr>
          <a:xfrm>
            <a:off x="9042400" y="1968500"/>
            <a:ext cx="381000" cy="3810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67D355C-8E6A-5F49-ACA8-BACB47FCA903}"/>
              </a:ext>
            </a:extLst>
          </p:cNvPr>
          <p:cNvSpPr/>
          <p:nvPr/>
        </p:nvSpPr>
        <p:spPr>
          <a:xfrm>
            <a:off x="9779000" y="1524000"/>
            <a:ext cx="1270000" cy="12700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</a:rPr>
              <a:t>드론
움직임</a:t>
            </a:r>
            <a:r>
              <a:rPr lang="en-US" altLang="ko-KR" sz="1400" b="1">
                <a:solidFill>
                  <a:srgbClr val="FFFFFF"/>
                </a:solidFill>
              </a:rPr>
              <a:t>!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10C63F-0436-8D48-AB83-C4C0FF638407}"/>
              </a:ext>
            </a:extLst>
          </p:cNvPr>
          <p:cNvSpPr txBox="1"/>
          <p:nvPr/>
        </p:nvSpPr>
        <p:spPr>
          <a:xfrm>
            <a:off x="9525000" y="29210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2D3436"/>
                </a:solidFill>
              </a:rPr>
              <a:t>프로펠러가 돌고
드론이 이동</a:t>
            </a:r>
            <a:r>
              <a:rPr lang="en-US" altLang="ko-KR" sz="1400">
                <a:solidFill>
                  <a:srgbClr val="2D3436"/>
                </a:solidFill>
              </a:rPr>
              <a:t>!</a:t>
            </a:r>
            <a:endParaRPr lang="ko-Kore-KR" altLang="en-US" sz="1400">
              <a:solidFill>
                <a:srgbClr val="2D3436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D737BC65-F7B4-D14F-99AC-1B5822399A50}"/>
              </a:ext>
            </a:extLst>
          </p:cNvPr>
          <p:cNvSpPr/>
          <p:nvPr/>
        </p:nvSpPr>
        <p:spPr>
          <a:xfrm>
            <a:off x="508000" y="3937000"/>
            <a:ext cx="11176000" cy="1905000"/>
          </a:xfrm>
          <a:prstGeom prst="roundRect">
            <a:avLst/>
          </a:prstGeom>
          <a:solidFill>
            <a:srgbClr val="F5F0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844280-1681-424E-9B44-E5F3D1535730}"/>
              </a:ext>
            </a:extLst>
          </p:cNvPr>
          <p:cNvSpPr txBox="1"/>
          <p:nvPr/>
        </p:nvSpPr>
        <p:spPr>
          <a:xfrm>
            <a:off x="762000" y="40005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845EF7"/>
                </a:solidFill>
              </a:rPr>
              <a:t>이 모든 과정이 </a:t>
            </a:r>
            <a:r>
              <a:rPr lang="en-US" altLang="ko-KR" sz="2400" b="1">
                <a:solidFill>
                  <a:srgbClr val="845EF7"/>
                </a:solidFill>
              </a:rPr>
              <a:t>1</a:t>
            </a:r>
            <a:r>
              <a:rPr lang="ko-KR" altLang="en-US" sz="2400" b="1">
                <a:solidFill>
                  <a:srgbClr val="845EF7"/>
                </a:solidFill>
              </a:rPr>
              <a:t>초에 </a:t>
            </a:r>
            <a:r>
              <a:rPr lang="en-US" altLang="ko-KR" sz="2400" b="1">
                <a:solidFill>
                  <a:srgbClr val="845EF7"/>
                </a:solidFill>
              </a:rPr>
              <a:t>250</a:t>
            </a:r>
            <a:r>
              <a:rPr lang="ko-KR" altLang="en-US" sz="2400" b="1">
                <a:solidFill>
                  <a:srgbClr val="845EF7"/>
                </a:solidFill>
              </a:rPr>
              <a:t>번 일어나요</a:t>
            </a:r>
            <a:r>
              <a:rPr lang="en-US" altLang="ko-KR" sz="2400" b="1">
                <a:solidFill>
                  <a:srgbClr val="845EF7"/>
                </a:solidFill>
              </a:rPr>
              <a:t>!</a:t>
            </a:r>
            <a:endParaRPr lang="ko-Kore-KR" altLang="en-US" sz="2400" b="1">
              <a:solidFill>
                <a:srgbClr val="845EF7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D6E353-80A7-F440-BEED-E1E54B80C0B0}"/>
              </a:ext>
            </a:extLst>
          </p:cNvPr>
          <p:cNvSpPr txBox="1"/>
          <p:nvPr/>
        </p:nvSpPr>
        <p:spPr>
          <a:xfrm>
            <a:off x="762000" y="4572000"/>
            <a:ext cx="10668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</a:rPr>
              <a:t>사람이 눈을 한 번 깜빡이는 사이에 드론 컴퓨터는 </a:t>
            </a:r>
            <a:r>
              <a:rPr lang="en-US" altLang="ko-KR" sz="1600">
                <a:solidFill>
                  <a:srgbClr val="2D3436"/>
                </a:solidFill>
              </a:rPr>
              <a:t>100</a:t>
            </a:r>
            <a:r>
              <a:rPr lang="ko-KR" altLang="en-US" sz="1600">
                <a:solidFill>
                  <a:srgbClr val="2D3436"/>
                </a:solidFill>
              </a:rPr>
              <a:t>번 넘게 계산해요</a:t>
            </a:r>
            <a:r>
              <a:rPr lang="en-US" altLang="ko-KR" sz="1600">
                <a:solidFill>
                  <a:srgbClr val="2D3436"/>
                </a:solidFill>
              </a:rPr>
              <a:t>!
</a:t>
            </a:r>
            <a:r>
              <a:rPr lang="ko-KR" altLang="en-US" sz="1600">
                <a:solidFill>
                  <a:srgbClr val="2D3436"/>
                </a:solidFill>
              </a:rPr>
              <a:t>그래서 드론이 바람이 불어도 넘어지지 않고 안정적으로 날 수 있는 거예요</a:t>
            </a:r>
            <a:r>
              <a:rPr lang="en-US" altLang="ko-KR" sz="1600">
                <a:solidFill>
                  <a:srgbClr val="2D3436"/>
                </a:solidFill>
              </a:rPr>
              <a:t>.
</a:t>
            </a:r>
            <a:r>
              <a:rPr lang="ko-KR" altLang="en-US" sz="1600">
                <a:solidFill>
                  <a:srgbClr val="2D3436"/>
                </a:solidFill>
              </a:rPr>
              <a:t>이것을 </a:t>
            </a:r>
            <a:r>
              <a:rPr lang="en-US" altLang="ko-KR" sz="1600">
                <a:solidFill>
                  <a:srgbClr val="2D3436"/>
                </a:solidFill>
              </a:rPr>
              <a:t>'</a:t>
            </a:r>
            <a:r>
              <a:rPr lang="ko-KR" altLang="en-US" sz="1600">
                <a:solidFill>
                  <a:srgbClr val="2D3436"/>
                </a:solidFill>
              </a:rPr>
              <a:t>자세 제어</a:t>
            </a:r>
            <a:r>
              <a:rPr lang="en-US" altLang="ko-KR" sz="1600">
                <a:solidFill>
                  <a:srgbClr val="2D3436"/>
                </a:solidFill>
              </a:rPr>
              <a:t>'</a:t>
            </a:r>
            <a:r>
              <a:rPr lang="ko-KR" altLang="en-US" sz="1600">
                <a:solidFill>
                  <a:srgbClr val="2D3436"/>
                </a:solidFill>
              </a:rPr>
              <a:t>라고 해요</a:t>
            </a:r>
            <a:r>
              <a:rPr lang="en-US" altLang="ko-KR" sz="1600">
                <a:solidFill>
                  <a:srgbClr val="2D3436"/>
                </a:solidFill>
              </a:rPr>
              <a:t>. </a:t>
            </a:r>
            <a:r>
              <a:rPr lang="ko-KR" altLang="en-US" sz="1600">
                <a:solidFill>
                  <a:srgbClr val="2D3436"/>
                </a:solidFill>
              </a:rPr>
              <a:t>우리가 자전거 탈 때 균형 잡는 것과 비슷해요</a:t>
            </a:r>
            <a:r>
              <a:rPr lang="en-US" altLang="ko-KR" sz="1600">
                <a:solidFill>
                  <a:srgbClr val="2D3436"/>
                </a:solidFill>
              </a:rPr>
              <a:t>!</a:t>
            </a:r>
            <a:endParaRPr lang="ko-Kore-KR" altLang="en-US" sz="16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635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28546-5080-2FD9-B69D-576AEF8E8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825500"/>
          </a:xfrm>
        </p:spPr>
        <p:txBody>
          <a:bodyPr>
            <a:normAutofit/>
          </a:bodyPr>
          <a:lstStyle/>
          <a:p>
            <a:r>
              <a:rPr kumimoji="1" lang="ko-KR" altLang="en-US" sz="3400" b="1"/>
              <a:t>드론에 작용하는 힘들</a:t>
            </a:r>
            <a:endParaRPr kumimoji="1" lang="ko-Kore-KR" altLang="en-US" sz="34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F17C27B3-20E5-5B48-B5EB-D692F283782C}"/>
              </a:ext>
            </a:extLst>
          </p:cNvPr>
          <p:cNvSpPr/>
          <p:nvPr/>
        </p:nvSpPr>
        <p:spPr>
          <a:xfrm>
            <a:off x="381000" y="1397000"/>
            <a:ext cx="3556000" cy="4318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596C211-0286-024D-AF4A-AD6CDD26D2D9}"/>
              </a:ext>
            </a:extLst>
          </p:cNvPr>
          <p:cNvSpPr/>
          <p:nvPr/>
        </p:nvSpPr>
        <p:spPr>
          <a:xfrm>
            <a:off x="1714500" y="1524000"/>
            <a:ext cx="889000" cy="8890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800" b="1">
                <a:solidFill>
                  <a:srgbClr val="FFFFFF"/>
                </a:solidFill>
              </a:rPr>
              <a:t>T</a:t>
            </a:r>
            <a:endParaRPr lang="ko-Kore-KR" altLang="en-US" sz="28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B9E30-B5D3-DC41-8E33-334444AD4E6E}"/>
              </a:ext>
            </a:extLst>
          </p:cNvPr>
          <p:cNvSpPr txBox="1"/>
          <p:nvPr/>
        </p:nvSpPr>
        <p:spPr>
          <a:xfrm>
            <a:off x="571500" y="2540000"/>
            <a:ext cx="317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51CF66"/>
                </a:solidFill>
              </a:rPr>
              <a:t>추력 </a:t>
            </a:r>
            <a:r>
              <a:rPr lang="en-US" altLang="ko-KR" sz="2000" b="1">
                <a:solidFill>
                  <a:srgbClr val="51CF66"/>
                </a:solidFill>
              </a:rPr>
              <a:t>(</a:t>
            </a:r>
            <a:r>
              <a:rPr lang="en" altLang="ko-Kore-KR" sz="2000" b="1">
                <a:solidFill>
                  <a:srgbClr val="51CF66"/>
                </a:solidFill>
              </a:rPr>
              <a:t>Thrust)</a:t>
            </a:r>
            <a:endParaRPr lang="ko-Kore-KR" altLang="en-US" sz="2000" b="1">
              <a:solidFill>
                <a:srgbClr val="51CF6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5E92B-4D01-C94B-801D-D5F66529790C}"/>
              </a:ext>
            </a:extLst>
          </p:cNvPr>
          <p:cNvSpPr txBox="1"/>
          <p:nvPr/>
        </p:nvSpPr>
        <p:spPr>
          <a:xfrm>
            <a:off x="571500" y="2984500"/>
            <a:ext cx="3175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프로펠러가 공기를 아래로
밀어서 생기는 힘이에요</a:t>
            </a:r>
            <a:r>
              <a:rPr lang="en-US" altLang="ko-KR" sz="1500">
                <a:solidFill>
                  <a:srgbClr val="2D3436"/>
                </a:solidFill>
              </a:rPr>
              <a:t>.
</a:t>
            </a:r>
            <a:r>
              <a:rPr lang="ko-KR" altLang="en-US" sz="1500">
                <a:solidFill>
                  <a:srgbClr val="2D3436"/>
                </a:solidFill>
              </a:rPr>
              <a:t>위쪽으로 작용해서
드론을 하늘로 띄워줘요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6DDCDB5-077B-2044-A140-EF7D998B62EB}"/>
              </a:ext>
            </a:extLst>
          </p:cNvPr>
          <p:cNvSpPr/>
          <p:nvPr/>
        </p:nvSpPr>
        <p:spPr>
          <a:xfrm>
            <a:off x="571500" y="4254500"/>
            <a:ext cx="3175000" cy="698500"/>
          </a:xfrm>
          <a:prstGeom prst="roundRect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2656E4-EA79-1C4C-860F-D6134BFB87CD}"/>
              </a:ext>
            </a:extLst>
          </p:cNvPr>
          <p:cNvSpPr txBox="1"/>
          <p:nvPr/>
        </p:nvSpPr>
        <p:spPr>
          <a:xfrm>
            <a:off x="698500" y="4318000"/>
            <a:ext cx="2921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FFFFFF"/>
                </a:solidFill>
              </a:rPr>
              <a:t>선풍기를 아래로 향하면
바람이 위로 밀어주는 것과 같아요</a:t>
            </a:r>
            <a:endParaRPr lang="ko-Kore-KR" altLang="en-US" sz="1400">
              <a:solidFill>
                <a:srgbClr val="FFFFFF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1AA0C2B-9EBF-D147-83FB-BB9B98C1A738}"/>
              </a:ext>
            </a:extLst>
          </p:cNvPr>
          <p:cNvSpPr/>
          <p:nvPr/>
        </p:nvSpPr>
        <p:spPr>
          <a:xfrm>
            <a:off x="4318000" y="1397000"/>
            <a:ext cx="3556000" cy="4318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AA04D34-F697-3E48-A517-09A0C5F85B4D}"/>
              </a:ext>
            </a:extLst>
          </p:cNvPr>
          <p:cNvSpPr/>
          <p:nvPr/>
        </p:nvSpPr>
        <p:spPr>
          <a:xfrm>
            <a:off x="5651500" y="1524000"/>
            <a:ext cx="889000" cy="8890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800" b="1">
                <a:solidFill>
                  <a:srgbClr val="FFFFFF"/>
                </a:solidFill>
              </a:rPr>
              <a:t>G</a:t>
            </a:r>
            <a:endParaRPr lang="ko-Kore-KR" altLang="en-US" sz="2800" b="1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DCC18D-FD7A-A846-A2F5-CAE7B1598F1A}"/>
              </a:ext>
            </a:extLst>
          </p:cNvPr>
          <p:cNvSpPr txBox="1"/>
          <p:nvPr/>
        </p:nvSpPr>
        <p:spPr>
          <a:xfrm>
            <a:off x="4508500" y="2540000"/>
            <a:ext cx="317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FF6B6B"/>
                </a:solidFill>
              </a:rPr>
              <a:t>중력 </a:t>
            </a:r>
            <a:r>
              <a:rPr lang="en-US" altLang="ko-KR" sz="2000" b="1">
                <a:solidFill>
                  <a:srgbClr val="FF6B6B"/>
                </a:solidFill>
              </a:rPr>
              <a:t>(</a:t>
            </a:r>
            <a:r>
              <a:rPr lang="en" altLang="ko-Kore-KR" sz="2000" b="1">
                <a:solidFill>
                  <a:srgbClr val="FF6B6B"/>
                </a:solidFill>
              </a:rPr>
              <a:t>Gravity)</a:t>
            </a:r>
            <a:endParaRPr lang="ko-Kore-KR" altLang="en-US" sz="2000" b="1">
              <a:solidFill>
                <a:srgbClr val="FF6B6B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CCB8CE-2B83-494F-A40C-A006E7EF8647}"/>
              </a:ext>
            </a:extLst>
          </p:cNvPr>
          <p:cNvSpPr txBox="1"/>
          <p:nvPr/>
        </p:nvSpPr>
        <p:spPr>
          <a:xfrm>
            <a:off x="4508500" y="2984500"/>
            <a:ext cx="3175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지구가 모든 물체를
아래로 당기는 힘이에요</a:t>
            </a:r>
            <a:r>
              <a:rPr lang="en-US" altLang="ko-KR" sz="1500">
                <a:solidFill>
                  <a:srgbClr val="2D3436"/>
                </a:solidFill>
              </a:rPr>
              <a:t>.
</a:t>
            </a:r>
            <a:r>
              <a:rPr lang="ko-KR" altLang="en-US" sz="1500">
                <a:solidFill>
                  <a:srgbClr val="2D3436"/>
                </a:solidFill>
              </a:rPr>
              <a:t>드론 무게 </a:t>
            </a:r>
            <a:r>
              <a:rPr lang="en-US" altLang="ko-KR" sz="1500">
                <a:solidFill>
                  <a:srgbClr val="2D3436"/>
                </a:solidFill>
              </a:rPr>
              <a:t>= 0.5</a:t>
            </a:r>
            <a:r>
              <a:rPr lang="en" altLang="ko-Kore-KR" sz="1500">
                <a:solidFill>
                  <a:srgbClr val="2D3436"/>
                </a:solidFill>
              </a:rPr>
              <a:t>kg</a:t>
            </a:r>
            <a:r>
              <a:rPr lang="ko-KR" altLang="en-US" sz="1500">
                <a:solidFill>
                  <a:srgbClr val="2D3436"/>
                </a:solidFill>
              </a:rPr>
              <a:t>이면
약 </a:t>
            </a:r>
            <a:r>
              <a:rPr lang="en-US" altLang="ko-KR" sz="1500">
                <a:solidFill>
                  <a:srgbClr val="2D3436"/>
                </a:solidFill>
              </a:rPr>
              <a:t>4.9</a:t>
            </a:r>
            <a:r>
              <a:rPr lang="en" altLang="ko-Kore-KR" sz="1500">
                <a:solidFill>
                  <a:srgbClr val="2D3436"/>
                </a:solidFill>
              </a:rPr>
              <a:t>N</a:t>
            </a:r>
            <a:r>
              <a:rPr lang="ko-KR" altLang="en-US" sz="1500">
                <a:solidFill>
                  <a:srgbClr val="2D3436"/>
                </a:solidFill>
              </a:rPr>
              <a:t>의 힘이 당겨요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9163E24B-70D4-0347-ACDC-F489953BCD8B}"/>
              </a:ext>
            </a:extLst>
          </p:cNvPr>
          <p:cNvSpPr/>
          <p:nvPr/>
        </p:nvSpPr>
        <p:spPr>
          <a:xfrm>
            <a:off x="4508500" y="4254500"/>
            <a:ext cx="3175000" cy="698500"/>
          </a:xfrm>
          <a:prstGeom prst="round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6C43D9-21DD-324B-A355-139089A22A04}"/>
              </a:ext>
            </a:extLst>
          </p:cNvPr>
          <p:cNvSpPr txBox="1"/>
          <p:nvPr/>
        </p:nvSpPr>
        <p:spPr>
          <a:xfrm>
            <a:off x="4635500" y="4318000"/>
            <a:ext cx="2921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FFFFFF"/>
                </a:solidFill>
              </a:rPr>
              <a:t>공을 던지면 다시 떨어지죠</a:t>
            </a:r>
            <a:r>
              <a:rPr lang="en-US" altLang="ko-KR" sz="1400">
                <a:solidFill>
                  <a:srgbClr val="FFFFFF"/>
                </a:solidFill>
              </a:rPr>
              <a:t>?
</a:t>
            </a:r>
            <a:r>
              <a:rPr lang="ko-KR" altLang="en-US" sz="1400">
                <a:solidFill>
                  <a:srgbClr val="FFFFFF"/>
                </a:solidFill>
              </a:rPr>
              <a:t>그게 바로 중력이에요</a:t>
            </a:r>
            <a:endParaRPr lang="ko-Kore-KR" altLang="en-US" sz="1400">
              <a:solidFill>
                <a:srgbClr val="FFFFFF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EF8B1A42-3663-9040-90FA-278D199F1C8C}"/>
              </a:ext>
            </a:extLst>
          </p:cNvPr>
          <p:cNvSpPr/>
          <p:nvPr/>
        </p:nvSpPr>
        <p:spPr>
          <a:xfrm>
            <a:off x="8255000" y="1397000"/>
            <a:ext cx="3556000" cy="4318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A0660F8-41E8-B941-B390-63219AD19EE4}"/>
              </a:ext>
            </a:extLst>
          </p:cNvPr>
          <p:cNvSpPr/>
          <p:nvPr/>
        </p:nvSpPr>
        <p:spPr>
          <a:xfrm>
            <a:off x="9588500" y="1524000"/>
            <a:ext cx="889000" cy="8890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2800" b="1">
                <a:solidFill>
                  <a:srgbClr val="FFFFFF"/>
                </a:solidFill>
              </a:rPr>
              <a:t>D</a:t>
            </a:r>
            <a:endParaRPr lang="ko-Kore-KR" altLang="en-US" sz="2800" b="1">
              <a:solidFill>
                <a:srgbClr val="FFFF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2E1CEB-7D87-B64E-9946-59535080D117}"/>
              </a:ext>
            </a:extLst>
          </p:cNvPr>
          <p:cNvSpPr txBox="1"/>
          <p:nvPr/>
        </p:nvSpPr>
        <p:spPr>
          <a:xfrm>
            <a:off x="8445500" y="2540000"/>
            <a:ext cx="317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4A90D9"/>
                </a:solidFill>
              </a:rPr>
              <a:t>공기 저항 </a:t>
            </a:r>
            <a:r>
              <a:rPr lang="en-US" altLang="ko-KR" sz="2000" b="1">
                <a:solidFill>
                  <a:srgbClr val="4A90D9"/>
                </a:solidFill>
              </a:rPr>
              <a:t>(</a:t>
            </a:r>
            <a:r>
              <a:rPr lang="en" altLang="ko-Kore-KR" sz="2000" b="1">
                <a:solidFill>
                  <a:srgbClr val="4A90D9"/>
                </a:solidFill>
              </a:rPr>
              <a:t>Drag)</a:t>
            </a:r>
            <a:endParaRPr lang="ko-Kore-KR" altLang="en-US" sz="2000" b="1">
              <a:solidFill>
                <a:srgbClr val="4A90D9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55E462-C0C7-104F-8022-48DA51C8C515}"/>
              </a:ext>
            </a:extLst>
          </p:cNvPr>
          <p:cNvSpPr txBox="1"/>
          <p:nvPr/>
        </p:nvSpPr>
        <p:spPr>
          <a:xfrm>
            <a:off x="8445500" y="2984500"/>
            <a:ext cx="3175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드론이 움직이면 공기가
반대로 밀어내는 힘이에요</a:t>
            </a:r>
            <a:r>
              <a:rPr lang="en-US" altLang="ko-KR" sz="1500">
                <a:solidFill>
                  <a:srgbClr val="2D3436"/>
                </a:solidFill>
              </a:rPr>
              <a:t>.
</a:t>
            </a:r>
            <a:r>
              <a:rPr lang="ko-KR" altLang="en-US" sz="1500">
                <a:solidFill>
                  <a:srgbClr val="2D3436"/>
                </a:solidFill>
              </a:rPr>
              <a:t>빨리 가면 저항이 더
세져요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1309238-A298-BB4F-8BC6-9413EBA01664}"/>
              </a:ext>
            </a:extLst>
          </p:cNvPr>
          <p:cNvSpPr/>
          <p:nvPr/>
        </p:nvSpPr>
        <p:spPr>
          <a:xfrm>
            <a:off x="8445500" y="4254500"/>
            <a:ext cx="3175000" cy="698500"/>
          </a:xfrm>
          <a:prstGeom prst="roundRect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501A91-BEC7-B549-8F61-1102BC732B58}"/>
              </a:ext>
            </a:extLst>
          </p:cNvPr>
          <p:cNvSpPr txBox="1"/>
          <p:nvPr/>
        </p:nvSpPr>
        <p:spPr>
          <a:xfrm>
            <a:off x="8572500" y="4318000"/>
            <a:ext cx="2921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FFFFFF"/>
                </a:solidFill>
              </a:rPr>
              <a:t>자전거를 빨리 타면
바람이 세게 부는 느낌이죠</a:t>
            </a:r>
            <a:r>
              <a:rPr lang="en-US" altLang="ko-KR" sz="1400">
                <a:solidFill>
                  <a:srgbClr val="FFFFFF"/>
                </a:solidFill>
              </a:rPr>
              <a:t>?</a:t>
            </a:r>
            <a:endParaRPr lang="ko-Kore-KR" altLang="en-US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469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CDC44A-8B56-CE7C-1AD5-02B3C3318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825500"/>
          </a:xfrm>
        </p:spPr>
        <p:txBody>
          <a:bodyPr>
            <a:normAutofit/>
          </a:bodyPr>
          <a:lstStyle/>
          <a:p>
            <a:r>
              <a:rPr kumimoji="1" lang="ko-KR" altLang="en-US" sz="3400" b="1"/>
              <a:t>드론의 자세</a:t>
            </a:r>
            <a:r>
              <a:rPr kumimoji="1" lang="en-US" altLang="ko-KR" sz="3400" b="1"/>
              <a:t>: </a:t>
            </a:r>
            <a:r>
              <a:rPr kumimoji="1" lang="ko-KR" altLang="en-US" sz="3400" b="1"/>
              <a:t>기울기와 방향</a:t>
            </a:r>
            <a:endParaRPr kumimoji="1" lang="ko-Kore-KR" altLang="en-US" sz="34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EB1E5AA6-8D58-A944-A734-C25430F5862E}"/>
              </a:ext>
            </a:extLst>
          </p:cNvPr>
          <p:cNvSpPr/>
          <p:nvPr/>
        </p:nvSpPr>
        <p:spPr>
          <a:xfrm>
            <a:off x="508000" y="1460500"/>
            <a:ext cx="3302000" cy="2540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" name="왼쪽/오른쪽 화살표[L] 3">
            <a:extLst>
              <a:ext uri="{FF2B5EF4-FFF2-40B4-BE49-F238E27FC236}">
                <a16:creationId xmlns:a16="http://schemas.microsoft.com/office/drawing/2014/main" id="{D55BC8F3-3CD2-ED48-B914-9BECBBA07B8F}"/>
              </a:ext>
            </a:extLst>
          </p:cNvPr>
          <p:cNvSpPr/>
          <p:nvPr/>
        </p:nvSpPr>
        <p:spPr>
          <a:xfrm>
            <a:off x="1714500" y="1651000"/>
            <a:ext cx="889000" cy="889000"/>
          </a:xfrm>
          <a:prstGeom prst="leftRightArrow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07A794-0534-AE4B-BEC5-CC22A0B5AEBA}"/>
              </a:ext>
            </a:extLst>
          </p:cNvPr>
          <p:cNvSpPr txBox="1"/>
          <p:nvPr/>
        </p:nvSpPr>
        <p:spPr>
          <a:xfrm>
            <a:off x="698500" y="26670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200" b="1">
                <a:solidFill>
                  <a:srgbClr val="FF6B6B"/>
                </a:solidFill>
              </a:rPr>
              <a:t>롤 </a:t>
            </a:r>
            <a:r>
              <a:rPr lang="en-US" altLang="ko-KR" sz="2200" b="1">
                <a:solidFill>
                  <a:srgbClr val="FF6B6B"/>
                </a:solidFill>
              </a:rPr>
              <a:t>(</a:t>
            </a:r>
            <a:r>
              <a:rPr lang="en" altLang="ko-Kore-KR" sz="2200" b="1">
                <a:solidFill>
                  <a:srgbClr val="FF6B6B"/>
                </a:solidFill>
              </a:rPr>
              <a:t>Roll)</a:t>
            </a:r>
            <a:endParaRPr lang="ko-Kore-KR" altLang="en-US" sz="2200" b="1">
              <a:solidFill>
                <a:srgbClr val="FF6B6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31A9E-D605-074E-9E19-970AAC184A5C}"/>
              </a:ext>
            </a:extLst>
          </p:cNvPr>
          <p:cNvSpPr txBox="1"/>
          <p:nvPr/>
        </p:nvSpPr>
        <p:spPr>
          <a:xfrm>
            <a:off x="698500" y="3086100"/>
            <a:ext cx="2921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좌우로 기울어지기
자전거가 좌우로
기울어지는 것과 같아요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4593DF14-06C9-BD40-A688-9C71C6768A88}"/>
              </a:ext>
            </a:extLst>
          </p:cNvPr>
          <p:cNvSpPr/>
          <p:nvPr/>
        </p:nvSpPr>
        <p:spPr>
          <a:xfrm>
            <a:off x="4445000" y="1460500"/>
            <a:ext cx="3302000" cy="2540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8" name="위쪽/아래쪽 화살표[U] 7">
            <a:extLst>
              <a:ext uri="{FF2B5EF4-FFF2-40B4-BE49-F238E27FC236}">
                <a16:creationId xmlns:a16="http://schemas.microsoft.com/office/drawing/2014/main" id="{279DA471-B119-594D-8A36-318DBA1ADE70}"/>
              </a:ext>
            </a:extLst>
          </p:cNvPr>
          <p:cNvSpPr/>
          <p:nvPr/>
        </p:nvSpPr>
        <p:spPr>
          <a:xfrm>
            <a:off x="5651500" y="1651000"/>
            <a:ext cx="889000" cy="889000"/>
          </a:xfrm>
          <a:prstGeom prst="upDownArrow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25AAE2-0D39-1B40-9E43-640B05CA181C}"/>
              </a:ext>
            </a:extLst>
          </p:cNvPr>
          <p:cNvSpPr txBox="1"/>
          <p:nvPr/>
        </p:nvSpPr>
        <p:spPr>
          <a:xfrm>
            <a:off x="4635500" y="26670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200" b="1">
                <a:solidFill>
                  <a:srgbClr val="51CF66"/>
                </a:solidFill>
              </a:rPr>
              <a:t>피치 </a:t>
            </a:r>
            <a:r>
              <a:rPr lang="en-US" altLang="ko-KR" sz="2200" b="1">
                <a:solidFill>
                  <a:srgbClr val="51CF66"/>
                </a:solidFill>
              </a:rPr>
              <a:t>(</a:t>
            </a:r>
            <a:r>
              <a:rPr lang="en" altLang="ko-Kore-KR" sz="2200" b="1">
                <a:solidFill>
                  <a:srgbClr val="51CF66"/>
                </a:solidFill>
              </a:rPr>
              <a:t>Pitch)</a:t>
            </a:r>
            <a:endParaRPr lang="ko-Kore-KR" altLang="en-US" sz="2200" b="1">
              <a:solidFill>
                <a:srgbClr val="51CF6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B426A-02E1-5544-9831-548B9E29AD45}"/>
              </a:ext>
            </a:extLst>
          </p:cNvPr>
          <p:cNvSpPr txBox="1"/>
          <p:nvPr/>
        </p:nvSpPr>
        <p:spPr>
          <a:xfrm>
            <a:off x="4635500" y="3086100"/>
            <a:ext cx="2921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앞뒤로 기울어지기
시소가 앞뒤로
기울어지는 것과 같아요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D3C78CDA-F2D1-6445-A57D-48ABA5DD3D58}"/>
              </a:ext>
            </a:extLst>
          </p:cNvPr>
          <p:cNvSpPr/>
          <p:nvPr/>
        </p:nvSpPr>
        <p:spPr>
          <a:xfrm>
            <a:off x="8382000" y="1460500"/>
            <a:ext cx="3302000" cy="2540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2" name="원형 화살표[C] 11">
            <a:extLst>
              <a:ext uri="{FF2B5EF4-FFF2-40B4-BE49-F238E27FC236}">
                <a16:creationId xmlns:a16="http://schemas.microsoft.com/office/drawing/2014/main" id="{C7E2F6BF-1CCC-7448-8B05-D8664E11678E}"/>
              </a:ext>
            </a:extLst>
          </p:cNvPr>
          <p:cNvSpPr/>
          <p:nvPr/>
        </p:nvSpPr>
        <p:spPr>
          <a:xfrm>
            <a:off x="9588500" y="1651000"/>
            <a:ext cx="889000" cy="889000"/>
          </a:xfrm>
          <a:prstGeom prst="circularArrow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020828-546A-6047-8B9C-764EBD5BA51E}"/>
              </a:ext>
            </a:extLst>
          </p:cNvPr>
          <p:cNvSpPr txBox="1"/>
          <p:nvPr/>
        </p:nvSpPr>
        <p:spPr>
          <a:xfrm>
            <a:off x="8572500" y="26670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200" b="1">
                <a:solidFill>
                  <a:srgbClr val="845EF7"/>
                </a:solidFill>
              </a:rPr>
              <a:t>요 </a:t>
            </a:r>
            <a:r>
              <a:rPr lang="en-US" altLang="ko-KR" sz="2200" b="1">
                <a:solidFill>
                  <a:srgbClr val="845EF7"/>
                </a:solidFill>
              </a:rPr>
              <a:t>(</a:t>
            </a:r>
            <a:r>
              <a:rPr lang="en" altLang="ko-Kore-KR" sz="2200" b="1">
                <a:solidFill>
                  <a:srgbClr val="845EF7"/>
                </a:solidFill>
              </a:rPr>
              <a:t>Yaw)</a:t>
            </a:r>
            <a:endParaRPr lang="ko-Kore-KR" altLang="en-US" sz="2200" b="1">
              <a:solidFill>
                <a:srgbClr val="845EF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4F1C1E-0767-4740-91CE-130EBD364190}"/>
              </a:ext>
            </a:extLst>
          </p:cNvPr>
          <p:cNvSpPr txBox="1"/>
          <p:nvPr/>
        </p:nvSpPr>
        <p:spPr>
          <a:xfrm>
            <a:off x="8572500" y="3086100"/>
            <a:ext cx="2921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빙글빙글 회전하기
팽이가 도는 것과
같아요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62313F21-A9B0-E245-82DC-97F479F8D1D0}"/>
              </a:ext>
            </a:extLst>
          </p:cNvPr>
          <p:cNvSpPr/>
          <p:nvPr/>
        </p:nvSpPr>
        <p:spPr>
          <a:xfrm>
            <a:off x="508000" y="4318000"/>
            <a:ext cx="11176000" cy="1524000"/>
          </a:xfrm>
          <a:prstGeom prst="roundRect">
            <a:avLst/>
          </a:prstGeom>
          <a:solidFill>
            <a:srgbClr val="FFF3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9E6DFC-4FCB-5841-81E5-CDE8FA56B9A5}"/>
              </a:ext>
            </a:extLst>
          </p:cNvPr>
          <p:cNvSpPr txBox="1"/>
          <p:nvPr/>
        </p:nvSpPr>
        <p:spPr>
          <a:xfrm>
            <a:off x="762000" y="44196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FF922B"/>
                </a:solidFill>
              </a:rPr>
              <a:t>쿼터니언이란</a:t>
            </a:r>
            <a:r>
              <a:rPr lang="en-US" altLang="ko-KR" sz="2000" b="1">
                <a:solidFill>
                  <a:srgbClr val="FF922B"/>
                </a:solidFill>
              </a:rPr>
              <a:t>?</a:t>
            </a:r>
            <a:endParaRPr lang="ko-Kore-KR" altLang="en-US" sz="2000" b="1">
              <a:solidFill>
                <a:srgbClr val="FF922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7E86FE-D689-7B41-86FB-B3113D076765}"/>
              </a:ext>
            </a:extLst>
          </p:cNvPr>
          <p:cNvSpPr txBox="1"/>
          <p:nvPr/>
        </p:nvSpPr>
        <p:spPr>
          <a:xfrm>
            <a:off x="762000" y="4800600"/>
            <a:ext cx="10668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</a:rPr>
              <a:t>드론 컴퓨터는 기울기를 기억할 때 </a:t>
            </a:r>
            <a:r>
              <a:rPr lang="en-US" altLang="ko-KR" sz="1600">
                <a:solidFill>
                  <a:srgbClr val="2D3436"/>
                </a:solidFill>
              </a:rPr>
              <a:t>4</a:t>
            </a:r>
            <a:r>
              <a:rPr lang="ko-KR" altLang="en-US" sz="1600">
                <a:solidFill>
                  <a:srgbClr val="2D3436"/>
                </a:solidFill>
              </a:rPr>
              <a:t>개의 숫자를 사용해요</a:t>
            </a:r>
            <a:r>
              <a:rPr lang="en-US" altLang="ko-KR" sz="1600">
                <a:solidFill>
                  <a:srgbClr val="2D3436"/>
                </a:solidFill>
              </a:rPr>
              <a:t>.
</a:t>
            </a:r>
            <a:r>
              <a:rPr lang="ko-KR" altLang="en-US" sz="1600">
                <a:solidFill>
                  <a:srgbClr val="2D3436"/>
                </a:solidFill>
              </a:rPr>
              <a:t>이것을 </a:t>
            </a:r>
            <a:r>
              <a:rPr lang="en-US" altLang="ko-KR" sz="1600">
                <a:solidFill>
                  <a:srgbClr val="2D3436"/>
                </a:solidFill>
              </a:rPr>
              <a:t>'</a:t>
            </a:r>
            <a:r>
              <a:rPr lang="ko-KR" altLang="en-US" sz="1600">
                <a:solidFill>
                  <a:srgbClr val="2D3436"/>
                </a:solidFill>
              </a:rPr>
              <a:t>쿼터니언</a:t>
            </a:r>
            <a:r>
              <a:rPr lang="en-US" altLang="ko-KR" sz="1600">
                <a:solidFill>
                  <a:srgbClr val="2D3436"/>
                </a:solidFill>
              </a:rPr>
              <a:t>'</a:t>
            </a:r>
            <a:r>
              <a:rPr lang="ko-KR" altLang="en-US" sz="1600">
                <a:solidFill>
                  <a:srgbClr val="2D3436"/>
                </a:solidFill>
              </a:rPr>
              <a:t>이라고 해요</a:t>
            </a:r>
            <a:r>
              <a:rPr lang="en-US" altLang="ko-KR" sz="1600">
                <a:solidFill>
                  <a:srgbClr val="2D3436"/>
                </a:solidFill>
              </a:rPr>
              <a:t>. </a:t>
            </a:r>
            <a:r>
              <a:rPr lang="ko-KR" altLang="en-US" sz="1600">
                <a:solidFill>
                  <a:srgbClr val="2D3436"/>
                </a:solidFill>
              </a:rPr>
              <a:t>왜 </a:t>
            </a:r>
            <a:r>
              <a:rPr lang="en-US" altLang="ko-KR" sz="1600">
                <a:solidFill>
                  <a:srgbClr val="2D3436"/>
                </a:solidFill>
              </a:rPr>
              <a:t>4</a:t>
            </a:r>
            <a:r>
              <a:rPr lang="ko-KR" altLang="en-US" sz="1600">
                <a:solidFill>
                  <a:srgbClr val="2D3436"/>
                </a:solidFill>
              </a:rPr>
              <a:t>개나 필요할까요</a:t>
            </a:r>
            <a:r>
              <a:rPr lang="en-US" altLang="ko-KR" sz="1600">
                <a:solidFill>
                  <a:srgbClr val="2D3436"/>
                </a:solidFill>
              </a:rPr>
              <a:t>?
3</a:t>
            </a:r>
            <a:r>
              <a:rPr lang="ko-KR" altLang="en-US" sz="1600">
                <a:solidFill>
                  <a:srgbClr val="2D3436"/>
                </a:solidFill>
              </a:rPr>
              <a:t>개만 쓰면 특정 각도에서 계산이 꼬여버리거든요</a:t>
            </a:r>
            <a:r>
              <a:rPr lang="en-US" altLang="ko-KR" sz="1600">
                <a:solidFill>
                  <a:srgbClr val="2D3436"/>
                </a:solidFill>
              </a:rPr>
              <a:t>! (</a:t>
            </a:r>
            <a:r>
              <a:rPr lang="ko-KR" altLang="en-US" sz="1600">
                <a:solidFill>
                  <a:srgbClr val="2D3436"/>
                </a:solidFill>
              </a:rPr>
              <a:t>짐벌 락 문제</a:t>
            </a:r>
            <a:r>
              <a:rPr lang="en-US" altLang="ko-KR" sz="1600">
                <a:solidFill>
                  <a:srgbClr val="2D3436"/>
                </a:solidFill>
              </a:rPr>
              <a:t>)</a:t>
            </a:r>
            <a:endParaRPr lang="ko-Kore-KR" altLang="en-US" sz="16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888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EDEEA-EA6D-709E-DC76-834B3EF5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825500"/>
          </a:xfrm>
        </p:spPr>
        <p:txBody>
          <a:bodyPr>
            <a:normAutofit/>
          </a:bodyPr>
          <a:lstStyle/>
          <a:p>
            <a:r>
              <a:rPr kumimoji="1" lang="ko-KR" altLang="en-US" sz="3200" b="1"/>
              <a:t>뉴턴의 법칙으로 드론 이해하기</a:t>
            </a:r>
            <a:endParaRPr kumimoji="1" lang="ko-Kore-KR" altLang="en-US" sz="3200" b="1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D9852B7-FD60-C443-BE21-A7E687F77302}"/>
              </a:ext>
            </a:extLst>
          </p:cNvPr>
          <p:cNvSpPr/>
          <p:nvPr/>
        </p:nvSpPr>
        <p:spPr>
          <a:xfrm>
            <a:off x="508000" y="1498600"/>
            <a:ext cx="698500" cy="6985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800" b="1">
                <a:solidFill>
                  <a:srgbClr val="FFFFFF"/>
                </a:solidFill>
              </a:rPr>
              <a:t>1</a:t>
            </a:r>
            <a:endParaRPr lang="ko-Kore-KR" altLang="en-US" sz="2800" b="1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D82E6-6B2B-5E43-920B-69B12B72A305}"/>
              </a:ext>
            </a:extLst>
          </p:cNvPr>
          <p:cNvSpPr txBox="1"/>
          <p:nvPr/>
        </p:nvSpPr>
        <p:spPr>
          <a:xfrm>
            <a:off x="1397000" y="13716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4A90D9"/>
                </a:solidFill>
              </a:rPr>
              <a:t>관성의 법칙</a:t>
            </a:r>
            <a:endParaRPr lang="ko-Kore-KR" altLang="en-US" sz="2000" b="1">
              <a:solidFill>
                <a:srgbClr val="4A90D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4C2AE-BDF8-1148-AA7A-22AA7B572AED}"/>
              </a:ext>
            </a:extLst>
          </p:cNvPr>
          <p:cNvSpPr txBox="1"/>
          <p:nvPr/>
        </p:nvSpPr>
        <p:spPr>
          <a:xfrm>
            <a:off x="1397000" y="1752600"/>
            <a:ext cx="4826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드론이 가만히 호버링하면
계속 가만히 있으려 해요</a:t>
            </a:r>
            <a:r>
              <a:rPr lang="en-US" altLang="ko-KR" sz="1500">
                <a:solidFill>
                  <a:srgbClr val="2D3436"/>
                </a:solidFill>
              </a:rPr>
              <a:t>.
</a:t>
            </a:r>
            <a:r>
              <a:rPr lang="ko-KR" altLang="en-US" sz="1500">
                <a:solidFill>
                  <a:srgbClr val="2D3436"/>
                </a:solidFill>
              </a:rPr>
              <a:t>움직이면 계속 움직이려 해요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002E5438-3C1A-D046-AF91-5553E17FB5F0}"/>
              </a:ext>
            </a:extLst>
          </p:cNvPr>
          <p:cNvSpPr/>
          <p:nvPr/>
        </p:nvSpPr>
        <p:spPr>
          <a:xfrm>
            <a:off x="6731000" y="1371600"/>
            <a:ext cx="5080000" cy="1270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8361B-563E-EC4B-8CD2-B07427211A95}"/>
              </a:ext>
            </a:extLst>
          </p:cNvPr>
          <p:cNvSpPr txBox="1"/>
          <p:nvPr/>
        </p:nvSpPr>
        <p:spPr>
          <a:xfrm>
            <a:off x="6921500" y="1562100"/>
            <a:ext cx="46990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500">
                <a:solidFill>
                  <a:srgbClr val="555555"/>
                </a:solidFill>
              </a:rPr>
              <a:t>버스가 갑자기 출발하면
몸이 뒤로 밀리는 것</a:t>
            </a:r>
            <a:r>
              <a:rPr lang="en-US" altLang="ko-KR" sz="1500">
                <a:solidFill>
                  <a:srgbClr val="555555"/>
                </a:solidFill>
              </a:rPr>
              <a:t>!</a:t>
            </a:r>
            <a:endParaRPr lang="ko-Kore-KR" altLang="en-US" sz="1500">
              <a:solidFill>
                <a:srgbClr val="555555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A89130D-0477-C24A-B242-867AA2FFE813}"/>
              </a:ext>
            </a:extLst>
          </p:cNvPr>
          <p:cNvSpPr/>
          <p:nvPr/>
        </p:nvSpPr>
        <p:spPr>
          <a:xfrm>
            <a:off x="508000" y="3276600"/>
            <a:ext cx="698500" cy="6985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800" b="1">
                <a:solidFill>
                  <a:srgbClr val="FFFFFF"/>
                </a:solidFill>
              </a:rPr>
              <a:t>2</a:t>
            </a:r>
            <a:endParaRPr lang="ko-Kore-KR" altLang="en-US" sz="2800" b="1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0EE71B-CABB-9746-A079-ADD33426D293}"/>
              </a:ext>
            </a:extLst>
          </p:cNvPr>
          <p:cNvSpPr txBox="1"/>
          <p:nvPr/>
        </p:nvSpPr>
        <p:spPr>
          <a:xfrm>
            <a:off x="1397000" y="31496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FF6B6B"/>
                </a:solidFill>
              </a:rPr>
              <a:t>가속도의 법칙 </a:t>
            </a:r>
            <a:r>
              <a:rPr lang="en-US" altLang="ko-KR" sz="2000" b="1">
                <a:solidFill>
                  <a:srgbClr val="FF6B6B"/>
                </a:solidFill>
              </a:rPr>
              <a:t>(</a:t>
            </a:r>
            <a:r>
              <a:rPr lang="en" altLang="ko-Kore-KR" sz="2000" b="1">
                <a:solidFill>
                  <a:srgbClr val="FF6B6B"/>
                </a:solidFill>
              </a:rPr>
              <a:t>F = ma)</a:t>
            </a:r>
            <a:endParaRPr lang="ko-Kore-KR" altLang="en-US" sz="2000" b="1">
              <a:solidFill>
                <a:srgbClr val="FF6B6B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EA4DFD-D203-AD45-922F-6BE157977082}"/>
              </a:ext>
            </a:extLst>
          </p:cNvPr>
          <p:cNvSpPr txBox="1"/>
          <p:nvPr/>
        </p:nvSpPr>
        <p:spPr>
          <a:xfrm>
            <a:off x="1397000" y="3530600"/>
            <a:ext cx="4826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힘 </a:t>
            </a:r>
            <a:r>
              <a:rPr lang="en-US" altLang="ko-KR" sz="1500">
                <a:solidFill>
                  <a:srgbClr val="2D3436"/>
                </a:solidFill>
              </a:rPr>
              <a:t>= </a:t>
            </a:r>
            <a:r>
              <a:rPr lang="ko-KR" altLang="en-US" sz="1500">
                <a:solidFill>
                  <a:srgbClr val="2D3436"/>
                </a:solidFill>
              </a:rPr>
              <a:t>질량 </a:t>
            </a:r>
            <a:r>
              <a:rPr lang="en" altLang="ko-Kore-KR" sz="1500">
                <a:solidFill>
                  <a:srgbClr val="2D3436"/>
                </a:solidFill>
              </a:rPr>
              <a:t>x </a:t>
            </a:r>
            <a:r>
              <a:rPr lang="ko-KR" altLang="en-US" sz="1500">
                <a:solidFill>
                  <a:srgbClr val="2D3436"/>
                </a:solidFill>
              </a:rPr>
              <a:t>가속도
프로펠러 힘이 세면 빨리 움직이고
드론이 무거우면 느리게 움직여요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F41DFE5-B0FD-8443-8077-503516FF86DA}"/>
              </a:ext>
            </a:extLst>
          </p:cNvPr>
          <p:cNvSpPr/>
          <p:nvPr/>
        </p:nvSpPr>
        <p:spPr>
          <a:xfrm>
            <a:off x="6731000" y="3149600"/>
            <a:ext cx="5080000" cy="1270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A332A4-E9D0-3D4C-897E-15875E76633B}"/>
              </a:ext>
            </a:extLst>
          </p:cNvPr>
          <p:cNvSpPr txBox="1"/>
          <p:nvPr/>
        </p:nvSpPr>
        <p:spPr>
          <a:xfrm>
            <a:off x="6921500" y="3340100"/>
            <a:ext cx="46990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500">
                <a:solidFill>
                  <a:srgbClr val="555555"/>
                </a:solidFill>
              </a:rPr>
              <a:t>같은 힘으로 밀면 가벼운 공이
무거운 공보다 빨리 가요</a:t>
            </a:r>
            <a:r>
              <a:rPr lang="en-US" altLang="ko-KR" sz="1500">
                <a:solidFill>
                  <a:srgbClr val="555555"/>
                </a:solidFill>
              </a:rPr>
              <a:t>!</a:t>
            </a:r>
            <a:endParaRPr lang="ko-Kore-KR" altLang="en-US" sz="1500">
              <a:solidFill>
                <a:srgbClr val="555555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FE336F7-3273-724E-A693-D98A1603D450}"/>
              </a:ext>
            </a:extLst>
          </p:cNvPr>
          <p:cNvSpPr/>
          <p:nvPr/>
        </p:nvSpPr>
        <p:spPr>
          <a:xfrm>
            <a:off x="508000" y="5054600"/>
            <a:ext cx="698500" cy="6985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800" b="1">
                <a:solidFill>
                  <a:srgbClr val="FFFFFF"/>
                </a:solidFill>
              </a:rPr>
              <a:t>3</a:t>
            </a:r>
            <a:endParaRPr lang="ko-Kore-KR" altLang="en-US" sz="2800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25677F-6EEC-064F-9ACF-92C05E995958}"/>
              </a:ext>
            </a:extLst>
          </p:cNvPr>
          <p:cNvSpPr txBox="1"/>
          <p:nvPr/>
        </p:nvSpPr>
        <p:spPr>
          <a:xfrm>
            <a:off x="1397000" y="49276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51CF66"/>
                </a:solidFill>
              </a:rPr>
              <a:t>작용</a:t>
            </a:r>
            <a:r>
              <a:rPr lang="en-US" altLang="ko-KR" sz="2000" b="1">
                <a:solidFill>
                  <a:srgbClr val="51CF66"/>
                </a:solidFill>
              </a:rPr>
              <a:t>-</a:t>
            </a:r>
            <a:r>
              <a:rPr lang="ko-KR" altLang="en-US" sz="2000" b="1">
                <a:solidFill>
                  <a:srgbClr val="51CF66"/>
                </a:solidFill>
              </a:rPr>
              <a:t>반작용 법칙</a:t>
            </a:r>
            <a:endParaRPr lang="ko-Kore-KR" altLang="en-US" sz="2000" b="1">
              <a:solidFill>
                <a:srgbClr val="51CF6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FB8634-57BF-0F43-9B36-1437161DA84C}"/>
              </a:ext>
            </a:extLst>
          </p:cNvPr>
          <p:cNvSpPr txBox="1"/>
          <p:nvPr/>
        </p:nvSpPr>
        <p:spPr>
          <a:xfrm>
            <a:off x="1397000" y="5308600"/>
            <a:ext cx="4826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프로펠러가 공기를 아래로 밀면
공기가 드론을 위로 밀어줘요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이것이 바로 추력의 원리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632DDB73-ED50-1C4C-8D6B-425F91E8AE8F}"/>
              </a:ext>
            </a:extLst>
          </p:cNvPr>
          <p:cNvSpPr/>
          <p:nvPr/>
        </p:nvSpPr>
        <p:spPr>
          <a:xfrm>
            <a:off x="6731000" y="4927600"/>
            <a:ext cx="5080000" cy="1270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B87F2F-C0B0-4A41-A5ED-1D168D5E60BB}"/>
              </a:ext>
            </a:extLst>
          </p:cNvPr>
          <p:cNvSpPr txBox="1"/>
          <p:nvPr/>
        </p:nvSpPr>
        <p:spPr>
          <a:xfrm>
            <a:off x="6921500" y="5118100"/>
            <a:ext cx="46990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500">
                <a:solidFill>
                  <a:srgbClr val="555555"/>
                </a:solidFill>
              </a:rPr>
              <a:t>로켓이 가스를 아래로 뿜으면
위로 날아가는 것과 같아요</a:t>
            </a:r>
            <a:r>
              <a:rPr lang="en-US" altLang="ko-KR" sz="1500">
                <a:solidFill>
                  <a:srgbClr val="555555"/>
                </a:solidFill>
              </a:rPr>
              <a:t>!</a:t>
            </a:r>
            <a:endParaRPr lang="ko-Kore-KR" altLang="en-US" sz="150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229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0827A-82BB-EDF8-7C49-D9CA8F33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825500"/>
          </a:xfrm>
        </p:spPr>
        <p:txBody>
          <a:bodyPr>
            <a:normAutofit/>
          </a:bodyPr>
          <a:lstStyle/>
          <a:p>
            <a:r>
              <a:rPr kumimoji="1" lang="ko-KR" altLang="en-US" sz="3400" b="1"/>
              <a:t>우리 드론의 스펙 카드</a:t>
            </a:r>
            <a:endParaRPr kumimoji="1" lang="ko-Kore-KR" altLang="en-US" sz="34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F9D19B1-75A8-F547-92CF-AD83160B6348}"/>
              </a:ext>
            </a:extLst>
          </p:cNvPr>
          <p:cNvSpPr/>
          <p:nvPr/>
        </p:nvSpPr>
        <p:spPr>
          <a:xfrm>
            <a:off x="508000" y="1333500"/>
            <a:ext cx="3810000" cy="635000"/>
          </a:xfrm>
          <a:prstGeom prst="roundRect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2200" b="1">
                <a:solidFill>
                  <a:srgbClr val="FFFFFF"/>
                </a:solidFill>
              </a:rPr>
              <a:t>AscTec Hummingbird</a:t>
            </a:r>
            <a:endParaRPr lang="ko-Kore-KR" altLang="en-US" sz="2200" b="1">
              <a:solidFill>
                <a:srgbClr val="FFFFFF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04B42D7-DBB4-0B4C-8500-3A87F3413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075116"/>
              </p:ext>
            </p:extLst>
          </p:nvPr>
        </p:nvGraphicFramePr>
        <p:xfrm>
          <a:off x="508000" y="2159000"/>
          <a:ext cx="7112001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667">
                  <a:extLst>
                    <a:ext uri="{9D8B030D-6E8A-4147-A177-3AD203B41FA5}">
                      <a16:colId xmlns:a16="http://schemas.microsoft.com/office/drawing/2014/main" val="1461714962"/>
                    </a:ext>
                  </a:extLst>
                </a:gridCol>
                <a:gridCol w="2370667">
                  <a:extLst>
                    <a:ext uri="{9D8B030D-6E8A-4147-A177-3AD203B41FA5}">
                      <a16:colId xmlns:a16="http://schemas.microsoft.com/office/drawing/2014/main" val="649692276"/>
                    </a:ext>
                  </a:extLst>
                </a:gridCol>
                <a:gridCol w="2370667">
                  <a:extLst>
                    <a:ext uri="{9D8B030D-6E8A-4147-A177-3AD203B41FA5}">
                      <a16:colId xmlns:a16="http://schemas.microsoft.com/office/drawing/2014/main" val="91412681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b="1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b="1">
                          <a:solidFill>
                            <a:srgbClr val="FFFFFF"/>
                          </a:solidFill>
                        </a:rPr>
                        <a:t>쉬운 설명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22248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무게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500g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우유팩 하나 정도!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0683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팔 길이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17cm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자 하나 정도 길이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72598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프로펠러 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4개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앞뒤좌우 하나씩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59263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호버링 속도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470 rad/s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1초에 75바퀴!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4749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모터 반응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15ms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눈 깜빡임의 1/20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35688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중력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9.81 m/s²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500">
                          <a:solidFill>
                            <a:srgbClr val="2D3436"/>
                          </a:solidFill>
                        </a:rPr>
                        <a:t>지구가 당기는 힘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278280"/>
                  </a:ext>
                </a:extLst>
              </a:tr>
            </a:tbl>
          </a:graphicData>
        </a:graphic>
      </p:graphicFrame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A4B06F38-13F4-7649-BB53-8AAA10E3B584}"/>
              </a:ext>
            </a:extLst>
          </p:cNvPr>
          <p:cNvSpPr/>
          <p:nvPr/>
        </p:nvSpPr>
        <p:spPr>
          <a:xfrm>
            <a:off x="8001000" y="2159000"/>
            <a:ext cx="3810000" cy="3556000"/>
          </a:xfrm>
          <a:prstGeom prst="roundRect">
            <a:avLst/>
          </a:prstGeom>
          <a:solidFill>
            <a:srgbClr val="FFF8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A6D85-7B7E-B34C-98A3-F3B4DE0BDA03}"/>
              </a:ext>
            </a:extLst>
          </p:cNvPr>
          <p:cNvSpPr txBox="1"/>
          <p:nvPr/>
        </p:nvSpPr>
        <p:spPr>
          <a:xfrm>
            <a:off x="8191500" y="22860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200" b="1">
                <a:solidFill>
                  <a:srgbClr val="FF922B"/>
                </a:solidFill>
              </a:rPr>
              <a:t>재미있는 사실</a:t>
            </a:r>
            <a:r>
              <a:rPr lang="en-US" altLang="ko-KR" sz="2200" b="1">
                <a:solidFill>
                  <a:srgbClr val="FF922B"/>
                </a:solidFill>
              </a:rPr>
              <a:t>!</a:t>
            </a:r>
            <a:endParaRPr lang="ko-Kore-KR" altLang="en-US" sz="2200" b="1">
              <a:solidFill>
                <a:srgbClr val="FF922B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5AC24-91FB-1542-98D0-8A5892A6AD25}"/>
              </a:ext>
            </a:extLst>
          </p:cNvPr>
          <p:cNvSpPr txBox="1"/>
          <p:nvPr/>
        </p:nvSpPr>
        <p:spPr>
          <a:xfrm>
            <a:off x="8191500" y="2730500"/>
            <a:ext cx="3429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</a:rPr>
              <a:t>벌새</a:t>
            </a:r>
            <a:r>
              <a:rPr lang="en-US" altLang="ko-KR" sz="1600">
                <a:solidFill>
                  <a:srgbClr val="2D3436"/>
                </a:solidFill>
              </a:rPr>
              <a:t>(</a:t>
            </a:r>
            <a:r>
              <a:rPr lang="en" altLang="ko-Kore-KR" sz="1600">
                <a:solidFill>
                  <a:srgbClr val="2D3436"/>
                </a:solidFill>
              </a:rPr>
              <a:t>Hummingbird)</a:t>
            </a:r>
            <a:r>
              <a:rPr lang="ko-KR" altLang="en-US" sz="1600">
                <a:solidFill>
                  <a:srgbClr val="2D3436"/>
                </a:solidFill>
              </a:rPr>
              <a:t>의
이름을 딴 드론이에요</a:t>
            </a:r>
            <a:r>
              <a:rPr lang="en-US" altLang="ko-KR" sz="1600">
                <a:solidFill>
                  <a:srgbClr val="2D3436"/>
                </a:solidFill>
              </a:rPr>
              <a:t>!
</a:t>
            </a:r>
            <a:r>
              <a:rPr lang="ko-KR" altLang="en-US" sz="1600">
                <a:solidFill>
                  <a:srgbClr val="2D3436"/>
                </a:solidFill>
              </a:rPr>
              <a:t>벌새처럼 공중에서
가만히 멈춰서 떠 있을
수 있거든요</a:t>
            </a:r>
            <a:r>
              <a:rPr lang="en-US" altLang="ko-KR" sz="1600">
                <a:solidFill>
                  <a:srgbClr val="2D3436"/>
                </a:solidFill>
              </a:rPr>
              <a:t>.
</a:t>
            </a:r>
            <a:r>
              <a:rPr lang="ko-KR" altLang="en-US" sz="1600">
                <a:solidFill>
                  <a:srgbClr val="2D3436"/>
                </a:solidFill>
              </a:rPr>
              <a:t>실제 벌새 날개는
</a:t>
            </a:r>
            <a:r>
              <a:rPr lang="en-US" altLang="ko-KR" sz="1600">
                <a:solidFill>
                  <a:srgbClr val="2D3436"/>
                </a:solidFill>
              </a:rPr>
              <a:t>1</a:t>
            </a:r>
            <a:r>
              <a:rPr lang="ko-KR" altLang="en-US" sz="1600">
                <a:solidFill>
                  <a:srgbClr val="2D3436"/>
                </a:solidFill>
              </a:rPr>
              <a:t>초에 </a:t>
            </a:r>
            <a:r>
              <a:rPr lang="en-US" altLang="ko-KR" sz="1600">
                <a:solidFill>
                  <a:srgbClr val="2D3436"/>
                </a:solidFill>
              </a:rPr>
              <a:t>80</a:t>
            </a:r>
            <a:r>
              <a:rPr lang="ko-KR" altLang="en-US" sz="1600">
                <a:solidFill>
                  <a:srgbClr val="2D3436"/>
                </a:solidFill>
              </a:rPr>
              <a:t>번 퍼덕여요</a:t>
            </a:r>
            <a:r>
              <a:rPr lang="en-US" altLang="ko-KR" sz="1600">
                <a:solidFill>
                  <a:srgbClr val="2D3436"/>
                </a:solidFill>
              </a:rPr>
              <a:t>!</a:t>
            </a:r>
            <a:endParaRPr lang="ko-Kore-KR" altLang="en-US" sz="16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960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EF265-EE3B-C4F9-FE7D-B05C5D71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825500"/>
          </a:xfrm>
        </p:spPr>
        <p:txBody>
          <a:bodyPr>
            <a:normAutofit/>
          </a:bodyPr>
          <a:lstStyle/>
          <a:p>
            <a:r>
              <a:rPr kumimoji="1" lang="ko-KR" altLang="en-US" sz="3200" b="1"/>
              <a:t>컴퓨터는 어떻게 드론을 따라할까</a:t>
            </a:r>
            <a:r>
              <a:rPr kumimoji="1" lang="en-US" altLang="ko-KR" sz="3200" b="1"/>
              <a:t>?</a:t>
            </a:r>
            <a:endParaRPr kumimoji="1" lang="ko-Kore-KR" altLang="en-US" sz="32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3AADC8C6-182C-D445-87B7-FD60AC4EDDE7}"/>
              </a:ext>
            </a:extLst>
          </p:cNvPr>
          <p:cNvSpPr/>
          <p:nvPr/>
        </p:nvSpPr>
        <p:spPr>
          <a:xfrm>
            <a:off x="508000" y="1333500"/>
            <a:ext cx="11176000" cy="889000"/>
          </a:xfrm>
          <a:prstGeom prst="roundRect">
            <a:avLst/>
          </a:prstGeom>
          <a:solidFill>
            <a:srgbClr val="E8F5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ED55DC-CE52-1C46-A7A1-C802119E5CF3}"/>
              </a:ext>
            </a:extLst>
          </p:cNvPr>
          <p:cNvSpPr txBox="1"/>
          <p:nvPr/>
        </p:nvSpPr>
        <p:spPr>
          <a:xfrm>
            <a:off x="698500" y="1460500"/>
            <a:ext cx="1079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2D3436"/>
                </a:solidFill>
              </a:rPr>
              <a:t>시뮬레이션 </a:t>
            </a:r>
            <a:r>
              <a:rPr lang="en-US" altLang="ko-KR" sz="2000" b="1">
                <a:solidFill>
                  <a:srgbClr val="2D3436"/>
                </a:solidFill>
              </a:rPr>
              <a:t>= </a:t>
            </a:r>
            <a:r>
              <a:rPr lang="ko-KR" altLang="en-US" sz="2000" b="1">
                <a:solidFill>
                  <a:srgbClr val="2D3436"/>
                </a:solidFill>
              </a:rPr>
              <a:t>진짜 드론 없이도 컴퓨터로 드론의 움직임을 계산하는 것</a:t>
            </a:r>
            <a:r>
              <a:rPr lang="en-US" altLang="ko-KR" sz="2000" b="1">
                <a:solidFill>
                  <a:srgbClr val="2D3436"/>
                </a:solidFill>
              </a:rPr>
              <a:t>!</a:t>
            </a:r>
            <a:endParaRPr lang="ko-Kore-KR" altLang="en-US" sz="2000" b="1">
              <a:solidFill>
                <a:srgbClr val="2D3436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1FCDDEB-3065-5445-AB42-E60A3E1879CB}"/>
              </a:ext>
            </a:extLst>
          </p:cNvPr>
          <p:cNvSpPr/>
          <p:nvPr/>
        </p:nvSpPr>
        <p:spPr>
          <a:xfrm>
            <a:off x="508000" y="2540000"/>
            <a:ext cx="2540000" cy="1016000"/>
          </a:xfrm>
          <a:prstGeom prst="roundRect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</a:rPr>
              <a:t>지금
위치 확인</a:t>
            </a:r>
            <a:endParaRPr lang="ko-Kore-KR" altLang="en-US" sz="16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42AE4-3585-794B-95E2-41D35F27F474}"/>
              </a:ext>
            </a:extLst>
          </p:cNvPr>
          <p:cNvSpPr txBox="1"/>
          <p:nvPr/>
        </p:nvSpPr>
        <p:spPr>
          <a:xfrm>
            <a:off x="508000" y="3683000"/>
            <a:ext cx="254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555555"/>
                </a:solidFill>
              </a:rPr>
              <a:t>드론이 지금
어디에 있지</a:t>
            </a:r>
            <a:r>
              <a:rPr lang="en-US" altLang="ko-KR" sz="1400">
                <a:solidFill>
                  <a:srgbClr val="555555"/>
                </a:solidFill>
              </a:rPr>
              <a:t>?</a:t>
            </a:r>
            <a:endParaRPr lang="ko-Kore-KR" altLang="en-US" sz="1400">
              <a:solidFill>
                <a:srgbClr val="555555"/>
              </a:solidFill>
            </a:endParaRPr>
          </a:p>
        </p:txBody>
      </p:sp>
      <p:sp>
        <p:nvSpPr>
          <p:cNvPr id="7" name="오른쪽 화살표[R] 6">
            <a:extLst>
              <a:ext uri="{FF2B5EF4-FFF2-40B4-BE49-F238E27FC236}">
                <a16:creationId xmlns:a16="http://schemas.microsoft.com/office/drawing/2014/main" id="{7C2C7416-1714-4142-A8AD-377C07DC61EE}"/>
              </a:ext>
            </a:extLst>
          </p:cNvPr>
          <p:cNvSpPr/>
          <p:nvPr/>
        </p:nvSpPr>
        <p:spPr>
          <a:xfrm>
            <a:off x="3048000" y="2857500"/>
            <a:ext cx="355600" cy="3556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549579C-7F8F-984B-BD48-66E161785CDD}"/>
              </a:ext>
            </a:extLst>
          </p:cNvPr>
          <p:cNvSpPr/>
          <p:nvPr/>
        </p:nvSpPr>
        <p:spPr>
          <a:xfrm>
            <a:off x="3429000" y="2540000"/>
            <a:ext cx="2540000" cy="1016000"/>
          </a:xfrm>
          <a:prstGeom prst="roundRect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</a:rPr>
              <a:t>조금 뒤
예측 </a:t>
            </a:r>
            <a:r>
              <a:rPr lang="en-US" altLang="ko-KR" sz="1600" b="1">
                <a:solidFill>
                  <a:srgbClr val="FFFFFF"/>
                </a:solidFill>
              </a:rPr>
              <a:t>1</a:t>
            </a:r>
            <a:endParaRPr lang="ko-Kore-KR" altLang="en-US" sz="1600" b="1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BE8A63-D6F9-674C-BDAE-AB1F8F7676B7}"/>
              </a:ext>
            </a:extLst>
          </p:cNvPr>
          <p:cNvSpPr txBox="1"/>
          <p:nvPr/>
        </p:nvSpPr>
        <p:spPr>
          <a:xfrm>
            <a:off x="3429000" y="3683000"/>
            <a:ext cx="254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555555"/>
                </a:solidFill>
              </a:rPr>
              <a:t>0.002</a:t>
            </a:r>
            <a:r>
              <a:rPr lang="ko-KR" altLang="en-US" sz="1400">
                <a:solidFill>
                  <a:srgbClr val="555555"/>
                </a:solidFill>
              </a:rPr>
              <a:t>초 후엔
여기쯤</a:t>
            </a:r>
            <a:r>
              <a:rPr lang="en-US" altLang="ko-KR" sz="1400">
                <a:solidFill>
                  <a:srgbClr val="555555"/>
                </a:solidFill>
              </a:rPr>
              <a:t>?</a:t>
            </a:r>
            <a:endParaRPr lang="ko-Kore-KR" altLang="en-US" sz="1400">
              <a:solidFill>
                <a:srgbClr val="555555"/>
              </a:solidFill>
            </a:endParaRPr>
          </a:p>
        </p:txBody>
      </p:sp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EE0B57DC-3F67-A04D-AFB3-A14C2EA57D44}"/>
              </a:ext>
            </a:extLst>
          </p:cNvPr>
          <p:cNvSpPr/>
          <p:nvPr/>
        </p:nvSpPr>
        <p:spPr>
          <a:xfrm>
            <a:off x="5969000" y="2857500"/>
            <a:ext cx="355600" cy="3556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6A683EA1-7D5E-4043-BDD0-813CC3AAC787}"/>
              </a:ext>
            </a:extLst>
          </p:cNvPr>
          <p:cNvSpPr/>
          <p:nvPr/>
        </p:nvSpPr>
        <p:spPr>
          <a:xfrm>
            <a:off x="6350000" y="2540000"/>
            <a:ext cx="2540000" cy="1016000"/>
          </a:xfrm>
          <a:prstGeom prst="roundRect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</a:rPr>
              <a:t>중간쯤
예측 </a:t>
            </a:r>
            <a:r>
              <a:rPr lang="en-US" altLang="ko-KR" sz="1600" b="1">
                <a:solidFill>
                  <a:srgbClr val="FFFFFF"/>
                </a:solidFill>
              </a:rPr>
              <a:t>2</a:t>
            </a:r>
            <a:endParaRPr lang="ko-Kore-KR" altLang="en-US" sz="1600" b="1">
              <a:solidFill>
                <a:srgbClr val="FFFF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3E4899-4445-3841-ADCB-3DA9ED908952}"/>
              </a:ext>
            </a:extLst>
          </p:cNvPr>
          <p:cNvSpPr txBox="1"/>
          <p:nvPr/>
        </p:nvSpPr>
        <p:spPr>
          <a:xfrm>
            <a:off x="6350000" y="3683000"/>
            <a:ext cx="254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555555"/>
                </a:solidFill>
              </a:rPr>
              <a:t>예측을
수정해볼까</a:t>
            </a:r>
            <a:r>
              <a:rPr lang="en-US" altLang="ko-KR" sz="1400">
                <a:solidFill>
                  <a:srgbClr val="555555"/>
                </a:solidFill>
              </a:rPr>
              <a:t>?</a:t>
            </a:r>
            <a:endParaRPr lang="ko-Kore-KR" altLang="en-US" sz="1400">
              <a:solidFill>
                <a:srgbClr val="555555"/>
              </a:solidFill>
            </a:endParaRPr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E4250851-F375-694A-9F53-465138626D3B}"/>
              </a:ext>
            </a:extLst>
          </p:cNvPr>
          <p:cNvSpPr/>
          <p:nvPr/>
        </p:nvSpPr>
        <p:spPr>
          <a:xfrm>
            <a:off x="8890000" y="2857500"/>
            <a:ext cx="355600" cy="355600"/>
          </a:xfrm>
          <a:prstGeom prst="right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88E88A12-9272-0845-B2E7-65193EE7C7E3}"/>
              </a:ext>
            </a:extLst>
          </p:cNvPr>
          <p:cNvSpPr/>
          <p:nvPr/>
        </p:nvSpPr>
        <p:spPr>
          <a:xfrm>
            <a:off x="9271000" y="2540000"/>
            <a:ext cx="2540000" cy="1016000"/>
          </a:xfrm>
          <a:prstGeom prst="round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</a:rPr>
              <a:t>도착</a:t>
            </a:r>
            <a:r>
              <a:rPr lang="en-US" altLang="ko-KR" sz="1600" b="1">
                <a:solidFill>
                  <a:srgbClr val="FFFFFF"/>
                </a:solidFill>
              </a:rPr>
              <a:t>!
</a:t>
            </a:r>
            <a:r>
              <a:rPr lang="ko-KR" altLang="en-US" sz="1600" b="1">
                <a:solidFill>
                  <a:srgbClr val="FFFFFF"/>
                </a:solidFill>
              </a:rPr>
              <a:t>최종 예측</a:t>
            </a:r>
            <a:endParaRPr lang="ko-Kore-KR" altLang="en-US" sz="1600" b="1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8F0B42-4EF6-0845-B626-CE058503A61D}"/>
              </a:ext>
            </a:extLst>
          </p:cNvPr>
          <p:cNvSpPr txBox="1"/>
          <p:nvPr/>
        </p:nvSpPr>
        <p:spPr>
          <a:xfrm>
            <a:off x="9271000" y="3683000"/>
            <a:ext cx="254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555555"/>
                </a:solidFill>
              </a:rPr>
              <a:t>4</a:t>
            </a:r>
            <a:r>
              <a:rPr lang="ko-KR" altLang="en-US" sz="1400">
                <a:solidFill>
                  <a:srgbClr val="555555"/>
                </a:solidFill>
              </a:rPr>
              <a:t>번 확인해서
정확하게</a:t>
            </a:r>
            <a:r>
              <a:rPr lang="en-US" altLang="ko-KR" sz="1400">
                <a:solidFill>
                  <a:srgbClr val="555555"/>
                </a:solidFill>
              </a:rPr>
              <a:t>!</a:t>
            </a:r>
            <a:endParaRPr lang="ko-Kore-KR" altLang="en-US" sz="1400">
              <a:solidFill>
                <a:srgbClr val="555555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80E289A0-7B76-8B47-876D-D62FE7C9F43E}"/>
              </a:ext>
            </a:extLst>
          </p:cNvPr>
          <p:cNvSpPr/>
          <p:nvPr/>
        </p:nvSpPr>
        <p:spPr>
          <a:xfrm>
            <a:off x="508000" y="4635500"/>
            <a:ext cx="11176000" cy="1524000"/>
          </a:xfrm>
          <a:prstGeom prst="roundRect">
            <a:avLst/>
          </a:prstGeom>
          <a:solidFill>
            <a:srgbClr val="F5F0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15022E-186D-874A-B4EC-20AA1E7D460B}"/>
              </a:ext>
            </a:extLst>
          </p:cNvPr>
          <p:cNvSpPr txBox="1"/>
          <p:nvPr/>
        </p:nvSpPr>
        <p:spPr>
          <a:xfrm>
            <a:off x="762000" y="4699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845EF7"/>
                </a:solidFill>
              </a:rPr>
              <a:t>이것을 </a:t>
            </a:r>
            <a:r>
              <a:rPr lang="en-US" altLang="ko-KR" sz="2000" b="1">
                <a:solidFill>
                  <a:srgbClr val="845EF7"/>
                </a:solidFill>
              </a:rPr>
              <a:t>'</a:t>
            </a:r>
            <a:r>
              <a:rPr lang="en" altLang="ko-Kore-KR" sz="2000" b="1">
                <a:solidFill>
                  <a:srgbClr val="845EF7"/>
                </a:solidFill>
              </a:rPr>
              <a:t>RK4'</a:t>
            </a:r>
            <a:r>
              <a:rPr lang="ko-KR" altLang="en-US" sz="2000" b="1">
                <a:solidFill>
                  <a:srgbClr val="845EF7"/>
                </a:solidFill>
              </a:rPr>
              <a:t>라고 해요</a:t>
            </a:r>
            <a:r>
              <a:rPr lang="en-US" altLang="ko-KR" sz="2000" b="1">
                <a:solidFill>
                  <a:srgbClr val="845EF7"/>
                </a:solidFill>
              </a:rPr>
              <a:t>! (</a:t>
            </a:r>
            <a:r>
              <a:rPr lang="en" altLang="ko-Kore-KR" sz="2000" b="1">
                <a:solidFill>
                  <a:srgbClr val="845EF7"/>
                </a:solidFill>
              </a:rPr>
              <a:t>Runge-Kutta 4</a:t>
            </a:r>
            <a:r>
              <a:rPr lang="ko-KR" altLang="en-US" sz="2000" b="1">
                <a:solidFill>
                  <a:srgbClr val="845EF7"/>
                </a:solidFill>
              </a:rPr>
              <a:t>단계</a:t>
            </a:r>
            <a:r>
              <a:rPr lang="en-US" altLang="ko-KR" sz="2000" b="1">
                <a:solidFill>
                  <a:srgbClr val="845EF7"/>
                </a:solidFill>
              </a:rPr>
              <a:t>)</a:t>
            </a:r>
            <a:endParaRPr lang="ko-Kore-KR" altLang="en-US" sz="2000" b="1">
              <a:solidFill>
                <a:srgbClr val="845EF7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7912BC-B2D6-E646-ABC2-B71DBAA96439}"/>
              </a:ext>
            </a:extLst>
          </p:cNvPr>
          <p:cNvSpPr txBox="1"/>
          <p:nvPr/>
        </p:nvSpPr>
        <p:spPr>
          <a:xfrm>
            <a:off x="762000" y="5143500"/>
            <a:ext cx="10668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2D3436"/>
                </a:solidFill>
              </a:rPr>
              <a:t>한 번에 멀리 예측하면 틀릴 수 있으니까</a:t>
            </a:r>
            <a:r>
              <a:rPr lang="en-US" altLang="ko-KR" sz="1600">
                <a:solidFill>
                  <a:srgbClr val="2D3436"/>
                </a:solidFill>
              </a:rPr>
              <a:t>, </a:t>
            </a:r>
            <a:r>
              <a:rPr lang="ko-KR" altLang="en-US" sz="1600">
                <a:solidFill>
                  <a:srgbClr val="2D3436"/>
                </a:solidFill>
              </a:rPr>
              <a:t>아주 짧은 시간</a:t>
            </a:r>
            <a:r>
              <a:rPr lang="en-US" altLang="ko-KR" sz="1600">
                <a:solidFill>
                  <a:srgbClr val="2D3436"/>
                </a:solidFill>
              </a:rPr>
              <a:t>(0.004</a:t>
            </a:r>
            <a:r>
              <a:rPr lang="ko-KR" altLang="en-US" sz="1600">
                <a:solidFill>
                  <a:srgbClr val="2D3436"/>
                </a:solidFill>
              </a:rPr>
              <a:t>초</a:t>
            </a:r>
            <a:r>
              <a:rPr lang="en-US" altLang="ko-KR" sz="1600">
                <a:solidFill>
                  <a:srgbClr val="2D3436"/>
                </a:solidFill>
              </a:rPr>
              <a:t>)</a:t>
            </a:r>
            <a:r>
              <a:rPr lang="ko-KR" altLang="en-US" sz="1600">
                <a:solidFill>
                  <a:srgbClr val="2D3436"/>
                </a:solidFill>
              </a:rPr>
              <a:t>마다
</a:t>
            </a:r>
            <a:r>
              <a:rPr lang="en-US" altLang="ko-KR" sz="1600">
                <a:solidFill>
                  <a:srgbClr val="2D3436"/>
                </a:solidFill>
              </a:rPr>
              <a:t>4</a:t>
            </a:r>
            <a:r>
              <a:rPr lang="ko-KR" altLang="en-US" sz="1600">
                <a:solidFill>
                  <a:srgbClr val="2D3436"/>
                </a:solidFill>
              </a:rPr>
              <a:t>번씩 확인하면서 계산해요</a:t>
            </a:r>
            <a:r>
              <a:rPr lang="en-US" altLang="ko-KR" sz="1600">
                <a:solidFill>
                  <a:srgbClr val="2D3436"/>
                </a:solidFill>
              </a:rPr>
              <a:t>. </a:t>
            </a:r>
            <a:r>
              <a:rPr lang="ko-KR" altLang="en-US" sz="1600">
                <a:solidFill>
                  <a:srgbClr val="2D3436"/>
                </a:solidFill>
              </a:rPr>
              <a:t>마치 숲속에서 길을 찾을 때
한 발짝마다 지도를 확인하는 것과 같아요</a:t>
            </a:r>
            <a:r>
              <a:rPr lang="en-US" altLang="ko-KR" sz="1600">
                <a:solidFill>
                  <a:srgbClr val="2D3436"/>
                </a:solidFill>
              </a:rPr>
              <a:t>!</a:t>
            </a:r>
            <a:endParaRPr lang="ko-Kore-KR" altLang="en-US" sz="16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71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96663-1241-7A31-8AB7-991C11529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825500"/>
          </a:xfrm>
        </p:spPr>
        <p:txBody>
          <a:bodyPr>
            <a:normAutofit/>
          </a:bodyPr>
          <a:lstStyle/>
          <a:p>
            <a:r>
              <a:rPr kumimoji="1" lang="ko-KR" altLang="en-US" sz="3400" b="1"/>
              <a:t>드론 시스템 한눈에 보기</a:t>
            </a:r>
            <a:r>
              <a:rPr kumimoji="1" lang="en-US" altLang="ko-KR" sz="3400" b="1"/>
              <a:t>!</a:t>
            </a:r>
            <a:endParaRPr kumimoji="1" lang="ko-Kore-KR" altLang="en-US" sz="34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700BB85D-3801-BE43-A7EF-DC5E481B8272}"/>
              </a:ext>
            </a:extLst>
          </p:cNvPr>
          <p:cNvSpPr/>
          <p:nvPr/>
        </p:nvSpPr>
        <p:spPr>
          <a:xfrm>
            <a:off x="508000" y="1371600"/>
            <a:ext cx="2540000" cy="571500"/>
          </a:xfrm>
          <a:prstGeom prst="roundRect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</a:rPr>
              <a:t>조종기 입력</a:t>
            </a:r>
            <a:endParaRPr lang="ko-Kore-KR" altLang="en-US" sz="1500" b="1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3AE6F-96DA-7244-8DDD-3CC025208AE5}"/>
              </a:ext>
            </a:extLst>
          </p:cNvPr>
          <p:cNvSpPr txBox="1"/>
          <p:nvPr/>
        </p:nvSpPr>
        <p:spPr>
          <a:xfrm>
            <a:off x="3175000" y="1435100"/>
            <a:ext cx="19050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400">
                <a:solidFill>
                  <a:srgbClr val="555555"/>
                </a:solidFill>
              </a:rPr>
              <a:t>조이스틱으로 명령</a:t>
            </a:r>
            <a:r>
              <a:rPr lang="en-US" altLang="ko-KR" sz="1400">
                <a:solidFill>
                  <a:srgbClr val="555555"/>
                </a:solidFill>
              </a:rPr>
              <a:t>!</a:t>
            </a:r>
            <a:endParaRPr lang="ko-Kore-KR" altLang="en-US" sz="1400">
              <a:solidFill>
                <a:srgbClr val="555555"/>
              </a:solidFill>
            </a:endParaRPr>
          </a:p>
        </p:txBody>
      </p:sp>
      <p:sp>
        <p:nvSpPr>
          <p:cNvPr id="5" name="아래쪽 화살표[D] 4">
            <a:extLst>
              <a:ext uri="{FF2B5EF4-FFF2-40B4-BE49-F238E27FC236}">
                <a16:creationId xmlns:a16="http://schemas.microsoft.com/office/drawing/2014/main" id="{F8F6988E-6DB3-CE49-934F-9BD246AB1087}"/>
              </a:ext>
            </a:extLst>
          </p:cNvPr>
          <p:cNvSpPr/>
          <p:nvPr/>
        </p:nvSpPr>
        <p:spPr>
          <a:xfrm>
            <a:off x="1587500" y="1943100"/>
            <a:ext cx="254000" cy="228600"/>
          </a:xfrm>
          <a:prstGeom prst="down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EF4750AC-7B7E-D346-A0B2-8A8095CCC7DE}"/>
              </a:ext>
            </a:extLst>
          </p:cNvPr>
          <p:cNvSpPr/>
          <p:nvPr/>
        </p:nvSpPr>
        <p:spPr>
          <a:xfrm>
            <a:off x="508000" y="2197100"/>
            <a:ext cx="2540000" cy="571500"/>
          </a:xfrm>
          <a:prstGeom prst="roundRect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</a:rPr>
              <a:t>두뇌가 계산</a:t>
            </a:r>
            <a:endParaRPr lang="ko-Kore-KR" altLang="en-US" sz="1500" b="1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053276-C6F0-E240-A03B-66B34445F4AB}"/>
              </a:ext>
            </a:extLst>
          </p:cNvPr>
          <p:cNvSpPr txBox="1"/>
          <p:nvPr/>
        </p:nvSpPr>
        <p:spPr>
          <a:xfrm>
            <a:off x="3175000" y="2260600"/>
            <a:ext cx="19050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400">
                <a:solidFill>
                  <a:srgbClr val="555555"/>
                </a:solidFill>
              </a:rPr>
              <a:t>자세 제어 </a:t>
            </a:r>
            <a:r>
              <a:rPr lang="en-US" altLang="ko-KR" sz="1400">
                <a:solidFill>
                  <a:srgbClr val="555555"/>
                </a:solidFill>
              </a:rPr>
              <a:t>(</a:t>
            </a:r>
            <a:r>
              <a:rPr lang="en" altLang="ko-Kore-KR" sz="1400">
                <a:solidFill>
                  <a:srgbClr val="555555"/>
                </a:solidFill>
              </a:rPr>
              <a:t>SO3)</a:t>
            </a:r>
            <a:endParaRPr lang="ko-Kore-KR" altLang="en-US" sz="1400">
              <a:solidFill>
                <a:srgbClr val="555555"/>
              </a:solidFill>
            </a:endParaRPr>
          </a:p>
        </p:txBody>
      </p:sp>
      <p:sp>
        <p:nvSpPr>
          <p:cNvPr id="8" name="아래쪽 화살표[D] 7">
            <a:extLst>
              <a:ext uri="{FF2B5EF4-FFF2-40B4-BE49-F238E27FC236}">
                <a16:creationId xmlns:a16="http://schemas.microsoft.com/office/drawing/2014/main" id="{43181A92-3B61-2349-9CE0-6E67691AFEA7}"/>
              </a:ext>
            </a:extLst>
          </p:cNvPr>
          <p:cNvSpPr/>
          <p:nvPr/>
        </p:nvSpPr>
        <p:spPr>
          <a:xfrm>
            <a:off x="1587500" y="2768600"/>
            <a:ext cx="254000" cy="228600"/>
          </a:xfrm>
          <a:prstGeom prst="down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8B465BC-0713-D748-A679-A4CE3AD6A41E}"/>
              </a:ext>
            </a:extLst>
          </p:cNvPr>
          <p:cNvSpPr/>
          <p:nvPr/>
        </p:nvSpPr>
        <p:spPr>
          <a:xfrm>
            <a:off x="508000" y="3022600"/>
            <a:ext cx="2540000" cy="571500"/>
          </a:xfrm>
          <a:prstGeom prst="roundRect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</a:rPr>
              <a:t>모터 속도 결정</a:t>
            </a:r>
            <a:endParaRPr lang="ko-Kore-KR" altLang="en-US" sz="1500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2EEF26-F20E-FD49-A199-DE5604EDB308}"/>
              </a:ext>
            </a:extLst>
          </p:cNvPr>
          <p:cNvSpPr txBox="1"/>
          <p:nvPr/>
        </p:nvSpPr>
        <p:spPr>
          <a:xfrm>
            <a:off x="3175000" y="3086100"/>
            <a:ext cx="19050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400">
                <a:solidFill>
                  <a:srgbClr val="555555"/>
                </a:solidFill>
              </a:rPr>
              <a:t>제어 할당</a:t>
            </a:r>
            <a:endParaRPr lang="ko-Kore-KR" altLang="en-US" sz="1400">
              <a:solidFill>
                <a:srgbClr val="555555"/>
              </a:solidFill>
            </a:endParaRPr>
          </a:p>
        </p:txBody>
      </p:sp>
      <p:sp>
        <p:nvSpPr>
          <p:cNvPr id="11" name="아래쪽 화살표[D] 10">
            <a:extLst>
              <a:ext uri="{FF2B5EF4-FFF2-40B4-BE49-F238E27FC236}">
                <a16:creationId xmlns:a16="http://schemas.microsoft.com/office/drawing/2014/main" id="{94342FFD-BC16-8043-A45A-780BE4FAA7C7}"/>
              </a:ext>
            </a:extLst>
          </p:cNvPr>
          <p:cNvSpPr/>
          <p:nvPr/>
        </p:nvSpPr>
        <p:spPr>
          <a:xfrm>
            <a:off x="1587500" y="3594100"/>
            <a:ext cx="254000" cy="228600"/>
          </a:xfrm>
          <a:prstGeom prst="down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EB71179D-1B9D-C149-A1E2-44C2A7EFFFB3}"/>
              </a:ext>
            </a:extLst>
          </p:cNvPr>
          <p:cNvSpPr/>
          <p:nvPr/>
        </p:nvSpPr>
        <p:spPr>
          <a:xfrm>
            <a:off x="508000" y="3848100"/>
            <a:ext cx="2540000" cy="571500"/>
          </a:xfrm>
          <a:prstGeom prst="round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</a:rPr>
              <a:t>프로펠러 회전</a:t>
            </a:r>
            <a:endParaRPr lang="ko-Kore-KR" altLang="en-US" sz="1500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751A23-7B54-AA4F-86ED-B86179F9D2C2}"/>
              </a:ext>
            </a:extLst>
          </p:cNvPr>
          <p:cNvSpPr txBox="1"/>
          <p:nvPr/>
        </p:nvSpPr>
        <p:spPr>
          <a:xfrm>
            <a:off x="3175000" y="3911600"/>
            <a:ext cx="19050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400">
                <a:solidFill>
                  <a:srgbClr val="555555"/>
                </a:solidFill>
              </a:rPr>
              <a:t>추력 발생</a:t>
            </a:r>
            <a:r>
              <a:rPr lang="en-US" altLang="ko-KR" sz="1400">
                <a:solidFill>
                  <a:srgbClr val="555555"/>
                </a:solidFill>
              </a:rPr>
              <a:t>!</a:t>
            </a:r>
            <a:endParaRPr lang="ko-Kore-KR" altLang="en-US" sz="1400">
              <a:solidFill>
                <a:srgbClr val="555555"/>
              </a:solidFill>
            </a:endParaRPr>
          </a:p>
        </p:txBody>
      </p:sp>
      <p:sp>
        <p:nvSpPr>
          <p:cNvPr id="14" name="아래쪽 화살표[D] 13">
            <a:extLst>
              <a:ext uri="{FF2B5EF4-FFF2-40B4-BE49-F238E27FC236}">
                <a16:creationId xmlns:a16="http://schemas.microsoft.com/office/drawing/2014/main" id="{DCDDFE85-E838-A742-9281-BAF07F9D9778}"/>
              </a:ext>
            </a:extLst>
          </p:cNvPr>
          <p:cNvSpPr/>
          <p:nvPr/>
        </p:nvSpPr>
        <p:spPr>
          <a:xfrm>
            <a:off x="1587500" y="4419600"/>
            <a:ext cx="254000" cy="228600"/>
          </a:xfrm>
          <a:prstGeom prst="down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3AA78870-E76E-4949-9B9F-EBFEDD93ACC7}"/>
              </a:ext>
            </a:extLst>
          </p:cNvPr>
          <p:cNvSpPr/>
          <p:nvPr/>
        </p:nvSpPr>
        <p:spPr>
          <a:xfrm>
            <a:off x="508000" y="4673600"/>
            <a:ext cx="2540000" cy="571500"/>
          </a:xfrm>
          <a:prstGeom prst="roundRect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</a:rPr>
              <a:t>힘과 모멘트</a:t>
            </a:r>
            <a:endParaRPr lang="ko-Kore-KR" altLang="en-US" sz="1500" b="1">
              <a:solidFill>
                <a:srgbClr val="FFFF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E209AE-4A5A-9E44-92C4-43B208A53140}"/>
              </a:ext>
            </a:extLst>
          </p:cNvPr>
          <p:cNvSpPr txBox="1"/>
          <p:nvPr/>
        </p:nvSpPr>
        <p:spPr>
          <a:xfrm>
            <a:off x="3175000" y="4737100"/>
            <a:ext cx="19050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400">
                <a:solidFill>
                  <a:srgbClr val="555555"/>
                </a:solidFill>
              </a:rPr>
              <a:t>뉴턴 법칙 적용</a:t>
            </a:r>
            <a:endParaRPr lang="ko-Kore-KR" altLang="en-US" sz="1400">
              <a:solidFill>
                <a:srgbClr val="555555"/>
              </a:solidFill>
            </a:endParaRPr>
          </a:p>
        </p:txBody>
      </p:sp>
      <p:sp>
        <p:nvSpPr>
          <p:cNvPr id="17" name="아래쪽 화살표[D] 16">
            <a:extLst>
              <a:ext uri="{FF2B5EF4-FFF2-40B4-BE49-F238E27FC236}">
                <a16:creationId xmlns:a16="http://schemas.microsoft.com/office/drawing/2014/main" id="{96E0E730-2C3C-314A-902C-047EE2E06108}"/>
              </a:ext>
            </a:extLst>
          </p:cNvPr>
          <p:cNvSpPr/>
          <p:nvPr/>
        </p:nvSpPr>
        <p:spPr>
          <a:xfrm>
            <a:off x="1587500" y="5245100"/>
            <a:ext cx="254000" cy="228600"/>
          </a:xfrm>
          <a:prstGeom prst="downArrow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07005C56-CDB4-A745-826E-326A6729F1FF}"/>
              </a:ext>
            </a:extLst>
          </p:cNvPr>
          <p:cNvSpPr/>
          <p:nvPr/>
        </p:nvSpPr>
        <p:spPr>
          <a:xfrm>
            <a:off x="508000" y="5499100"/>
            <a:ext cx="2540000" cy="571500"/>
          </a:xfrm>
          <a:prstGeom prst="roundRect">
            <a:avLst/>
          </a:prstGeom>
          <a:solidFill>
            <a:srgbClr val="FCC4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</a:rPr>
              <a:t>위치</a:t>
            </a:r>
            <a:r>
              <a:rPr lang="en-US" altLang="ko-KR" sz="1500" b="1">
                <a:solidFill>
                  <a:srgbClr val="FFFFFF"/>
                </a:solidFill>
              </a:rPr>
              <a:t>/</a:t>
            </a:r>
            <a:r>
              <a:rPr lang="ko-KR" altLang="en-US" sz="1500" b="1">
                <a:solidFill>
                  <a:srgbClr val="FFFFFF"/>
                </a:solidFill>
              </a:rPr>
              <a:t>자세 업데이트</a:t>
            </a:r>
            <a:endParaRPr lang="ko-Kore-KR" altLang="en-US" sz="1500" b="1">
              <a:solidFill>
                <a:srgbClr val="FFFF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6ED1BE-612F-954A-AA02-68EDA9D28B78}"/>
              </a:ext>
            </a:extLst>
          </p:cNvPr>
          <p:cNvSpPr txBox="1"/>
          <p:nvPr/>
        </p:nvSpPr>
        <p:spPr>
          <a:xfrm>
            <a:off x="3175000" y="5562600"/>
            <a:ext cx="19050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ore-KR" sz="1400">
                <a:solidFill>
                  <a:srgbClr val="555555"/>
                </a:solidFill>
              </a:rPr>
              <a:t>RK4</a:t>
            </a:r>
            <a:r>
              <a:rPr lang="ko-KR" altLang="en-US" sz="1400">
                <a:solidFill>
                  <a:srgbClr val="555555"/>
                </a:solidFill>
              </a:rPr>
              <a:t>로 계산</a:t>
            </a:r>
            <a:endParaRPr lang="ko-Kore-KR" altLang="en-US" sz="1400">
              <a:solidFill>
                <a:srgbClr val="555555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0C508F71-4E0E-1C44-8F5B-3ED78443DD16}"/>
              </a:ext>
            </a:extLst>
          </p:cNvPr>
          <p:cNvSpPr/>
          <p:nvPr/>
        </p:nvSpPr>
        <p:spPr>
          <a:xfrm>
            <a:off x="5461000" y="1371600"/>
            <a:ext cx="6350000" cy="4445000"/>
          </a:xfrm>
          <a:prstGeom prst="roundRect">
            <a:avLst/>
          </a:prstGeom>
          <a:solidFill>
            <a:srgbClr val="F0F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32C005-DB2D-A942-B0AB-4D1DAFAC21BD}"/>
              </a:ext>
            </a:extLst>
          </p:cNvPr>
          <p:cNvSpPr txBox="1"/>
          <p:nvPr/>
        </p:nvSpPr>
        <p:spPr>
          <a:xfrm>
            <a:off x="5651500" y="1460500"/>
            <a:ext cx="5969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1E3A5F"/>
                </a:solidFill>
              </a:rPr>
              <a:t>오늘 배운 것 정리</a:t>
            </a:r>
            <a:r>
              <a:rPr lang="en-US" altLang="ko-KR" sz="2400" b="1">
                <a:solidFill>
                  <a:srgbClr val="1E3A5F"/>
                </a:solidFill>
              </a:rPr>
              <a:t>!</a:t>
            </a:r>
            <a:endParaRPr lang="ko-Kore-KR" altLang="en-US" sz="2400" b="1">
              <a:solidFill>
                <a:srgbClr val="1E3A5F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C382A31-F78C-364D-81C4-2A4173CA1D5F}"/>
              </a:ext>
            </a:extLst>
          </p:cNvPr>
          <p:cNvSpPr/>
          <p:nvPr/>
        </p:nvSpPr>
        <p:spPr>
          <a:xfrm>
            <a:off x="5715000" y="2032000"/>
            <a:ext cx="457200" cy="4572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600" b="1">
                <a:solidFill>
                  <a:srgbClr val="FFFFFF"/>
                </a:solidFill>
              </a:rPr>
              <a:t>1</a:t>
            </a:r>
            <a:endParaRPr lang="ko-Kore-KR" altLang="en-US" sz="1600" b="1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E19B1B-FFFF-5C42-8D98-316B89EB8493}"/>
              </a:ext>
            </a:extLst>
          </p:cNvPr>
          <p:cNvSpPr txBox="1"/>
          <p:nvPr/>
        </p:nvSpPr>
        <p:spPr>
          <a:xfrm>
            <a:off x="6286500" y="2032000"/>
            <a:ext cx="5334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700">
                <a:solidFill>
                  <a:srgbClr val="2D3436"/>
                </a:solidFill>
              </a:rPr>
              <a:t>드론에는 프로펠러가 </a:t>
            </a:r>
            <a:r>
              <a:rPr lang="en-US" altLang="ko-KR" sz="1700">
                <a:solidFill>
                  <a:srgbClr val="2D3436"/>
                </a:solidFill>
              </a:rPr>
              <a:t>4</a:t>
            </a:r>
            <a:r>
              <a:rPr lang="ko-KR" altLang="en-US" sz="1700">
                <a:solidFill>
                  <a:srgbClr val="2D3436"/>
                </a:solidFill>
              </a:rPr>
              <a:t>개 있어요</a:t>
            </a:r>
            <a:endParaRPr lang="ko-Kore-KR" altLang="en-US" sz="1700">
              <a:solidFill>
                <a:srgbClr val="2D3436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9D1580D-C41E-F646-BAA9-5E6E5B050D76}"/>
              </a:ext>
            </a:extLst>
          </p:cNvPr>
          <p:cNvSpPr/>
          <p:nvPr/>
        </p:nvSpPr>
        <p:spPr>
          <a:xfrm>
            <a:off x="5715000" y="2616200"/>
            <a:ext cx="457200" cy="4572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600" b="1">
                <a:solidFill>
                  <a:srgbClr val="FFFFFF"/>
                </a:solidFill>
              </a:rPr>
              <a:t>2</a:t>
            </a:r>
            <a:endParaRPr lang="ko-Kore-KR" altLang="en-US" sz="1600" b="1">
              <a:solidFill>
                <a:srgbClr val="FFFF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5A7D09-8486-9D4A-B7B2-6D890553F54C}"/>
              </a:ext>
            </a:extLst>
          </p:cNvPr>
          <p:cNvSpPr txBox="1"/>
          <p:nvPr/>
        </p:nvSpPr>
        <p:spPr>
          <a:xfrm>
            <a:off x="6286500" y="2616200"/>
            <a:ext cx="5334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700">
                <a:solidFill>
                  <a:srgbClr val="2D3436"/>
                </a:solidFill>
              </a:rPr>
              <a:t>프로펠러가 돌면서 추력을 만들어요</a:t>
            </a:r>
            <a:endParaRPr lang="ko-Kore-KR" altLang="en-US" sz="1700">
              <a:solidFill>
                <a:srgbClr val="2D3436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3148DACC-216D-F74B-8E66-204EBE901B31}"/>
              </a:ext>
            </a:extLst>
          </p:cNvPr>
          <p:cNvSpPr/>
          <p:nvPr/>
        </p:nvSpPr>
        <p:spPr>
          <a:xfrm>
            <a:off x="5715000" y="3200400"/>
            <a:ext cx="457200" cy="4572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600" b="1">
                <a:solidFill>
                  <a:srgbClr val="FFFFFF"/>
                </a:solidFill>
              </a:rPr>
              <a:t>3</a:t>
            </a:r>
            <a:endParaRPr lang="ko-Kore-KR" altLang="en-US" sz="1600" b="1">
              <a:solidFill>
                <a:srgbClr val="FFFF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A80F0E-1067-F240-A673-9DAE6BB04AEC}"/>
              </a:ext>
            </a:extLst>
          </p:cNvPr>
          <p:cNvSpPr txBox="1"/>
          <p:nvPr/>
        </p:nvSpPr>
        <p:spPr>
          <a:xfrm>
            <a:off x="6286500" y="3200400"/>
            <a:ext cx="5334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700">
                <a:solidFill>
                  <a:srgbClr val="2D3436"/>
                </a:solidFill>
              </a:rPr>
              <a:t>추력이 중력보다 크면 올라가요</a:t>
            </a:r>
            <a:endParaRPr lang="ko-Kore-KR" altLang="en-US" sz="1700">
              <a:solidFill>
                <a:srgbClr val="2D3436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44D50F1-40D2-6144-A63F-E706A9AD77B9}"/>
              </a:ext>
            </a:extLst>
          </p:cNvPr>
          <p:cNvSpPr/>
          <p:nvPr/>
        </p:nvSpPr>
        <p:spPr>
          <a:xfrm>
            <a:off x="5715000" y="3784600"/>
            <a:ext cx="457200" cy="4572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600" b="1">
                <a:solidFill>
                  <a:srgbClr val="FFFFFF"/>
                </a:solidFill>
              </a:rPr>
              <a:t>4</a:t>
            </a:r>
            <a:endParaRPr lang="ko-Kore-KR" altLang="en-US" sz="1600" b="1">
              <a:solidFill>
                <a:srgbClr val="FFFFFF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56F4F5-20C8-0D4D-AAEA-FB0B8639B5B7}"/>
              </a:ext>
            </a:extLst>
          </p:cNvPr>
          <p:cNvSpPr txBox="1"/>
          <p:nvPr/>
        </p:nvSpPr>
        <p:spPr>
          <a:xfrm>
            <a:off x="6286500" y="3784600"/>
            <a:ext cx="5334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700">
                <a:solidFill>
                  <a:srgbClr val="2D3436"/>
                </a:solidFill>
              </a:rPr>
              <a:t>프로펠러 속도 차이로 방향을 바꿔요</a:t>
            </a:r>
            <a:endParaRPr lang="ko-Kore-KR" altLang="en-US" sz="1700">
              <a:solidFill>
                <a:srgbClr val="2D3436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EA7E9124-E373-2B47-9FDF-FF119D0D2CD1}"/>
              </a:ext>
            </a:extLst>
          </p:cNvPr>
          <p:cNvSpPr/>
          <p:nvPr/>
        </p:nvSpPr>
        <p:spPr>
          <a:xfrm>
            <a:off x="5715000" y="4368800"/>
            <a:ext cx="457200" cy="4572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600" b="1">
                <a:solidFill>
                  <a:srgbClr val="FFFFFF"/>
                </a:solidFill>
              </a:rPr>
              <a:t>5</a:t>
            </a:r>
            <a:endParaRPr lang="ko-Kore-KR" altLang="en-US" sz="1600" b="1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186DA0-3C04-D448-9A25-AF91BA9E8242}"/>
              </a:ext>
            </a:extLst>
          </p:cNvPr>
          <p:cNvSpPr txBox="1"/>
          <p:nvPr/>
        </p:nvSpPr>
        <p:spPr>
          <a:xfrm>
            <a:off x="6286500" y="4368800"/>
            <a:ext cx="5334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700">
                <a:solidFill>
                  <a:srgbClr val="2D3436"/>
                </a:solidFill>
              </a:rPr>
              <a:t>컴퓨터가 </a:t>
            </a:r>
            <a:r>
              <a:rPr lang="en-US" altLang="ko-KR" sz="1700">
                <a:solidFill>
                  <a:srgbClr val="2D3436"/>
                </a:solidFill>
              </a:rPr>
              <a:t>1</a:t>
            </a:r>
            <a:r>
              <a:rPr lang="ko-KR" altLang="en-US" sz="1700">
                <a:solidFill>
                  <a:srgbClr val="2D3436"/>
                </a:solidFill>
              </a:rPr>
              <a:t>초에 </a:t>
            </a:r>
            <a:r>
              <a:rPr lang="en-US" altLang="ko-KR" sz="1700">
                <a:solidFill>
                  <a:srgbClr val="2D3436"/>
                </a:solidFill>
              </a:rPr>
              <a:t>250</a:t>
            </a:r>
            <a:r>
              <a:rPr lang="ko-KR" altLang="en-US" sz="1700">
                <a:solidFill>
                  <a:srgbClr val="2D3436"/>
                </a:solidFill>
              </a:rPr>
              <a:t>번 계산해요</a:t>
            </a:r>
            <a:endParaRPr lang="ko-Kore-KR" altLang="en-US" sz="1700">
              <a:solidFill>
                <a:srgbClr val="2D3436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FF94F35-740C-C74D-B329-8CCED43C4DA1}"/>
              </a:ext>
            </a:extLst>
          </p:cNvPr>
          <p:cNvSpPr/>
          <p:nvPr/>
        </p:nvSpPr>
        <p:spPr>
          <a:xfrm>
            <a:off x="5715000" y="4953000"/>
            <a:ext cx="457200" cy="457200"/>
          </a:xfrm>
          <a:prstGeom prst="ellipse">
            <a:avLst/>
          </a:prstGeom>
          <a:solidFill>
            <a:srgbClr val="FCC4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600" b="1">
                <a:solidFill>
                  <a:srgbClr val="FFFFFF"/>
                </a:solidFill>
              </a:rPr>
              <a:t>6</a:t>
            </a:r>
            <a:endParaRPr lang="ko-Kore-KR" altLang="en-US" sz="1600" b="1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198FC1-9DC3-E548-82A4-2B5E017B2FF5}"/>
              </a:ext>
            </a:extLst>
          </p:cNvPr>
          <p:cNvSpPr txBox="1"/>
          <p:nvPr/>
        </p:nvSpPr>
        <p:spPr>
          <a:xfrm>
            <a:off x="6286500" y="4953000"/>
            <a:ext cx="5334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700">
                <a:solidFill>
                  <a:srgbClr val="2D3436"/>
                </a:solidFill>
              </a:rPr>
              <a:t>뉴턴의 법칙이 모든 비밀이에요</a:t>
            </a:r>
            <a:r>
              <a:rPr lang="en-US" altLang="ko-KR" sz="1700">
                <a:solidFill>
                  <a:srgbClr val="2D3436"/>
                </a:solidFill>
              </a:rPr>
              <a:t>!</a:t>
            </a:r>
            <a:endParaRPr lang="ko-Kore-KR" altLang="en-US" sz="17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733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7317AC-C2E2-5BC5-11A4-F5DB92D44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825500"/>
          </a:xfrm>
        </p:spPr>
        <p:txBody>
          <a:bodyPr>
            <a:normAutofit/>
          </a:bodyPr>
          <a:lstStyle/>
          <a:p>
            <a:r>
              <a:rPr kumimoji="1" lang="en-US" altLang="ko-KR" sz="3200" b="1"/>
              <a:t>6</a:t>
            </a:r>
            <a:r>
              <a:rPr kumimoji="1" lang="ko-KR" altLang="en-US" sz="3200" b="1"/>
              <a:t>개월 </a:t>
            </a:r>
            <a:r>
              <a:rPr kumimoji="1" lang="en-US" altLang="ko-KR" sz="3200" b="1"/>
              <a:t>(24</a:t>
            </a:r>
            <a:r>
              <a:rPr kumimoji="1" lang="ko-KR" altLang="en-US" sz="3200" b="1"/>
              <a:t>주</a:t>
            </a:r>
            <a:r>
              <a:rPr kumimoji="1" lang="en-US" altLang="ko-KR" sz="3200" b="1"/>
              <a:t>) </a:t>
            </a:r>
            <a:r>
              <a:rPr kumimoji="1" lang="ko-KR" altLang="en-US" sz="3200" b="1"/>
              <a:t>드론 교육 커리큘럼</a:t>
            </a:r>
            <a:endParaRPr kumimoji="1" lang="ko-Kore-KR" altLang="en-US" sz="32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F5EB5639-66A5-4B43-8200-8A633FF06559}"/>
              </a:ext>
            </a:extLst>
          </p:cNvPr>
          <p:cNvSpPr/>
          <p:nvPr/>
        </p:nvSpPr>
        <p:spPr>
          <a:xfrm>
            <a:off x="508000" y="1270000"/>
            <a:ext cx="3556000" cy="23495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D9DA04-5833-3441-83F5-B6E41DAB447D}"/>
              </a:ext>
            </a:extLst>
          </p:cNvPr>
          <p:cNvSpPr/>
          <p:nvPr/>
        </p:nvSpPr>
        <p:spPr>
          <a:xfrm>
            <a:off x="508000" y="1270000"/>
            <a:ext cx="3556000" cy="101600"/>
          </a:xfrm>
          <a:prstGeom prst="rect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D5E1D96-9E7C-B94C-9D10-4127F5FBDD8B}"/>
              </a:ext>
            </a:extLst>
          </p:cNvPr>
          <p:cNvSpPr/>
          <p:nvPr/>
        </p:nvSpPr>
        <p:spPr>
          <a:xfrm>
            <a:off x="698500" y="1524000"/>
            <a:ext cx="571500" cy="5715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200" b="1">
                <a:solidFill>
                  <a:srgbClr val="FFFFFF"/>
                </a:solidFill>
              </a:rPr>
              <a:t>1</a:t>
            </a:r>
            <a:endParaRPr lang="ko-Kore-KR" altLang="en-US" sz="22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85D4B-80A4-3C47-B841-00ADE1370DBE}"/>
              </a:ext>
            </a:extLst>
          </p:cNvPr>
          <p:cNvSpPr txBox="1"/>
          <p:nvPr/>
        </p:nvSpPr>
        <p:spPr>
          <a:xfrm>
            <a:off x="1397000" y="1498600"/>
            <a:ext cx="2476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400" b="1">
                <a:solidFill>
                  <a:srgbClr val="4A90D9"/>
                </a:solidFill>
              </a:rPr>
              <a:t>Phase 1</a:t>
            </a:r>
            <a:endParaRPr lang="ko-Kore-KR" altLang="en-US" sz="1400" b="1">
              <a:solidFill>
                <a:srgbClr val="4A90D9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4A993-AB8B-F44F-8317-371D61C8CDC0}"/>
              </a:ext>
            </a:extLst>
          </p:cNvPr>
          <p:cNvSpPr txBox="1"/>
          <p:nvPr/>
        </p:nvSpPr>
        <p:spPr>
          <a:xfrm>
            <a:off x="1397000" y="17780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200" b="1">
                <a:solidFill>
                  <a:srgbClr val="1E3A5F"/>
                </a:solidFill>
              </a:rPr>
              <a:t>드론 기초</a:t>
            </a:r>
            <a:endParaRPr lang="ko-Kore-KR" altLang="en-US" sz="2200" b="1">
              <a:solidFill>
                <a:srgbClr val="1E3A5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A93336-0592-FA4E-B9FA-CBE56C6F4978}"/>
              </a:ext>
            </a:extLst>
          </p:cNvPr>
          <p:cNvSpPr txBox="1"/>
          <p:nvPr/>
        </p:nvSpPr>
        <p:spPr>
          <a:xfrm>
            <a:off x="698500" y="2286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>
                <a:solidFill>
                  <a:srgbClr val="666666"/>
                </a:solidFill>
              </a:rPr>
              <a:t>1~4</a:t>
            </a:r>
            <a:r>
              <a:rPr lang="ko-KR" altLang="en-US" sz="1600">
                <a:solidFill>
                  <a:srgbClr val="666666"/>
                </a:solidFill>
              </a:rPr>
              <a:t>주</a:t>
            </a:r>
            <a:endParaRPr lang="ko-Kore-KR" altLang="en-US" sz="1600">
              <a:solidFill>
                <a:srgbClr val="666666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0B8622-8D91-E64C-9AE4-FE2BCA4EEB2C}"/>
              </a:ext>
            </a:extLst>
          </p:cNvPr>
          <p:cNvSpPr/>
          <p:nvPr/>
        </p:nvSpPr>
        <p:spPr>
          <a:xfrm>
            <a:off x="698500" y="2667000"/>
            <a:ext cx="3175000" cy="1016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AE8890-5A17-2F4B-9449-B077A8644D5A}"/>
              </a:ext>
            </a:extLst>
          </p:cNvPr>
          <p:cNvSpPr/>
          <p:nvPr/>
        </p:nvSpPr>
        <p:spPr>
          <a:xfrm>
            <a:off x="698500" y="2667000"/>
            <a:ext cx="533400" cy="101600"/>
          </a:xfrm>
          <a:prstGeom prst="rect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E38670-E564-B44D-A39E-7954C5F05CF0}"/>
              </a:ext>
            </a:extLst>
          </p:cNvPr>
          <p:cNvSpPr txBox="1"/>
          <p:nvPr/>
        </p:nvSpPr>
        <p:spPr>
          <a:xfrm>
            <a:off x="698500" y="2921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888888"/>
                </a:solidFill>
              </a:rPr>
              <a:t>난이도</a:t>
            </a:r>
            <a:r>
              <a:rPr lang="en-US" altLang="ko-KR" sz="1400">
                <a:solidFill>
                  <a:srgbClr val="888888"/>
                </a:solidFill>
              </a:rPr>
              <a:t>: </a:t>
            </a:r>
            <a:r>
              <a:rPr lang="ko-KR" altLang="en-US" sz="1400">
                <a:solidFill>
                  <a:srgbClr val="888888"/>
                </a:solidFill>
              </a:rPr>
              <a:t>입문</a:t>
            </a:r>
            <a:endParaRPr lang="ko-Kore-KR" altLang="en-US" sz="1400">
              <a:solidFill>
                <a:srgbClr val="888888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2950950-FDB7-BA43-AEB4-D93624CBE3C7}"/>
              </a:ext>
            </a:extLst>
          </p:cNvPr>
          <p:cNvSpPr/>
          <p:nvPr/>
        </p:nvSpPr>
        <p:spPr>
          <a:xfrm>
            <a:off x="4381500" y="1270000"/>
            <a:ext cx="3556000" cy="23495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55F527-D1C0-7248-BE06-9E424F98ED07}"/>
              </a:ext>
            </a:extLst>
          </p:cNvPr>
          <p:cNvSpPr/>
          <p:nvPr/>
        </p:nvSpPr>
        <p:spPr>
          <a:xfrm>
            <a:off x="4381500" y="1270000"/>
            <a:ext cx="3556000" cy="101600"/>
          </a:xfrm>
          <a:prstGeom prst="rect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D835D7D-71CF-9A46-88E9-D67849E1B991}"/>
              </a:ext>
            </a:extLst>
          </p:cNvPr>
          <p:cNvSpPr/>
          <p:nvPr/>
        </p:nvSpPr>
        <p:spPr>
          <a:xfrm>
            <a:off x="4572000" y="1524000"/>
            <a:ext cx="571500" cy="5715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200" b="1">
                <a:solidFill>
                  <a:srgbClr val="FFFFFF"/>
                </a:solidFill>
              </a:rPr>
              <a:t>2</a:t>
            </a:r>
            <a:endParaRPr lang="ko-Kore-KR" altLang="en-US" sz="2200" b="1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4C2CDC-970D-1342-BCB5-4E6C86312BBA}"/>
              </a:ext>
            </a:extLst>
          </p:cNvPr>
          <p:cNvSpPr txBox="1"/>
          <p:nvPr/>
        </p:nvSpPr>
        <p:spPr>
          <a:xfrm>
            <a:off x="5270500" y="1498600"/>
            <a:ext cx="2476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400" b="1">
                <a:solidFill>
                  <a:srgbClr val="51CF66"/>
                </a:solidFill>
              </a:rPr>
              <a:t>Phase 2</a:t>
            </a:r>
            <a:endParaRPr lang="ko-Kore-KR" altLang="en-US" sz="1400" b="1">
              <a:solidFill>
                <a:srgbClr val="51CF66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DCFDA7-C60C-2E4B-AA98-51846645B204}"/>
              </a:ext>
            </a:extLst>
          </p:cNvPr>
          <p:cNvSpPr txBox="1"/>
          <p:nvPr/>
        </p:nvSpPr>
        <p:spPr>
          <a:xfrm>
            <a:off x="5270500" y="17780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200" b="1">
                <a:solidFill>
                  <a:srgbClr val="1E3A5F"/>
                </a:solidFill>
              </a:rPr>
              <a:t>시뮬레이터 조종</a:t>
            </a:r>
            <a:endParaRPr lang="ko-Kore-KR" altLang="en-US" sz="2200" b="1">
              <a:solidFill>
                <a:srgbClr val="1E3A5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FABEB9-A7F3-6246-A056-75F4146C6BB9}"/>
              </a:ext>
            </a:extLst>
          </p:cNvPr>
          <p:cNvSpPr txBox="1"/>
          <p:nvPr/>
        </p:nvSpPr>
        <p:spPr>
          <a:xfrm>
            <a:off x="4572000" y="2286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>
                <a:solidFill>
                  <a:srgbClr val="666666"/>
                </a:solidFill>
              </a:rPr>
              <a:t>5~8</a:t>
            </a:r>
            <a:r>
              <a:rPr lang="ko-KR" altLang="en-US" sz="1600">
                <a:solidFill>
                  <a:srgbClr val="666666"/>
                </a:solidFill>
              </a:rPr>
              <a:t>주</a:t>
            </a:r>
            <a:endParaRPr lang="ko-Kore-KR" altLang="en-US" sz="1600">
              <a:solidFill>
                <a:srgbClr val="666666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EECBC1-4066-564C-B131-2C663A5E233C}"/>
              </a:ext>
            </a:extLst>
          </p:cNvPr>
          <p:cNvSpPr/>
          <p:nvPr/>
        </p:nvSpPr>
        <p:spPr>
          <a:xfrm>
            <a:off x="4572000" y="2667000"/>
            <a:ext cx="3175000" cy="1016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7C30EB-1EBF-5C40-A885-476DE2CE0B32}"/>
              </a:ext>
            </a:extLst>
          </p:cNvPr>
          <p:cNvSpPr/>
          <p:nvPr/>
        </p:nvSpPr>
        <p:spPr>
          <a:xfrm>
            <a:off x="4572000" y="2667000"/>
            <a:ext cx="1054100" cy="101600"/>
          </a:xfrm>
          <a:prstGeom prst="rect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242110-0BB1-8949-8029-E41654D4DEDE}"/>
              </a:ext>
            </a:extLst>
          </p:cNvPr>
          <p:cNvSpPr txBox="1"/>
          <p:nvPr/>
        </p:nvSpPr>
        <p:spPr>
          <a:xfrm>
            <a:off x="4572000" y="2921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888888"/>
                </a:solidFill>
              </a:rPr>
              <a:t>난이도</a:t>
            </a:r>
            <a:r>
              <a:rPr lang="en-US" altLang="ko-KR" sz="1400">
                <a:solidFill>
                  <a:srgbClr val="888888"/>
                </a:solidFill>
              </a:rPr>
              <a:t>: </a:t>
            </a:r>
            <a:r>
              <a:rPr lang="ko-KR" altLang="en-US" sz="1400">
                <a:solidFill>
                  <a:srgbClr val="888888"/>
                </a:solidFill>
              </a:rPr>
              <a:t>초급</a:t>
            </a:r>
            <a:endParaRPr lang="ko-Kore-KR" altLang="en-US" sz="1400">
              <a:solidFill>
                <a:srgbClr val="888888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5B896151-6EF7-E64C-B8EB-9A6792377EA2}"/>
              </a:ext>
            </a:extLst>
          </p:cNvPr>
          <p:cNvSpPr/>
          <p:nvPr/>
        </p:nvSpPr>
        <p:spPr>
          <a:xfrm>
            <a:off x="8255000" y="1270000"/>
            <a:ext cx="3556000" cy="23495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E0C1B48-42B2-8B4D-BB53-3365377998A9}"/>
              </a:ext>
            </a:extLst>
          </p:cNvPr>
          <p:cNvSpPr/>
          <p:nvPr/>
        </p:nvSpPr>
        <p:spPr>
          <a:xfrm>
            <a:off x="8255000" y="1270000"/>
            <a:ext cx="3556000" cy="101600"/>
          </a:xfrm>
          <a:prstGeom prst="rect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FBAA1CD-5855-FD47-9B94-503BBB0DF4E8}"/>
              </a:ext>
            </a:extLst>
          </p:cNvPr>
          <p:cNvSpPr/>
          <p:nvPr/>
        </p:nvSpPr>
        <p:spPr>
          <a:xfrm>
            <a:off x="8445500" y="1524000"/>
            <a:ext cx="571500" cy="5715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200" b="1">
                <a:solidFill>
                  <a:srgbClr val="FFFFFF"/>
                </a:solidFill>
              </a:rPr>
              <a:t>3</a:t>
            </a:r>
            <a:endParaRPr lang="ko-Kore-KR" altLang="en-US" sz="2200" b="1">
              <a:solidFill>
                <a:srgbClr val="FFFFF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BF7203-274A-254D-8BAF-552662B86DF5}"/>
              </a:ext>
            </a:extLst>
          </p:cNvPr>
          <p:cNvSpPr txBox="1"/>
          <p:nvPr/>
        </p:nvSpPr>
        <p:spPr>
          <a:xfrm>
            <a:off x="9144000" y="1498600"/>
            <a:ext cx="2476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400" b="1">
                <a:solidFill>
                  <a:srgbClr val="FF922B"/>
                </a:solidFill>
              </a:rPr>
              <a:t>Phase 3</a:t>
            </a:r>
            <a:endParaRPr lang="ko-Kore-KR" altLang="en-US" sz="1400" b="1">
              <a:solidFill>
                <a:srgbClr val="FF922B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74133D-F166-F74D-B217-4C2890BE0709}"/>
              </a:ext>
            </a:extLst>
          </p:cNvPr>
          <p:cNvSpPr txBox="1"/>
          <p:nvPr/>
        </p:nvSpPr>
        <p:spPr>
          <a:xfrm>
            <a:off x="9144000" y="17780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200" b="1">
                <a:solidFill>
                  <a:srgbClr val="1E3A5F"/>
                </a:solidFill>
              </a:rPr>
              <a:t>미션 수행</a:t>
            </a:r>
            <a:endParaRPr lang="ko-Kore-KR" altLang="en-US" sz="2200" b="1">
              <a:solidFill>
                <a:srgbClr val="1E3A5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40642D-0CC6-E747-A75E-E90D790DDA0A}"/>
              </a:ext>
            </a:extLst>
          </p:cNvPr>
          <p:cNvSpPr txBox="1"/>
          <p:nvPr/>
        </p:nvSpPr>
        <p:spPr>
          <a:xfrm>
            <a:off x="8445500" y="2286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>
                <a:solidFill>
                  <a:srgbClr val="666666"/>
                </a:solidFill>
              </a:rPr>
              <a:t>9~12</a:t>
            </a:r>
            <a:r>
              <a:rPr lang="ko-KR" altLang="en-US" sz="1600">
                <a:solidFill>
                  <a:srgbClr val="666666"/>
                </a:solidFill>
              </a:rPr>
              <a:t>주</a:t>
            </a:r>
            <a:endParaRPr lang="ko-Kore-KR" altLang="en-US" sz="1600">
              <a:solidFill>
                <a:srgbClr val="666666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156E8E0-2666-D243-B2C4-5B1C016C6533}"/>
              </a:ext>
            </a:extLst>
          </p:cNvPr>
          <p:cNvSpPr/>
          <p:nvPr/>
        </p:nvSpPr>
        <p:spPr>
          <a:xfrm>
            <a:off x="8445500" y="2667000"/>
            <a:ext cx="3175000" cy="1016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86D6DB5-D39F-034F-A8D2-4A23ED70E5BA}"/>
              </a:ext>
            </a:extLst>
          </p:cNvPr>
          <p:cNvSpPr/>
          <p:nvPr/>
        </p:nvSpPr>
        <p:spPr>
          <a:xfrm>
            <a:off x="8445500" y="2667000"/>
            <a:ext cx="1587500" cy="101600"/>
          </a:xfrm>
          <a:prstGeom prst="rect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DDE818-EF97-254E-B6D6-580A0B89F296}"/>
              </a:ext>
            </a:extLst>
          </p:cNvPr>
          <p:cNvSpPr txBox="1"/>
          <p:nvPr/>
        </p:nvSpPr>
        <p:spPr>
          <a:xfrm>
            <a:off x="8445500" y="2921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888888"/>
                </a:solidFill>
              </a:rPr>
              <a:t>난이도</a:t>
            </a:r>
            <a:r>
              <a:rPr lang="en-US" altLang="ko-KR" sz="1400">
                <a:solidFill>
                  <a:srgbClr val="888888"/>
                </a:solidFill>
              </a:rPr>
              <a:t>: </a:t>
            </a:r>
            <a:r>
              <a:rPr lang="ko-KR" altLang="en-US" sz="1400">
                <a:solidFill>
                  <a:srgbClr val="888888"/>
                </a:solidFill>
              </a:rPr>
              <a:t>중급</a:t>
            </a:r>
            <a:endParaRPr lang="ko-Kore-KR" altLang="en-US" sz="1400">
              <a:solidFill>
                <a:srgbClr val="888888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AAE472A1-465C-E941-9C18-3D9F109BEE12}"/>
              </a:ext>
            </a:extLst>
          </p:cNvPr>
          <p:cNvSpPr/>
          <p:nvPr/>
        </p:nvSpPr>
        <p:spPr>
          <a:xfrm>
            <a:off x="508000" y="3937000"/>
            <a:ext cx="3556000" cy="23495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C0538F4-9241-8147-AEFF-BDC79057E2EE}"/>
              </a:ext>
            </a:extLst>
          </p:cNvPr>
          <p:cNvSpPr/>
          <p:nvPr/>
        </p:nvSpPr>
        <p:spPr>
          <a:xfrm>
            <a:off x="508000" y="3937000"/>
            <a:ext cx="3556000" cy="1016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BDD02284-CEFE-824C-BE5D-96CA372CBB1A}"/>
              </a:ext>
            </a:extLst>
          </p:cNvPr>
          <p:cNvSpPr/>
          <p:nvPr/>
        </p:nvSpPr>
        <p:spPr>
          <a:xfrm>
            <a:off x="698500" y="4191000"/>
            <a:ext cx="571500" cy="5715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200" b="1">
                <a:solidFill>
                  <a:srgbClr val="FFFFFF"/>
                </a:solidFill>
              </a:rPr>
              <a:t>4</a:t>
            </a:r>
            <a:endParaRPr lang="ko-Kore-KR" altLang="en-US" sz="2200" b="1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5A35B6-730E-684B-82E1-41A751155A52}"/>
              </a:ext>
            </a:extLst>
          </p:cNvPr>
          <p:cNvSpPr txBox="1"/>
          <p:nvPr/>
        </p:nvSpPr>
        <p:spPr>
          <a:xfrm>
            <a:off x="1397000" y="4165600"/>
            <a:ext cx="2476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400" b="1">
                <a:solidFill>
                  <a:srgbClr val="FF6B6B"/>
                </a:solidFill>
              </a:rPr>
              <a:t>Phase 4</a:t>
            </a:r>
            <a:endParaRPr lang="ko-Kore-KR" altLang="en-US" sz="1400" b="1">
              <a:solidFill>
                <a:srgbClr val="FF6B6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84C066-EBC3-6E42-9DD1-17B35D58E474}"/>
              </a:ext>
            </a:extLst>
          </p:cNvPr>
          <p:cNvSpPr txBox="1"/>
          <p:nvPr/>
        </p:nvSpPr>
        <p:spPr>
          <a:xfrm>
            <a:off x="1397000" y="44450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200" b="1">
                <a:solidFill>
                  <a:srgbClr val="1E3A5F"/>
                </a:solidFill>
              </a:rPr>
              <a:t>블록 코딩</a:t>
            </a:r>
            <a:endParaRPr lang="ko-Kore-KR" altLang="en-US" sz="2200" b="1">
              <a:solidFill>
                <a:srgbClr val="1E3A5F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930E38-A408-0E43-84D9-DA43A3607F14}"/>
              </a:ext>
            </a:extLst>
          </p:cNvPr>
          <p:cNvSpPr txBox="1"/>
          <p:nvPr/>
        </p:nvSpPr>
        <p:spPr>
          <a:xfrm>
            <a:off x="698500" y="4953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>
                <a:solidFill>
                  <a:srgbClr val="666666"/>
                </a:solidFill>
              </a:rPr>
              <a:t>13~17</a:t>
            </a:r>
            <a:r>
              <a:rPr lang="ko-KR" altLang="en-US" sz="1600">
                <a:solidFill>
                  <a:srgbClr val="666666"/>
                </a:solidFill>
              </a:rPr>
              <a:t>주</a:t>
            </a:r>
            <a:endParaRPr lang="ko-Kore-KR" altLang="en-US" sz="1600">
              <a:solidFill>
                <a:srgbClr val="666666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2F9C2BD-7BA5-114B-A528-DDEFF655FD1B}"/>
              </a:ext>
            </a:extLst>
          </p:cNvPr>
          <p:cNvSpPr/>
          <p:nvPr/>
        </p:nvSpPr>
        <p:spPr>
          <a:xfrm>
            <a:off x="698500" y="5334000"/>
            <a:ext cx="3175000" cy="1016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A0392F2-9E22-604F-A0D1-1DB9AF8C9789}"/>
              </a:ext>
            </a:extLst>
          </p:cNvPr>
          <p:cNvSpPr/>
          <p:nvPr/>
        </p:nvSpPr>
        <p:spPr>
          <a:xfrm>
            <a:off x="698500" y="5334000"/>
            <a:ext cx="2120900" cy="1016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7F09D3-8960-344A-8AF6-EAB1CE9B58A6}"/>
              </a:ext>
            </a:extLst>
          </p:cNvPr>
          <p:cNvSpPr txBox="1"/>
          <p:nvPr/>
        </p:nvSpPr>
        <p:spPr>
          <a:xfrm>
            <a:off x="698500" y="5588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888888"/>
                </a:solidFill>
              </a:rPr>
              <a:t>난이도</a:t>
            </a:r>
            <a:r>
              <a:rPr lang="en-US" altLang="ko-KR" sz="1400">
                <a:solidFill>
                  <a:srgbClr val="888888"/>
                </a:solidFill>
              </a:rPr>
              <a:t>: </a:t>
            </a:r>
            <a:r>
              <a:rPr lang="ko-KR" altLang="en-US" sz="1400">
                <a:solidFill>
                  <a:srgbClr val="888888"/>
                </a:solidFill>
              </a:rPr>
              <a:t>중급</a:t>
            </a:r>
            <a:r>
              <a:rPr lang="en-US" altLang="ko-KR" sz="1400">
                <a:solidFill>
                  <a:srgbClr val="888888"/>
                </a:solidFill>
              </a:rPr>
              <a:t>+</a:t>
            </a:r>
            <a:endParaRPr lang="ko-Kore-KR" altLang="en-US" sz="1400">
              <a:solidFill>
                <a:srgbClr val="888888"/>
              </a:solidFill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F3762075-DECA-7F4F-85B1-B7523CE8ED7D}"/>
              </a:ext>
            </a:extLst>
          </p:cNvPr>
          <p:cNvSpPr/>
          <p:nvPr/>
        </p:nvSpPr>
        <p:spPr>
          <a:xfrm>
            <a:off x="4381500" y="3937000"/>
            <a:ext cx="3556000" cy="23495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1238F86-9F14-FA4A-B357-474696D0564C}"/>
              </a:ext>
            </a:extLst>
          </p:cNvPr>
          <p:cNvSpPr/>
          <p:nvPr/>
        </p:nvSpPr>
        <p:spPr>
          <a:xfrm>
            <a:off x="4381500" y="3937000"/>
            <a:ext cx="3556000" cy="101600"/>
          </a:xfrm>
          <a:prstGeom prst="rect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09B8A00-6431-9E43-A877-B4DAEEBB0EF3}"/>
              </a:ext>
            </a:extLst>
          </p:cNvPr>
          <p:cNvSpPr/>
          <p:nvPr/>
        </p:nvSpPr>
        <p:spPr>
          <a:xfrm>
            <a:off x="4572000" y="4191000"/>
            <a:ext cx="571500" cy="5715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200" b="1">
                <a:solidFill>
                  <a:srgbClr val="FFFFFF"/>
                </a:solidFill>
              </a:rPr>
              <a:t>5</a:t>
            </a:r>
            <a:endParaRPr lang="ko-Kore-KR" altLang="en-US" sz="2200" b="1">
              <a:solidFill>
                <a:srgbClr val="FFFFFF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A431C1-A3CB-4C47-B465-EA38F5525427}"/>
              </a:ext>
            </a:extLst>
          </p:cNvPr>
          <p:cNvSpPr txBox="1"/>
          <p:nvPr/>
        </p:nvSpPr>
        <p:spPr>
          <a:xfrm>
            <a:off x="5270500" y="4165600"/>
            <a:ext cx="2476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400" b="1">
                <a:solidFill>
                  <a:srgbClr val="845EF7"/>
                </a:solidFill>
              </a:rPr>
              <a:t>Phase 5</a:t>
            </a:r>
            <a:endParaRPr lang="ko-Kore-KR" altLang="en-US" sz="1400" b="1">
              <a:solidFill>
                <a:srgbClr val="845EF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FA892F-4CDA-FD4C-8D3D-3A38112BBEEE}"/>
              </a:ext>
            </a:extLst>
          </p:cNvPr>
          <p:cNvSpPr txBox="1"/>
          <p:nvPr/>
        </p:nvSpPr>
        <p:spPr>
          <a:xfrm>
            <a:off x="5270500" y="44450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200" b="1">
                <a:solidFill>
                  <a:srgbClr val="1E3A5F"/>
                </a:solidFill>
              </a:rPr>
              <a:t>텍스트 코딩</a:t>
            </a:r>
            <a:endParaRPr lang="ko-Kore-KR" altLang="en-US" sz="2200" b="1">
              <a:solidFill>
                <a:srgbClr val="1E3A5F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B7EF04-31C5-D64C-BAEA-EE74F1A399D6}"/>
              </a:ext>
            </a:extLst>
          </p:cNvPr>
          <p:cNvSpPr txBox="1"/>
          <p:nvPr/>
        </p:nvSpPr>
        <p:spPr>
          <a:xfrm>
            <a:off x="4572000" y="4953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>
                <a:solidFill>
                  <a:srgbClr val="666666"/>
                </a:solidFill>
              </a:rPr>
              <a:t>18~21</a:t>
            </a:r>
            <a:r>
              <a:rPr lang="ko-KR" altLang="en-US" sz="1600">
                <a:solidFill>
                  <a:srgbClr val="666666"/>
                </a:solidFill>
              </a:rPr>
              <a:t>주</a:t>
            </a:r>
            <a:endParaRPr lang="ko-Kore-KR" altLang="en-US" sz="1600">
              <a:solidFill>
                <a:srgbClr val="666666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50FDF9C-7A77-F242-AFDF-0676E270C251}"/>
              </a:ext>
            </a:extLst>
          </p:cNvPr>
          <p:cNvSpPr/>
          <p:nvPr/>
        </p:nvSpPr>
        <p:spPr>
          <a:xfrm>
            <a:off x="4572000" y="5334000"/>
            <a:ext cx="3175000" cy="1016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97667C5-2E55-A147-9C58-59C6E39C8AF8}"/>
              </a:ext>
            </a:extLst>
          </p:cNvPr>
          <p:cNvSpPr/>
          <p:nvPr/>
        </p:nvSpPr>
        <p:spPr>
          <a:xfrm>
            <a:off x="4572000" y="5334000"/>
            <a:ext cx="2641600" cy="101600"/>
          </a:xfrm>
          <a:prstGeom prst="rect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971924-B46D-4E4C-8D60-3F574ADD9239}"/>
              </a:ext>
            </a:extLst>
          </p:cNvPr>
          <p:cNvSpPr txBox="1"/>
          <p:nvPr/>
        </p:nvSpPr>
        <p:spPr>
          <a:xfrm>
            <a:off x="4572000" y="5588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888888"/>
                </a:solidFill>
              </a:rPr>
              <a:t>난이도</a:t>
            </a:r>
            <a:r>
              <a:rPr lang="en-US" altLang="ko-KR" sz="1400">
                <a:solidFill>
                  <a:srgbClr val="888888"/>
                </a:solidFill>
              </a:rPr>
              <a:t>: </a:t>
            </a:r>
            <a:r>
              <a:rPr lang="ko-KR" altLang="en-US" sz="1400">
                <a:solidFill>
                  <a:srgbClr val="888888"/>
                </a:solidFill>
              </a:rPr>
              <a:t>고급</a:t>
            </a:r>
            <a:endParaRPr lang="ko-Kore-KR" altLang="en-US" sz="1400">
              <a:solidFill>
                <a:srgbClr val="888888"/>
              </a:solidFill>
            </a:endParaRP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0D2C8172-BA9D-4E43-887B-6A8450AE5D70}"/>
              </a:ext>
            </a:extLst>
          </p:cNvPr>
          <p:cNvSpPr/>
          <p:nvPr/>
        </p:nvSpPr>
        <p:spPr>
          <a:xfrm>
            <a:off x="8255000" y="3937000"/>
            <a:ext cx="3556000" cy="23495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0A034A1-7103-6D4E-87EF-9DEA046F2412}"/>
              </a:ext>
            </a:extLst>
          </p:cNvPr>
          <p:cNvSpPr/>
          <p:nvPr/>
        </p:nvSpPr>
        <p:spPr>
          <a:xfrm>
            <a:off x="8255000" y="3937000"/>
            <a:ext cx="3556000" cy="101600"/>
          </a:xfrm>
          <a:prstGeom prst="rect">
            <a:avLst/>
          </a:prstGeom>
          <a:solidFill>
            <a:srgbClr val="FCC4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ADCABA08-3A99-FA45-9FAA-F16D78835732}"/>
              </a:ext>
            </a:extLst>
          </p:cNvPr>
          <p:cNvSpPr/>
          <p:nvPr/>
        </p:nvSpPr>
        <p:spPr>
          <a:xfrm>
            <a:off x="8445500" y="4191000"/>
            <a:ext cx="571500" cy="571500"/>
          </a:xfrm>
          <a:prstGeom prst="ellipse">
            <a:avLst/>
          </a:prstGeom>
          <a:solidFill>
            <a:srgbClr val="FCC4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2200" b="1">
                <a:solidFill>
                  <a:srgbClr val="FFFFFF"/>
                </a:solidFill>
              </a:rPr>
              <a:t>6</a:t>
            </a:r>
            <a:endParaRPr lang="ko-Kore-KR" altLang="en-US" sz="2200" b="1">
              <a:solidFill>
                <a:srgbClr val="FFFFFF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64806F-1E40-8046-B4C7-EF423F02C0EA}"/>
              </a:ext>
            </a:extLst>
          </p:cNvPr>
          <p:cNvSpPr txBox="1"/>
          <p:nvPr/>
        </p:nvSpPr>
        <p:spPr>
          <a:xfrm>
            <a:off x="9144000" y="4165600"/>
            <a:ext cx="2476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400" b="1">
                <a:solidFill>
                  <a:srgbClr val="FCC419"/>
                </a:solidFill>
              </a:rPr>
              <a:t>Phase 6</a:t>
            </a:r>
            <a:endParaRPr lang="ko-Kore-KR" altLang="en-US" sz="1400" b="1">
              <a:solidFill>
                <a:srgbClr val="FCC419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1556C0-BB05-9F45-B281-424EADFB80DE}"/>
              </a:ext>
            </a:extLst>
          </p:cNvPr>
          <p:cNvSpPr txBox="1"/>
          <p:nvPr/>
        </p:nvSpPr>
        <p:spPr>
          <a:xfrm>
            <a:off x="9144000" y="4445000"/>
            <a:ext cx="2476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200" b="1">
                <a:solidFill>
                  <a:srgbClr val="1E3A5F"/>
                </a:solidFill>
              </a:rPr>
              <a:t>프로젝트</a:t>
            </a:r>
            <a:endParaRPr lang="ko-Kore-KR" altLang="en-US" sz="2200" b="1">
              <a:solidFill>
                <a:srgbClr val="1E3A5F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5D7503-7530-8249-BEE3-69ADDBB86C90}"/>
              </a:ext>
            </a:extLst>
          </p:cNvPr>
          <p:cNvSpPr txBox="1"/>
          <p:nvPr/>
        </p:nvSpPr>
        <p:spPr>
          <a:xfrm>
            <a:off x="8445500" y="4953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>
                <a:solidFill>
                  <a:srgbClr val="666666"/>
                </a:solidFill>
              </a:rPr>
              <a:t>22~24</a:t>
            </a:r>
            <a:r>
              <a:rPr lang="ko-KR" altLang="en-US" sz="1600">
                <a:solidFill>
                  <a:srgbClr val="666666"/>
                </a:solidFill>
              </a:rPr>
              <a:t>주</a:t>
            </a:r>
            <a:endParaRPr lang="ko-Kore-KR" altLang="en-US" sz="1600">
              <a:solidFill>
                <a:srgbClr val="666666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83071D9-F442-D644-8443-B72BA8428BD8}"/>
              </a:ext>
            </a:extLst>
          </p:cNvPr>
          <p:cNvSpPr/>
          <p:nvPr/>
        </p:nvSpPr>
        <p:spPr>
          <a:xfrm>
            <a:off x="8445500" y="5334000"/>
            <a:ext cx="3175000" cy="1016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C8541EC-97E0-9C4F-A52C-1E3D1593FA3B}"/>
              </a:ext>
            </a:extLst>
          </p:cNvPr>
          <p:cNvSpPr/>
          <p:nvPr/>
        </p:nvSpPr>
        <p:spPr>
          <a:xfrm>
            <a:off x="8445500" y="5334000"/>
            <a:ext cx="3175000" cy="101600"/>
          </a:xfrm>
          <a:prstGeom prst="rect">
            <a:avLst/>
          </a:prstGeom>
          <a:solidFill>
            <a:srgbClr val="FCC4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E2D35E9-2376-2F4A-914C-4E714BB35299}"/>
              </a:ext>
            </a:extLst>
          </p:cNvPr>
          <p:cNvSpPr txBox="1"/>
          <p:nvPr/>
        </p:nvSpPr>
        <p:spPr>
          <a:xfrm>
            <a:off x="8445500" y="5588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888888"/>
                </a:solidFill>
              </a:rPr>
              <a:t>난이도</a:t>
            </a:r>
            <a:r>
              <a:rPr lang="en-US" altLang="ko-KR" sz="1400">
                <a:solidFill>
                  <a:srgbClr val="888888"/>
                </a:solidFill>
              </a:rPr>
              <a:t>: </a:t>
            </a:r>
            <a:r>
              <a:rPr lang="ko-KR" altLang="en-US" sz="1400">
                <a:solidFill>
                  <a:srgbClr val="888888"/>
                </a:solidFill>
              </a:rPr>
              <a:t>심화</a:t>
            </a:r>
            <a:endParaRPr lang="ko-Kore-KR" altLang="en-US" sz="1400">
              <a:solidFill>
                <a:srgbClr val="8888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062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FC9D2-80F6-2C5F-A4F0-008A69926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1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드론이란</a:t>
            </a:r>
            <a:r>
              <a:rPr kumimoji="1" lang="en-US" altLang="ko-KR" sz="3000" b="1"/>
              <a:t>?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1AE36A68-0CF6-2D48-AF23-31C15D115FC7}"/>
              </a:ext>
            </a:extLst>
          </p:cNvPr>
          <p:cNvSpPr/>
          <p:nvPr/>
        </p:nvSpPr>
        <p:spPr>
          <a:xfrm>
            <a:off x="508000" y="1016000"/>
            <a:ext cx="2286000" cy="381000"/>
          </a:xfrm>
          <a:prstGeom prst="roundRect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1 · </a:t>
            </a:r>
            <a:r>
              <a:rPr lang="ko-KR" altLang="en-US" sz="1400" b="1">
                <a:solidFill>
                  <a:srgbClr val="FFFFFF"/>
                </a:solidFill>
              </a:rPr>
              <a:t>드론 기초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D702B17-83A5-B44A-9D9D-B1B343E76B63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FDCD8AA-7A5E-0746-8478-C8924F993F0A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?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AECAFD-474A-4A48-AA3E-3C25CBDF12A8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드론의 정의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2396F-7AC2-2047-8EB5-C26CA44CAFA2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무인항공기</a:t>
            </a:r>
            <a:r>
              <a:rPr lang="en-US" altLang="ko-KR" sz="1500">
                <a:solidFill>
                  <a:srgbClr val="2D3436"/>
                </a:solidFill>
              </a:rPr>
              <a:t>(</a:t>
            </a:r>
            <a:r>
              <a:rPr lang="en" altLang="ko-Kore-KR" sz="1500">
                <a:solidFill>
                  <a:srgbClr val="2D3436"/>
                </a:solidFill>
              </a:rPr>
              <a:t>UAV)</a:t>
            </a:r>
            <a:r>
              <a:rPr lang="ko-KR" altLang="en-US" sz="1500">
                <a:solidFill>
                  <a:srgbClr val="2D3436"/>
                </a:solidFill>
              </a:rPr>
              <a:t>란 무엇인지 알아봐요</a:t>
            </a:r>
            <a:r>
              <a:rPr lang="en-US" altLang="ko-KR" sz="1500">
                <a:solidFill>
                  <a:srgbClr val="2D3436"/>
                </a:solidFill>
              </a:rPr>
              <a:t>.
</a:t>
            </a:r>
            <a:r>
              <a:rPr lang="ko-KR" altLang="en-US" sz="1500">
                <a:solidFill>
                  <a:srgbClr val="2D3436"/>
                </a:solidFill>
              </a:rPr>
              <a:t>사람이 타지 않고 원격 또는 자동으로
비행하는 항공기에요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FA892-79DC-C94F-B841-7D705334787D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9AC27C8-54B0-5348-A98F-AAD705F96AB1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T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038D8F-E9DD-0046-8963-6595BCE66AFB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드론의 종류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A15F2-0CD8-2A41-B76C-9EA64B0C389E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멀티콥터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고정익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en" altLang="ko-Kore-KR" sz="1500">
                <a:solidFill>
                  <a:srgbClr val="2D3436"/>
                </a:solidFill>
              </a:rPr>
              <a:t>VTOL </a:t>
            </a:r>
            <a:r>
              <a:rPr lang="ko-KR" altLang="en-US" sz="1500">
                <a:solidFill>
                  <a:srgbClr val="2D3436"/>
                </a:solidFill>
              </a:rPr>
              <a:t>등
다양한 드론의 형태와
각각의 특징을 비교해봐요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03F242D5-4DFE-F74B-9A6D-B1A1D16D4EFA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335110A-3118-DC48-B7D1-E421CC215A33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A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CC3BB7-2D67-DE41-A073-12030B88A37F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활용 분야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8D2960-EEB2-2F4D-96C8-21C5E3D5E335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배달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촬영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농업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측량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구조 등
드론이 우리 생활에서 어떻게
활용되는지 알아봐요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D9D9A050-0B1D-ED45-84A8-5C9F6FDCDE54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FE765E2-4C10-B642-93A6-7C0A5ECD7FB9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!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4E361D-EF5C-4C47-A48A-4D8BA7134783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안전 규칙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8331E5-9B66-C14B-9FBA-A41BE5C2E8F5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드론 비행 시 꼭 지켜야 할 안전 수칙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비행 금지 구역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안전 거리</a:t>
            </a:r>
            <a:r>
              <a:rPr lang="en-US" altLang="ko-KR" sz="1500">
                <a:solidFill>
                  <a:srgbClr val="2D3436"/>
                </a:solidFill>
              </a:rPr>
              <a:t>,
</a:t>
            </a:r>
            <a:r>
              <a:rPr lang="ko-KR" altLang="en-US" sz="1500">
                <a:solidFill>
                  <a:srgbClr val="2D3436"/>
                </a:solidFill>
              </a:rPr>
              <a:t>배터리 관리법을 배워요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210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0FCF9-0B97-64F9-11D8-A56B72E6B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2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드론의 구조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F6E6DC69-3583-9D47-AA53-173BEAD2C7E6}"/>
              </a:ext>
            </a:extLst>
          </p:cNvPr>
          <p:cNvSpPr/>
          <p:nvPr/>
        </p:nvSpPr>
        <p:spPr>
          <a:xfrm>
            <a:off x="508000" y="1016000"/>
            <a:ext cx="2286000" cy="381000"/>
          </a:xfrm>
          <a:prstGeom prst="roundRect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1 · </a:t>
            </a:r>
            <a:r>
              <a:rPr lang="ko-KR" altLang="en-US" sz="1400" b="1">
                <a:solidFill>
                  <a:srgbClr val="FFFFFF"/>
                </a:solidFill>
              </a:rPr>
              <a:t>드론 기초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2AA52472-2FB3-CD49-B290-DCBC975C918A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FB15874-21E7-7742-B482-B1AC98648680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P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BA0C25-CEDE-B74A-9BBA-7A16296DF76B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프로펠러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459BFA-5B35-4042-B4BF-58739518EFC7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공기를 밀어내서 추력을 만드는 날개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en" altLang="ko-Kore-KR" sz="1500">
                <a:solidFill>
                  <a:srgbClr val="2D3436"/>
                </a:solidFill>
              </a:rPr>
              <a:t>CW/CCW </a:t>
            </a:r>
            <a:r>
              <a:rPr lang="ko-KR" altLang="en-US" sz="1500">
                <a:solidFill>
                  <a:srgbClr val="2D3436"/>
                </a:solidFill>
              </a:rPr>
              <a:t>방향이 다른 이유와
프로펠러 크기별 특성을 배워요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DCE871DD-45B7-5642-8B74-3775C4C90177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E4245DA-34F2-5D48-AD28-CD04DF785EF0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M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EBBF86-5A7F-6445-96EA-1A68D1CF48BC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모터 </a:t>
            </a:r>
            <a:r>
              <a:rPr lang="en-US" altLang="ko-KR" b="1">
                <a:solidFill>
                  <a:srgbClr val="1E3A5F"/>
                </a:solidFill>
              </a:rPr>
              <a:t>(</a:t>
            </a:r>
            <a:r>
              <a:rPr lang="en" altLang="ko-Kore-KR" b="1">
                <a:solidFill>
                  <a:srgbClr val="1E3A5F"/>
                </a:solidFill>
              </a:rPr>
              <a:t>BLDC)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F39720-BC8C-D942-9A46-AF600F603AD5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브러시리스 </a:t>
            </a:r>
            <a:r>
              <a:rPr lang="en" altLang="ko-Kore-KR" sz="1500">
                <a:solidFill>
                  <a:srgbClr val="2D3436"/>
                </a:solidFill>
              </a:rPr>
              <a:t>DC </a:t>
            </a:r>
            <a:r>
              <a:rPr lang="ko-KR" altLang="en-US" sz="1500">
                <a:solidFill>
                  <a:srgbClr val="2D3436"/>
                </a:solidFill>
              </a:rPr>
              <a:t>모터의 원리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전기 신호로 프로펠러를 돌리는
핵심 동력원을 이해해요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0F0AAA4-AD37-324D-AA02-A999E7486F41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9F1B457-4F82-F244-9E09-DC313609B221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F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99F579-E087-DD43-91CC-20F571E7A492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프레임과 </a:t>
            </a:r>
            <a:r>
              <a:rPr lang="en" altLang="ko-Kore-KR" b="1">
                <a:solidFill>
                  <a:srgbClr val="1E3A5F"/>
                </a:solidFill>
              </a:rPr>
              <a:t>FC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CDB377-15A0-174A-9A9A-34EF219B695A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드론의 뼈대인 프레임 구조와
두뇌 역할을 하는 비행 컨트롤러</a:t>
            </a:r>
            <a:r>
              <a:rPr lang="en-US" altLang="ko-KR" sz="1500">
                <a:solidFill>
                  <a:srgbClr val="2D3436"/>
                </a:solidFill>
              </a:rPr>
              <a:t>(</a:t>
            </a:r>
            <a:r>
              <a:rPr lang="en" altLang="ko-Kore-KR" sz="1500">
                <a:solidFill>
                  <a:srgbClr val="2D3436"/>
                </a:solidFill>
              </a:rPr>
              <a:t>FC)</a:t>
            </a:r>
            <a:r>
              <a:rPr lang="ko-KR" altLang="en-US" sz="1500">
                <a:solidFill>
                  <a:srgbClr val="2D3436"/>
                </a:solidFill>
              </a:rPr>
              <a:t>의
센서 구성을 알아봐요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6AEAC147-22DD-4E41-B1A6-F4B4F6CDC3B5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DE6C83B-168A-FC4F-AFA7-3B7D2B4A9CA2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B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572014-3891-3845-8524-5234522BBDAF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배터리와 </a:t>
            </a:r>
            <a:r>
              <a:rPr lang="en" altLang="ko-Kore-KR" b="1">
                <a:solidFill>
                  <a:srgbClr val="1E3A5F"/>
                </a:solidFill>
              </a:rPr>
              <a:t>ESC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3352C5-4A1A-B24E-B0C6-BA807C47E683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LiPo </a:t>
            </a:r>
            <a:r>
              <a:rPr lang="ko-KR" altLang="en-US" sz="1500">
                <a:solidFill>
                  <a:srgbClr val="2D3436"/>
                </a:solidFill>
              </a:rPr>
              <a:t>배터리의 특성과 관리법</a:t>
            </a:r>
            <a:r>
              <a:rPr lang="en-US" altLang="ko-KR" sz="1500">
                <a:solidFill>
                  <a:srgbClr val="2D3436"/>
                </a:solidFill>
              </a:rPr>
              <a:t>,
</a:t>
            </a:r>
            <a:r>
              <a:rPr lang="en" altLang="ko-Kore-KR" sz="1500">
                <a:solidFill>
                  <a:srgbClr val="2D3436"/>
                </a:solidFill>
              </a:rPr>
              <a:t>ESC(</a:t>
            </a:r>
            <a:r>
              <a:rPr lang="ko-KR" altLang="en-US" sz="1500">
                <a:solidFill>
                  <a:srgbClr val="2D3436"/>
                </a:solidFill>
              </a:rPr>
              <a:t>속도 제어기</a:t>
            </a:r>
            <a:r>
              <a:rPr lang="en-US" altLang="ko-KR" sz="1500">
                <a:solidFill>
                  <a:srgbClr val="2D3436"/>
                </a:solidFill>
              </a:rPr>
              <a:t>)</a:t>
            </a:r>
            <a:r>
              <a:rPr lang="ko-KR" altLang="en-US" sz="1500">
                <a:solidFill>
                  <a:srgbClr val="2D3436"/>
                </a:solidFill>
              </a:rPr>
              <a:t>가 모터 속도를
어떻게 조절하는지 배워요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040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F537DF-4864-050E-E604-C7E175757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3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비행의 원리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E06FE3A-F845-B741-8D25-8878BCDA194D}"/>
              </a:ext>
            </a:extLst>
          </p:cNvPr>
          <p:cNvSpPr/>
          <p:nvPr/>
        </p:nvSpPr>
        <p:spPr>
          <a:xfrm>
            <a:off x="508000" y="1016000"/>
            <a:ext cx="2286000" cy="381000"/>
          </a:xfrm>
          <a:prstGeom prst="roundRect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1 · </a:t>
            </a:r>
            <a:r>
              <a:rPr lang="ko-KR" altLang="en-US" sz="1400" b="1">
                <a:solidFill>
                  <a:srgbClr val="FFFFFF"/>
                </a:solidFill>
              </a:rPr>
              <a:t>드론 기초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5769B83E-09CE-6641-B210-2CBC12E211E8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65CB581-8898-B547-BB51-2FA3A74CC479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T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DFD2F9-4A3B-4F4D-AC6F-C20D5FB9D8B5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추력과 양력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617FE2-F9DB-0247-90FC-DDB71F1F3C91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프로펠러가 회전하면 공기를 밀어내면서
추력이 발생해요</a:t>
            </a:r>
            <a:r>
              <a:rPr lang="en-US" altLang="ko-KR" sz="1500">
                <a:solidFill>
                  <a:srgbClr val="2D3436"/>
                </a:solidFill>
              </a:rPr>
              <a:t>. </a:t>
            </a:r>
            <a:r>
              <a:rPr lang="ko-KR" altLang="en-US" sz="1500">
                <a:solidFill>
                  <a:srgbClr val="2D3436"/>
                </a:solidFill>
              </a:rPr>
              <a:t>추력 공식</a:t>
            </a:r>
            <a:r>
              <a:rPr lang="en-US" altLang="ko-KR" sz="1500">
                <a:solidFill>
                  <a:srgbClr val="2D3436"/>
                </a:solidFill>
              </a:rPr>
              <a:t>:
</a:t>
            </a:r>
            <a:r>
              <a:rPr lang="en" altLang="ko-Kore-KR" sz="1500">
                <a:solidFill>
                  <a:srgbClr val="2D3436"/>
                </a:solidFill>
              </a:rPr>
              <a:t>T = k x (</a:t>
            </a:r>
            <a:r>
              <a:rPr lang="ko-KR" altLang="en-US" sz="1500">
                <a:solidFill>
                  <a:srgbClr val="2D3436"/>
                </a:solidFill>
              </a:rPr>
              <a:t>회전속도</a:t>
            </a:r>
            <a:r>
              <a:rPr lang="en-US" altLang="ko-KR" sz="1500">
                <a:solidFill>
                  <a:srgbClr val="2D3436"/>
                </a:solidFill>
              </a:rPr>
              <a:t>)²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3048F2C-23A5-AC46-B9F0-E2A533856C83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BB25187-7B10-604C-86EB-AF2ACCA7AA35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H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D1C617-2008-D542-8871-661FB5DA87A1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호버링 원리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77E5E2-62C9-F64A-B637-46CFD60A6E5A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>
                <a:solidFill>
                  <a:srgbClr val="2D3436"/>
                </a:solidFill>
              </a:rPr>
              <a:t>4</a:t>
            </a:r>
            <a:r>
              <a:rPr lang="ko-KR" altLang="en-US" sz="1500">
                <a:solidFill>
                  <a:srgbClr val="2D3436"/>
                </a:solidFill>
              </a:rPr>
              <a:t>개 로터의 추력 합 </a:t>
            </a:r>
            <a:r>
              <a:rPr lang="en-US" altLang="ko-KR" sz="1500">
                <a:solidFill>
                  <a:srgbClr val="2D3436"/>
                </a:solidFill>
              </a:rPr>
              <a:t>= </a:t>
            </a:r>
            <a:r>
              <a:rPr lang="ko-KR" altLang="en-US" sz="1500">
                <a:solidFill>
                  <a:srgbClr val="2D3436"/>
                </a:solidFill>
              </a:rPr>
              <a:t>중력일 때
공중에 정지</a:t>
            </a:r>
            <a:r>
              <a:rPr lang="en-US" altLang="ko-KR" sz="1500">
                <a:solidFill>
                  <a:srgbClr val="2D3436"/>
                </a:solidFill>
              </a:rPr>
              <a:t>! </a:t>
            </a:r>
            <a:r>
              <a:rPr lang="ko-KR" altLang="en-US" sz="1500">
                <a:solidFill>
                  <a:srgbClr val="2D3436"/>
                </a:solidFill>
              </a:rPr>
              <a:t>호버링 속도
약 </a:t>
            </a:r>
            <a:r>
              <a:rPr lang="en-US" altLang="ko-KR" sz="1500">
                <a:solidFill>
                  <a:srgbClr val="2D3436"/>
                </a:solidFill>
              </a:rPr>
              <a:t>470 </a:t>
            </a:r>
            <a:r>
              <a:rPr lang="en" altLang="ko-Kore-KR" sz="1500">
                <a:solidFill>
                  <a:srgbClr val="2D3436"/>
                </a:solidFill>
              </a:rPr>
              <a:t>rad/s</a:t>
            </a:r>
            <a:r>
              <a:rPr lang="ko-KR" altLang="en-US" sz="1500">
                <a:solidFill>
                  <a:srgbClr val="2D3436"/>
                </a:solidFill>
              </a:rPr>
              <a:t>를 계산해봐요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53AA709-767B-AB4E-80A0-A4321312E2E6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77E1A57-C142-5A42-A4B3-2B889C68E5F6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R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CCFFAB-D18D-D343-98A8-7337C3B9685C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1E3A5F"/>
                </a:solidFill>
              </a:rPr>
              <a:t>4</a:t>
            </a:r>
            <a:r>
              <a:rPr lang="ko-KR" altLang="en-US" b="1">
                <a:solidFill>
                  <a:srgbClr val="1E3A5F"/>
                </a:solidFill>
              </a:rPr>
              <a:t>개 로터의 역할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DC3AA0-46DC-814C-A0DF-A76B88AB4829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대각선 로터는 같은 방향으로 회전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en" altLang="ko-Kore-KR" sz="1500">
                <a:solidFill>
                  <a:srgbClr val="2D3436"/>
                </a:solidFill>
              </a:rPr>
              <a:t>CW/CCW </a:t>
            </a:r>
            <a:r>
              <a:rPr lang="ko-KR" altLang="en-US" sz="1500">
                <a:solidFill>
                  <a:srgbClr val="2D3436"/>
                </a:solidFill>
              </a:rPr>
              <a:t>쌍으로 토크를 상쇄하는
원리를 이해해요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85E9B8A1-00DE-604F-884E-DCA086011AB3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375681F-444B-3F42-830B-A8DA60938C79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D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E3B75F-2444-4F4C-B612-2674EEDD5657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항력과 저항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56F7FC-8DA3-9C4B-A352-54403F26D710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드론이 움직이면 공기가 반대로 미는
항력이 생겨요</a:t>
            </a:r>
            <a:r>
              <a:rPr lang="en-US" altLang="ko-KR" sz="1500">
                <a:solidFill>
                  <a:srgbClr val="2D3436"/>
                </a:solidFill>
              </a:rPr>
              <a:t>. </a:t>
            </a:r>
            <a:r>
              <a:rPr lang="ko-KR" altLang="en-US" sz="1500">
                <a:solidFill>
                  <a:srgbClr val="2D3436"/>
                </a:solidFill>
              </a:rPr>
              <a:t>기생 항력과
로터 </a:t>
            </a:r>
            <a:r>
              <a:rPr lang="en" altLang="ko-Kore-KR" sz="1500">
                <a:solidFill>
                  <a:srgbClr val="2D3436"/>
                </a:solidFill>
              </a:rPr>
              <a:t>H-force</a:t>
            </a:r>
            <a:r>
              <a:rPr lang="ko-KR" altLang="en-US" sz="1500">
                <a:solidFill>
                  <a:srgbClr val="2D3436"/>
                </a:solidFill>
              </a:rPr>
              <a:t>를 배워요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862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F0D32-5767-D2B0-F967-A59D577F7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4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좌표와 방향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17DC3EEE-8C48-3F4A-ADB2-6A0841729A37}"/>
              </a:ext>
            </a:extLst>
          </p:cNvPr>
          <p:cNvSpPr/>
          <p:nvPr/>
        </p:nvSpPr>
        <p:spPr>
          <a:xfrm>
            <a:off x="508000" y="1016000"/>
            <a:ext cx="2286000" cy="381000"/>
          </a:xfrm>
          <a:prstGeom prst="roundRect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1 · </a:t>
            </a:r>
            <a:r>
              <a:rPr lang="ko-KR" altLang="en-US" sz="1400" b="1">
                <a:solidFill>
                  <a:srgbClr val="FFFFFF"/>
                </a:solidFill>
              </a:rPr>
              <a:t>드론 기초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434522A8-5FBA-5E41-9343-5A2FBD7DBFF1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AF5664C-ED17-3845-ABD6-B4353AC47476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X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D93C5-A55B-3540-B648-A8E131B22B1C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b="1">
                <a:solidFill>
                  <a:srgbClr val="1E3A5F"/>
                </a:solidFill>
              </a:rPr>
              <a:t>X/Y/Z </a:t>
            </a:r>
            <a:r>
              <a:rPr lang="ko-KR" altLang="en-US" b="1">
                <a:solidFill>
                  <a:srgbClr val="1E3A5F"/>
                </a:solidFill>
              </a:rPr>
              <a:t>좌표축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0ABDF1-A1FA-1C44-BDC0-AD56314A7F80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3D </a:t>
            </a:r>
            <a:r>
              <a:rPr lang="ko-KR" altLang="en-US" sz="1500">
                <a:solidFill>
                  <a:srgbClr val="2D3436"/>
                </a:solidFill>
              </a:rPr>
              <a:t>공간에서 위치를 나타내는 방법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en" altLang="ko-Kore-KR" sz="1500">
                <a:solidFill>
                  <a:srgbClr val="2D3436"/>
                </a:solidFill>
              </a:rPr>
              <a:t>Y-up </a:t>
            </a:r>
            <a:r>
              <a:rPr lang="ko-KR" altLang="en-US" sz="1500">
                <a:solidFill>
                  <a:srgbClr val="2D3436"/>
                </a:solidFill>
              </a:rPr>
              <a:t>좌표계</a:t>
            </a:r>
            <a:r>
              <a:rPr lang="en-US" altLang="ko-KR" sz="1500">
                <a:solidFill>
                  <a:srgbClr val="2D3436"/>
                </a:solidFill>
              </a:rPr>
              <a:t>: </a:t>
            </a:r>
            <a:r>
              <a:rPr lang="en" altLang="ko-Kore-KR" sz="1500">
                <a:solidFill>
                  <a:srgbClr val="2D3436"/>
                </a:solidFill>
              </a:rPr>
              <a:t>X(</a:t>
            </a:r>
            <a:r>
              <a:rPr lang="ko-KR" altLang="en-US" sz="1500">
                <a:solidFill>
                  <a:srgbClr val="2D3436"/>
                </a:solidFill>
              </a:rPr>
              <a:t>오른쪽</a:t>
            </a:r>
            <a:r>
              <a:rPr lang="en-US" altLang="ko-KR" sz="1500">
                <a:solidFill>
                  <a:srgbClr val="2D3436"/>
                </a:solidFill>
              </a:rPr>
              <a:t>), </a:t>
            </a:r>
            <a:r>
              <a:rPr lang="en" altLang="ko-Kore-KR" sz="1500">
                <a:solidFill>
                  <a:srgbClr val="2D3436"/>
                </a:solidFill>
              </a:rPr>
              <a:t>Y(</a:t>
            </a:r>
            <a:r>
              <a:rPr lang="ko-KR" altLang="en-US" sz="1500">
                <a:solidFill>
                  <a:srgbClr val="2D3436"/>
                </a:solidFill>
              </a:rPr>
              <a:t>위</a:t>
            </a:r>
            <a:r>
              <a:rPr lang="en-US" altLang="ko-KR" sz="1500">
                <a:solidFill>
                  <a:srgbClr val="2D3436"/>
                </a:solidFill>
              </a:rPr>
              <a:t>),
</a:t>
            </a:r>
            <a:r>
              <a:rPr lang="en" altLang="ko-Kore-KR" sz="1500">
                <a:solidFill>
                  <a:srgbClr val="2D3436"/>
                </a:solidFill>
              </a:rPr>
              <a:t>Z(</a:t>
            </a:r>
            <a:r>
              <a:rPr lang="ko-KR" altLang="en-US" sz="1500">
                <a:solidFill>
                  <a:srgbClr val="2D3436"/>
                </a:solidFill>
              </a:rPr>
              <a:t>뒤</a:t>
            </a:r>
            <a:r>
              <a:rPr lang="en-US" altLang="ko-KR" sz="1500">
                <a:solidFill>
                  <a:srgbClr val="2D3436"/>
                </a:solidFill>
              </a:rPr>
              <a:t>) </a:t>
            </a:r>
            <a:r>
              <a:rPr lang="ko-KR" altLang="en-US" sz="1500">
                <a:solidFill>
                  <a:srgbClr val="2D3436"/>
                </a:solidFill>
              </a:rPr>
              <a:t>축을 이해해요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1E1AFE4-103B-5B47-A2EB-874A5C2954C4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33A8042-F1D3-364D-A9C0-959A410B6D11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A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175038-9856-5949-95AA-E855F6204307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피치</a:t>
            </a:r>
            <a:r>
              <a:rPr lang="en-US" altLang="ko-KR" b="1">
                <a:solidFill>
                  <a:srgbClr val="1E3A5F"/>
                </a:solidFill>
              </a:rPr>
              <a:t>/</a:t>
            </a:r>
            <a:r>
              <a:rPr lang="ko-KR" altLang="en-US" b="1">
                <a:solidFill>
                  <a:srgbClr val="1E3A5F"/>
                </a:solidFill>
              </a:rPr>
              <a:t>롤</a:t>
            </a:r>
            <a:r>
              <a:rPr lang="en-US" altLang="ko-KR" b="1">
                <a:solidFill>
                  <a:srgbClr val="1E3A5F"/>
                </a:solidFill>
              </a:rPr>
              <a:t>/</a:t>
            </a:r>
            <a:r>
              <a:rPr lang="ko-KR" altLang="en-US" b="1">
                <a:solidFill>
                  <a:srgbClr val="1E3A5F"/>
                </a:solidFill>
              </a:rPr>
              <a:t>요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6034CD-5AE9-9541-8226-8B076E2C2206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피치 </a:t>
            </a:r>
            <a:r>
              <a:rPr lang="en-US" altLang="ko-KR" sz="1500">
                <a:solidFill>
                  <a:srgbClr val="2D3436"/>
                </a:solidFill>
              </a:rPr>
              <a:t>= </a:t>
            </a:r>
            <a:r>
              <a:rPr lang="ko-KR" altLang="en-US" sz="1500">
                <a:solidFill>
                  <a:srgbClr val="2D3436"/>
                </a:solidFill>
              </a:rPr>
              <a:t>앞뒤 기울기 </a:t>
            </a:r>
            <a:r>
              <a:rPr lang="en-US" altLang="ko-KR" sz="1500">
                <a:solidFill>
                  <a:srgbClr val="2D3436"/>
                </a:solidFill>
              </a:rPr>
              <a:t>(</a:t>
            </a:r>
            <a:r>
              <a:rPr lang="ko-KR" altLang="en-US" sz="1500">
                <a:solidFill>
                  <a:srgbClr val="2D3436"/>
                </a:solidFill>
              </a:rPr>
              <a:t>고개 끄덕</a:t>
            </a:r>
            <a:r>
              <a:rPr lang="en-US" altLang="ko-KR" sz="1500">
                <a:solidFill>
                  <a:srgbClr val="2D3436"/>
                </a:solidFill>
              </a:rPr>
              <a:t>)
</a:t>
            </a:r>
            <a:r>
              <a:rPr lang="ko-KR" altLang="en-US" sz="1500">
                <a:solidFill>
                  <a:srgbClr val="2D3436"/>
                </a:solidFill>
              </a:rPr>
              <a:t>롤 </a:t>
            </a:r>
            <a:r>
              <a:rPr lang="en-US" altLang="ko-KR" sz="1500">
                <a:solidFill>
                  <a:srgbClr val="2D3436"/>
                </a:solidFill>
              </a:rPr>
              <a:t>= </a:t>
            </a:r>
            <a:r>
              <a:rPr lang="ko-KR" altLang="en-US" sz="1500">
                <a:solidFill>
                  <a:srgbClr val="2D3436"/>
                </a:solidFill>
              </a:rPr>
              <a:t>좌우 기울기 </a:t>
            </a:r>
            <a:r>
              <a:rPr lang="en-US" altLang="ko-KR" sz="1500">
                <a:solidFill>
                  <a:srgbClr val="2D3436"/>
                </a:solidFill>
              </a:rPr>
              <a:t>(</a:t>
            </a:r>
            <a:r>
              <a:rPr lang="ko-KR" altLang="en-US" sz="1500">
                <a:solidFill>
                  <a:srgbClr val="2D3436"/>
                </a:solidFill>
              </a:rPr>
              <a:t>고개 갸웃</a:t>
            </a:r>
            <a:r>
              <a:rPr lang="en-US" altLang="ko-KR" sz="1500">
                <a:solidFill>
                  <a:srgbClr val="2D3436"/>
                </a:solidFill>
              </a:rPr>
              <a:t>)
</a:t>
            </a:r>
            <a:r>
              <a:rPr lang="ko-KR" altLang="en-US" sz="1500">
                <a:solidFill>
                  <a:srgbClr val="2D3436"/>
                </a:solidFill>
              </a:rPr>
              <a:t>요 </a:t>
            </a:r>
            <a:r>
              <a:rPr lang="en-US" altLang="ko-KR" sz="1500">
                <a:solidFill>
                  <a:srgbClr val="2D3436"/>
                </a:solidFill>
              </a:rPr>
              <a:t>= </a:t>
            </a:r>
            <a:r>
              <a:rPr lang="ko-KR" altLang="en-US" sz="1500">
                <a:solidFill>
                  <a:srgbClr val="2D3436"/>
                </a:solidFill>
              </a:rPr>
              <a:t>좌우 회전 </a:t>
            </a:r>
            <a:r>
              <a:rPr lang="en-US" altLang="ko-KR" sz="1500">
                <a:solidFill>
                  <a:srgbClr val="2D3436"/>
                </a:solidFill>
              </a:rPr>
              <a:t>(</a:t>
            </a:r>
            <a:r>
              <a:rPr lang="ko-KR" altLang="en-US" sz="1500">
                <a:solidFill>
                  <a:srgbClr val="2D3436"/>
                </a:solidFill>
              </a:rPr>
              <a:t>고개 저어</a:t>
            </a:r>
            <a:r>
              <a:rPr lang="en-US" altLang="ko-KR" sz="1500">
                <a:solidFill>
                  <a:srgbClr val="2D3436"/>
                </a:solidFill>
              </a:rPr>
              <a:t>)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EA4A8E6F-B43D-F74E-A1C2-6C60B5C52B9F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BDD1889-84B1-C14C-B7D6-8542271119FF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Q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1BD965-6EE5-0E43-8214-B6D1C4AE2850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쿼터니언 맛보기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7608E7-BAB4-8845-AA0D-E55F597E49A7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3D </a:t>
            </a:r>
            <a:r>
              <a:rPr lang="ko-KR" altLang="en-US" sz="1500">
                <a:solidFill>
                  <a:srgbClr val="2D3436"/>
                </a:solidFill>
              </a:rPr>
              <a:t>회전을 </a:t>
            </a:r>
            <a:r>
              <a:rPr lang="en-US" altLang="ko-KR" sz="1500">
                <a:solidFill>
                  <a:srgbClr val="2D3436"/>
                </a:solidFill>
              </a:rPr>
              <a:t>4</a:t>
            </a:r>
            <a:r>
              <a:rPr lang="ko-KR" altLang="en-US" sz="1500">
                <a:solidFill>
                  <a:srgbClr val="2D3436"/>
                </a:solidFill>
              </a:rPr>
              <a:t>개 숫자로 표현하는
똑똑한 방법</a:t>
            </a:r>
            <a:r>
              <a:rPr lang="en-US" altLang="ko-KR" sz="1500">
                <a:solidFill>
                  <a:srgbClr val="2D3436"/>
                </a:solidFill>
              </a:rPr>
              <a:t>! </a:t>
            </a:r>
            <a:r>
              <a:rPr lang="ko-KR" altLang="en-US" sz="1500">
                <a:solidFill>
                  <a:srgbClr val="2D3436"/>
                </a:solidFill>
              </a:rPr>
              <a:t>짐벌 락 문제를
해결하는 비밀을 알아봐요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54AD746B-679A-594B-9EA8-86DEFBFAC707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1DEA615-F6BD-5E4B-9DCB-4499E49C3512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3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AF9979-9F2C-B645-950A-971A929D9A96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b="1">
                <a:solidFill>
                  <a:srgbClr val="1E3A5F"/>
                </a:solidFill>
              </a:rPr>
              <a:t>3D </a:t>
            </a:r>
            <a:r>
              <a:rPr lang="ko-KR" altLang="en-US" b="1">
                <a:solidFill>
                  <a:srgbClr val="1E3A5F"/>
                </a:solidFill>
              </a:rPr>
              <a:t>공간 실습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04C633-C486-0A41-8409-BD0157E0A857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손가락으로 </a:t>
            </a:r>
            <a:r>
              <a:rPr lang="en" altLang="ko-Kore-KR" sz="1500">
                <a:solidFill>
                  <a:srgbClr val="2D3436"/>
                </a:solidFill>
              </a:rPr>
              <a:t>X/Y/Z </a:t>
            </a:r>
            <a:r>
              <a:rPr lang="ko-KR" altLang="en-US" sz="1500">
                <a:solidFill>
                  <a:srgbClr val="2D3436"/>
                </a:solidFill>
              </a:rPr>
              <a:t>축 만들기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몸으로 피치</a:t>
            </a:r>
            <a:r>
              <a:rPr lang="en-US" altLang="ko-KR" sz="1500">
                <a:solidFill>
                  <a:srgbClr val="2D3436"/>
                </a:solidFill>
              </a:rPr>
              <a:t>/</a:t>
            </a:r>
            <a:r>
              <a:rPr lang="ko-KR" altLang="en-US" sz="1500">
                <a:solidFill>
                  <a:srgbClr val="2D3436"/>
                </a:solidFill>
              </a:rPr>
              <a:t>롤</a:t>
            </a:r>
            <a:r>
              <a:rPr lang="en-US" altLang="ko-KR" sz="1500">
                <a:solidFill>
                  <a:srgbClr val="2D3436"/>
                </a:solidFill>
              </a:rPr>
              <a:t>/</a:t>
            </a:r>
            <a:r>
              <a:rPr lang="ko-KR" altLang="en-US" sz="1500">
                <a:solidFill>
                  <a:srgbClr val="2D3436"/>
                </a:solidFill>
              </a:rPr>
              <a:t>요 체험하기</a:t>
            </a:r>
            <a:r>
              <a:rPr lang="en-US" altLang="ko-KR" sz="1500">
                <a:solidFill>
                  <a:srgbClr val="2D3436"/>
                </a:solidFill>
              </a:rPr>
              <a:t>.
</a:t>
            </a:r>
            <a:r>
              <a:rPr lang="ko-KR" altLang="en-US" sz="1500">
                <a:solidFill>
                  <a:srgbClr val="2D3436"/>
                </a:solidFill>
              </a:rPr>
              <a:t>실제 좌표를 읽어봐요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441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11B3B4-0F3C-13AE-50B1-417B24CB5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5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첫 비행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70ED3BD2-36A0-464A-9315-7FFF36D10792}"/>
              </a:ext>
            </a:extLst>
          </p:cNvPr>
          <p:cNvSpPr/>
          <p:nvPr/>
        </p:nvSpPr>
        <p:spPr>
          <a:xfrm>
            <a:off x="508000" y="1016000"/>
            <a:ext cx="2540000" cy="381000"/>
          </a:xfrm>
          <a:prstGeom prst="roundRect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2 · </a:t>
            </a:r>
            <a:r>
              <a:rPr lang="ko-KR" altLang="en-US" sz="1400" b="1">
                <a:solidFill>
                  <a:srgbClr val="FFFFFF"/>
                </a:solidFill>
              </a:rPr>
              <a:t>시뮬레이터 조종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E945630-5372-EF4E-A577-1F734DF1D3F1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87D7133-B8C6-9C47-B4DE-3CEF1786EB85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S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E8D7A2-6299-0A4B-BB26-513CE49C7318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시뮬레이터 소개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2A99E-72E6-904E-8531-AB13056C98A2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3D </a:t>
            </a:r>
            <a:r>
              <a:rPr lang="ko-KR" altLang="en-US" sz="1500">
                <a:solidFill>
                  <a:srgbClr val="2D3436"/>
                </a:solidFill>
              </a:rPr>
              <a:t>드론 시뮬레이터 화면 구성과
기본 사용법을 익혀요</a:t>
            </a:r>
            <a:r>
              <a:rPr lang="en-US" altLang="ko-KR" sz="1500">
                <a:solidFill>
                  <a:srgbClr val="2D3436"/>
                </a:solidFill>
              </a:rPr>
              <a:t>.
</a:t>
            </a:r>
            <a:r>
              <a:rPr lang="ko-KR" altLang="en-US" sz="1500">
                <a:solidFill>
                  <a:srgbClr val="2D3436"/>
                </a:solidFill>
              </a:rPr>
              <a:t>카메라 시점 전환도 해봐요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C6853218-9BDA-D742-908C-A21CA89B6C79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29B1055-4A65-4547-8A98-D3BA5EF9AB1C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C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AC138B-AAEB-6D49-8969-5B88C383E6E3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조종기 이해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8F0807-8C50-D047-9DBE-712277AF88E6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왼쪽 스틱</a:t>
            </a:r>
            <a:r>
              <a:rPr lang="en-US" altLang="ko-KR" sz="1500">
                <a:solidFill>
                  <a:srgbClr val="2D3436"/>
                </a:solidFill>
              </a:rPr>
              <a:t>: </a:t>
            </a:r>
            <a:r>
              <a:rPr lang="ko-KR" altLang="en-US" sz="1500">
                <a:solidFill>
                  <a:srgbClr val="2D3436"/>
                </a:solidFill>
              </a:rPr>
              <a:t>스로틀</a:t>
            </a:r>
            <a:r>
              <a:rPr lang="en-US" altLang="ko-KR" sz="1500">
                <a:solidFill>
                  <a:srgbClr val="2D3436"/>
                </a:solidFill>
              </a:rPr>
              <a:t>(</a:t>
            </a:r>
            <a:r>
              <a:rPr lang="ko-KR" altLang="en-US" sz="1500">
                <a:solidFill>
                  <a:srgbClr val="2D3436"/>
                </a:solidFill>
              </a:rPr>
              <a:t>상하</a:t>
            </a:r>
            <a:r>
              <a:rPr lang="en-US" altLang="ko-KR" sz="1500">
                <a:solidFill>
                  <a:srgbClr val="2D3436"/>
                </a:solidFill>
              </a:rPr>
              <a:t>) + </a:t>
            </a:r>
            <a:r>
              <a:rPr lang="ko-KR" altLang="en-US" sz="1500">
                <a:solidFill>
                  <a:srgbClr val="2D3436"/>
                </a:solidFill>
              </a:rPr>
              <a:t>요</a:t>
            </a:r>
            <a:r>
              <a:rPr lang="en-US" altLang="ko-KR" sz="1500">
                <a:solidFill>
                  <a:srgbClr val="2D3436"/>
                </a:solidFill>
              </a:rPr>
              <a:t>(</a:t>
            </a:r>
            <a:r>
              <a:rPr lang="ko-KR" altLang="en-US" sz="1500">
                <a:solidFill>
                  <a:srgbClr val="2D3436"/>
                </a:solidFill>
              </a:rPr>
              <a:t>회전</a:t>
            </a:r>
            <a:r>
              <a:rPr lang="en-US" altLang="ko-KR" sz="1500">
                <a:solidFill>
                  <a:srgbClr val="2D3436"/>
                </a:solidFill>
              </a:rPr>
              <a:t>)
</a:t>
            </a:r>
            <a:r>
              <a:rPr lang="ko-KR" altLang="en-US" sz="1500">
                <a:solidFill>
                  <a:srgbClr val="2D3436"/>
                </a:solidFill>
              </a:rPr>
              <a:t>오른쪽 스틱</a:t>
            </a:r>
            <a:r>
              <a:rPr lang="en-US" altLang="ko-KR" sz="1500">
                <a:solidFill>
                  <a:srgbClr val="2D3436"/>
                </a:solidFill>
              </a:rPr>
              <a:t>: </a:t>
            </a:r>
            <a:r>
              <a:rPr lang="ko-KR" altLang="en-US" sz="1500">
                <a:solidFill>
                  <a:srgbClr val="2D3436"/>
                </a:solidFill>
              </a:rPr>
              <a:t>피치</a:t>
            </a:r>
            <a:r>
              <a:rPr lang="en-US" altLang="ko-KR" sz="1500">
                <a:solidFill>
                  <a:srgbClr val="2D3436"/>
                </a:solidFill>
              </a:rPr>
              <a:t>(</a:t>
            </a:r>
            <a:r>
              <a:rPr lang="ko-KR" altLang="en-US" sz="1500">
                <a:solidFill>
                  <a:srgbClr val="2D3436"/>
                </a:solidFill>
              </a:rPr>
              <a:t>전후</a:t>
            </a:r>
            <a:r>
              <a:rPr lang="en-US" altLang="ko-KR" sz="1500">
                <a:solidFill>
                  <a:srgbClr val="2D3436"/>
                </a:solidFill>
              </a:rPr>
              <a:t>) + </a:t>
            </a:r>
            <a:r>
              <a:rPr lang="ko-KR" altLang="en-US" sz="1500">
                <a:solidFill>
                  <a:srgbClr val="2D3436"/>
                </a:solidFill>
              </a:rPr>
              <a:t>롤</a:t>
            </a:r>
            <a:r>
              <a:rPr lang="en-US" altLang="ko-KR" sz="1500">
                <a:solidFill>
                  <a:srgbClr val="2D3436"/>
                </a:solidFill>
              </a:rPr>
              <a:t>(</a:t>
            </a:r>
            <a:r>
              <a:rPr lang="ko-KR" altLang="en-US" sz="1500">
                <a:solidFill>
                  <a:srgbClr val="2D3436"/>
                </a:solidFill>
              </a:rPr>
              <a:t>좌우</a:t>
            </a:r>
            <a:r>
              <a:rPr lang="en-US" altLang="ko-KR" sz="1500">
                <a:solidFill>
                  <a:srgbClr val="2D3436"/>
                </a:solidFill>
              </a:rPr>
              <a:t>)
</a:t>
            </a:r>
            <a:r>
              <a:rPr lang="ko-KR" altLang="en-US" sz="1500">
                <a:solidFill>
                  <a:srgbClr val="2D3436"/>
                </a:solidFill>
              </a:rPr>
              <a:t>각 축의 역할을 체험해요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A9A2DDA3-79CA-0F40-8756-EE98573ABBF7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5086F1B-F821-B94A-8172-DE3401901F19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U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8556EA-29B3-9C4A-92D6-E2ED32F4B90D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이륙 연습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32B6FD-6F71-2C45-A203-3C1E86BD7123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스로틀을 천천히 올려서
안정적으로 이륙하기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급가속 없이 부드럽게 올라가요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88BDEDCE-3F59-304B-A5BB-C5B243E58832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C82D626-3A91-E74E-B708-C3D0A1F0F774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D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92432B-B317-754D-8FC5-8C4B5C38F992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착륙 연습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44F8BA-2049-B643-8CB3-96812052493B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스로틀을 천천히 내려서
안전하게 착륙하기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정해진 위치에 정확히 내려봐요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899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1B5DC-F2F6-B86F-6BEE-10CEA4CC9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6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상승과 하강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AE178139-1CCF-3445-8346-FE088FB56010}"/>
              </a:ext>
            </a:extLst>
          </p:cNvPr>
          <p:cNvSpPr/>
          <p:nvPr/>
        </p:nvSpPr>
        <p:spPr>
          <a:xfrm>
            <a:off x="508000" y="1016000"/>
            <a:ext cx="2540000" cy="381000"/>
          </a:xfrm>
          <a:prstGeom prst="roundRect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2 · </a:t>
            </a:r>
            <a:r>
              <a:rPr lang="ko-KR" altLang="en-US" sz="1400" b="1">
                <a:solidFill>
                  <a:srgbClr val="FFFFFF"/>
                </a:solidFill>
              </a:rPr>
              <a:t>시뮬레이터 조종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629FF390-F0B0-A948-9877-1B4CA812EFD9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D149CCD-6DCF-434A-B227-B4A681E7B5ED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^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32C9C3-B8CE-6A4C-BD59-883F0700CF60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스로틀 제어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37F16A-3E7C-8A4F-978E-EE2D5CB5B9AC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스로틀 </a:t>
            </a:r>
            <a:r>
              <a:rPr lang="en-US" altLang="ko-KR" sz="1500">
                <a:solidFill>
                  <a:srgbClr val="2D3436"/>
                </a:solidFill>
              </a:rPr>
              <a:t>= </a:t>
            </a:r>
            <a:r>
              <a:rPr lang="ko-KR" altLang="en-US" sz="1500">
                <a:solidFill>
                  <a:srgbClr val="2D3436"/>
                </a:solidFill>
              </a:rPr>
              <a:t>총 추력을 조절하는 레버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en" altLang="ko-Kore-KR" sz="1500">
                <a:solidFill>
                  <a:srgbClr val="2D3436"/>
                </a:solidFill>
              </a:rPr>
              <a:t>throttle 0 = </a:t>
            </a:r>
            <a:r>
              <a:rPr lang="ko-KR" altLang="en-US" sz="1500">
                <a:solidFill>
                  <a:srgbClr val="2D3436"/>
                </a:solidFill>
              </a:rPr>
              <a:t>호버링
</a:t>
            </a:r>
            <a:r>
              <a:rPr lang="en-US" altLang="ko-KR" sz="1500">
                <a:solidFill>
                  <a:srgbClr val="2D3436"/>
                </a:solidFill>
              </a:rPr>
              <a:t>+1 = </a:t>
            </a:r>
            <a:r>
              <a:rPr lang="ko-KR" altLang="en-US" sz="1500">
                <a:solidFill>
                  <a:srgbClr val="2D3436"/>
                </a:solidFill>
              </a:rPr>
              <a:t>최대 상승</a:t>
            </a:r>
            <a:r>
              <a:rPr lang="en-US" altLang="ko-KR" sz="1500">
                <a:solidFill>
                  <a:srgbClr val="2D3436"/>
                </a:solidFill>
              </a:rPr>
              <a:t>, -1 = </a:t>
            </a:r>
            <a:r>
              <a:rPr lang="ko-KR" altLang="en-US" sz="1500">
                <a:solidFill>
                  <a:srgbClr val="2D3436"/>
                </a:solidFill>
              </a:rPr>
              <a:t>최대 하강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8BA5AC38-47A5-4546-AEA2-4B1557C5B163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AC927E4-9C92-FC4C-BCA5-3665D8EED59E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=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E8AD7-13C4-5948-89E7-FC9B2E50BCC0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고도 유지 연습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98828F-DD29-F741-831B-2C004DEF5BBE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특정 높이에서 스로틀을 조절해
높이를 일정하게 유지해봐요</a:t>
            </a:r>
            <a:r>
              <a:rPr lang="en-US" altLang="ko-KR" sz="1500">
                <a:solidFill>
                  <a:srgbClr val="2D3436"/>
                </a:solidFill>
              </a:rPr>
              <a:t>.
</a:t>
            </a:r>
            <a:r>
              <a:rPr lang="ko-KR" altLang="en-US" sz="1500">
                <a:solidFill>
                  <a:srgbClr val="2D3436"/>
                </a:solidFill>
              </a:rPr>
              <a:t>추력 </a:t>
            </a:r>
            <a:r>
              <a:rPr lang="en-US" altLang="ko-KR" sz="1500">
                <a:solidFill>
                  <a:srgbClr val="2D3436"/>
                </a:solidFill>
              </a:rPr>
              <a:t>= </a:t>
            </a:r>
            <a:r>
              <a:rPr lang="ko-KR" altLang="en-US" sz="1500">
                <a:solidFill>
                  <a:srgbClr val="2D3436"/>
                </a:solidFill>
              </a:rPr>
              <a:t>중력 되는 느낌을 체험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BBF11369-D929-244C-A70F-DB2FDB93CFF3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57BB924-209B-EE49-A00C-2E5230205C0C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~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8D150-08C1-EE48-BBAF-FA33A2AF9400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부드러운 상승</a:t>
            </a:r>
            <a:r>
              <a:rPr lang="en-US" altLang="ko-KR" b="1">
                <a:solidFill>
                  <a:srgbClr val="1E3A5F"/>
                </a:solidFill>
              </a:rPr>
              <a:t>/</a:t>
            </a:r>
            <a:r>
              <a:rPr lang="ko-KR" altLang="en-US" b="1">
                <a:solidFill>
                  <a:srgbClr val="1E3A5F"/>
                </a:solidFill>
              </a:rPr>
              <a:t>하강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5AEBED-21A1-DA41-90AD-8F61429DC191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급격한 조작 대신 부드러운
스로틀 변화로 안정적인
수직 이동을 연습해요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39FD6831-9F32-F747-94CE-8379135AFF43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C95E31F-F486-E34A-A3A5-0FC4B4C82EBF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G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CA264-E8FC-5546-B07C-73283EBEF308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목표 고도 미션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D5E8C6-F8E7-DB4D-B3E4-4AF74B05FDDE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5m, 10m, 15m </a:t>
            </a:r>
            <a:r>
              <a:rPr lang="ko-KR" altLang="en-US" sz="1500">
                <a:solidFill>
                  <a:srgbClr val="2D3436"/>
                </a:solidFill>
              </a:rPr>
              <a:t>목표 고도에
정확히 도달하고 유지하는
미니 미션을 수행해봐요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797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E54129-E5D9-432B-9C06-59122B0F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7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전후좌우 이동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27A46334-4942-FE42-9FD7-D715CEA3F0A7}"/>
              </a:ext>
            </a:extLst>
          </p:cNvPr>
          <p:cNvSpPr/>
          <p:nvPr/>
        </p:nvSpPr>
        <p:spPr>
          <a:xfrm>
            <a:off x="508000" y="1016000"/>
            <a:ext cx="2540000" cy="381000"/>
          </a:xfrm>
          <a:prstGeom prst="roundRect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2 · </a:t>
            </a:r>
            <a:r>
              <a:rPr lang="ko-KR" altLang="en-US" sz="1400" b="1">
                <a:solidFill>
                  <a:srgbClr val="FFFFFF"/>
                </a:solidFill>
              </a:rPr>
              <a:t>시뮬레이터 조종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03564B4-6993-B74A-89C5-A5B79D4CBB90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E71AA80-C406-1C45-A268-1FB6A287463D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F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B9BD-9930-1F4F-99DB-D8F7D5604008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피치 조종 </a:t>
            </a:r>
            <a:r>
              <a:rPr lang="en-US" altLang="ko-KR" b="1">
                <a:solidFill>
                  <a:srgbClr val="1E3A5F"/>
                </a:solidFill>
              </a:rPr>
              <a:t>(</a:t>
            </a:r>
            <a:r>
              <a:rPr lang="ko-KR" altLang="en-US" b="1">
                <a:solidFill>
                  <a:srgbClr val="1E3A5F"/>
                </a:solidFill>
              </a:rPr>
              <a:t>전</a:t>
            </a:r>
            <a:r>
              <a:rPr lang="en-US" altLang="ko-KR" b="1">
                <a:solidFill>
                  <a:srgbClr val="1E3A5F"/>
                </a:solidFill>
              </a:rPr>
              <a:t>/</a:t>
            </a:r>
            <a:r>
              <a:rPr lang="ko-KR" altLang="en-US" b="1">
                <a:solidFill>
                  <a:srgbClr val="1E3A5F"/>
                </a:solidFill>
              </a:rPr>
              <a:t>후</a:t>
            </a:r>
            <a:r>
              <a:rPr lang="en-US" altLang="ko-KR" b="1">
                <a:solidFill>
                  <a:srgbClr val="1E3A5F"/>
                </a:solidFill>
              </a:rPr>
              <a:t>)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4B274-9369-9C47-82F0-24558A8DD9CB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오른쪽 스틱 앞뒤 </a:t>
            </a:r>
            <a:r>
              <a:rPr lang="en-US" altLang="ko-KR" sz="1500">
                <a:solidFill>
                  <a:srgbClr val="2D3436"/>
                </a:solidFill>
              </a:rPr>
              <a:t>= </a:t>
            </a:r>
            <a:r>
              <a:rPr lang="ko-KR" altLang="en-US" sz="1500">
                <a:solidFill>
                  <a:srgbClr val="2D3436"/>
                </a:solidFill>
              </a:rPr>
              <a:t>피치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드론이 앞으로 기울면 전진</a:t>
            </a:r>
            <a:r>
              <a:rPr lang="en-US" altLang="ko-KR" sz="1500">
                <a:solidFill>
                  <a:srgbClr val="2D3436"/>
                </a:solidFill>
              </a:rPr>
              <a:t>,
</a:t>
            </a:r>
            <a:r>
              <a:rPr lang="ko-KR" altLang="en-US" sz="1500">
                <a:solidFill>
                  <a:srgbClr val="2D3436"/>
                </a:solidFill>
              </a:rPr>
              <a:t>뒤로 기울면 후진해요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E8A5E45-4506-0047-97E0-E249BDBDAC21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0E1BC96-32D5-9745-A59E-4708E13FB699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R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C6995-CA93-4B4B-8AA2-3C4A251D3619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롤 조종 </a:t>
            </a:r>
            <a:r>
              <a:rPr lang="en-US" altLang="ko-KR" b="1">
                <a:solidFill>
                  <a:srgbClr val="1E3A5F"/>
                </a:solidFill>
              </a:rPr>
              <a:t>(</a:t>
            </a:r>
            <a:r>
              <a:rPr lang="ko-KR" altLang="en-US" b="1">
                <a:solidFill>
                  <a:srgbClr val="1E3A5F"/>
                </a:solidFill>
              </a:rPr>
              <a:t>좌</a:t>
            </a:r>
            <a:r>
              <a:rPr lang="en-US" altLang="ko-KR" b="1">
                <a:solidFill>
                  <a:srgbClr val="1E3A5F"/>
                </a:solidFill>
              </a:rPr>
              <a:t>/</a:t>
            </a:r>
            <a:r>
              <a:rPr lang="ko-KR" altLang="en-US" b="1">
                <a:solidFill>
                  <a:srgbClr val="1E3A5F"/>
                </a:solidFill>
              </a:rPr>
              <a:t>우</a:t>
            </a:r>
            <a:r>
              <a:rPr lang="en-US" altLang="ko-KR" b="1">
                <a:solidFill>
                  <a:srgbClr val="1E3A5F"/>
                </a:solidFill>
              </a:rPr>
              <a:t>)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D5037E-C200-5141-BD4B-A2AD79F43B79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오른쪽 스틱 좌우 </a:t>
            </a:r>
            <a:r>
              <a:rPr lang="en-US" altLang="ko-KR" sz="1500">
                <a:solidFill>
                  <a:srgbClr val="2D3436"/>
                </a:solidFill>
              </a:rPr>
              <a:t>= </a:t>
            </a:r>
            <a:r>
              <a:rPr lang="ko-KR" altLang="en-US" sz="1500">
                <a:solidFill>
                  <a:srgbClr val="2D3436"/>
                </a:solidFill>
              </a:rPr>
              <a:t>롤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드론이 옆으로 기울면
그 방향으로 이동해요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D606535-3BDB-5D41-B097-DD4E032E56F3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04C21C7-49B9-5644-ACE1-16867FB1C955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L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0DE6F1-F50D-AA4E-ADA8-F8EB5CF4EFE5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직선 비행 연습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E4A0F1-24E5-294C-8E1E-16748DAF67E3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A </a:t>
            </a:r>
            <a:r>
              <a:rPr lang="ko-KR" altLang="en-US" sz="1500">
                <a:solidFill>
                  <a:srgbClr val="2D3436"/>
                </a:solidFill>
              </a:rPr>
              <a:t>지점에서 </a:t>
            </a:r>
            <a:r>
              <a:rPr lang="en" altLang="ko-Kore-KR" sz="1500">
                <a:solidFill>
                  <a:srgbClr val="2D3436"/>
                </a:solidFill>
              </a:rPr>
              <a:t>B </a:t>
            </a:r>
            <a:r>
              <a:rPr lang="ko-KR" altLang="en-US" sz="1500">
                <a:solidFill>
                  <a:srgbClr val="2D3436"/>
                </a:solidFill>
              </a:rPr>
              <a:t>지점까지
일직선으로 비행해봐요</a:t>
            </a:r>
            <a:r>
              <a:rPr lang="en-US" altLang="ko-KR" sz="1500">
                <a:solidFill>
                  <a:srgbClr val="2D3436"/>
                </a:solidFill>
              </a:rPr>
              <a:t>.
</a:t>
            </a:r>
            <a:r>
              <a:rPr lang="ko-KR" altLang="en-US" sz="1500">
                <a:solidFill>
                  <a:srgbClr val="2D3436"/>
                </a:solidFill>
              </a:rPr>
              <a:t>고도 유지하면서 이동하기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59A9BC04-C8BB-7C49-98E3-F59ED91F11BE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3DFC374-84F5-7F4B-8CAC-290F2ED05EA3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S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FA9A9B-67E8-4B4F-98CC-95C3D0B10BA0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사각형 비행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298658-E1AD-9A49-9FC8-A814A09F5316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전진 → 우측 → 후진 → 좌측
사각형 경로를 따라 비행하기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기본기의 종합 연습이에요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426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AF60B1-80AC-7221-3867-551EB23B5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8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회전과 방향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49C33460-F6E6-BB46-96B3-5C5DBFAE8F0F}"/>
              </a:ext>
            </a:extLst>
          </p:cNvPr>
          <p:cNvSpPr/>
          <p:nvPr/>
        </p:nvSpPr>
        <p:spPr>
          <a:xfrm>
            <a:off x="508000" y="1016000"/>
            <a:ext cx="2540000" cy="381000"/>
          </a:xfrm>
          <a:prstGeom prst="roundRect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2 · </a:t>
            </a:r>
            <a:r>
              <a:rPr lang="ko-KR" altLang="en-US" sz="1400" b="1">
                <a:solidFill>
                  <a:srgbClr val="FFFFFF"/>
                </a:solidFill>
              </a:rPr>
              <a:t>시뮬레이터 조종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729682DF-D656-E642-9C22-45DA43CF6B1D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2AD6134-8D2B-7E49-BFE5-2D3079667803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Y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981400-F916-2447-8AC6-2F7DC18A6A1E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요</a:t>
            </a:r>
            <a:r>
              <a:rPr lang="en-US" altLang="ko-KR" b="1">
                <a:solidFill>
                  <a:srgbClr val="1E3A5F"/>
                </a:solidFill>
              </a:rPr>
              <a:t>(</a:t>
            </a:r>
            <a:r>
              <a:rPr lang="en" altLang="ko-Kore-KR" b="1">
                <a:solidFill>
                  <a:srgbClr val="1E3A5F"/>
                </a:solidFill>
              </a:rPr>
              <a:t>Yaw) </a:t>
            </a:r>
            <a:r>
              <a:rPr lang="ko-KR" altLang="en-US" b="1">
                <a:solidFill>
                  <a:srgbClr val="1E3A5F"/>
                </a:solidFill>
              </a:rPr>
              <a:t>조종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529504-6BE8-FC49-86A9-4C19CC7853A2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왼쪽 스틱 좌우 </a:t>
            </a:r>
            <a:r>
              <a:rPr lang="en-US" altLang="ko-KR" sz="1500">
                <a:solidFill>
                  <a:srgbClr val="2D3436"/>
                </a:solidFill>
              </a:rPr>
              <a:t>= </a:t>
            </a:r>
            <a:r>
              <a:rPr lang="ko-KR" altLang="en-US" sz="1500">
                <a:solidFill>
                  <a:srgbClr val="2D3436"/>
                </a:solidFill>
              </a:rPr>
              <a:t>요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드론의 머리</a:t>
            </a:r>
            <a:r>
              <a:rPr lang="en-US" altLang="ko-KR" sz="1500">
                <a:solidFill>
                  <a:srgbClr val="2D3436"/>
                </a:solidFill>
              </a:rPr>
              <a:t>(</a:t>
            </a:r>
            <a:r>
              <a:rPr lang="ko-KR" altLang="en-US" sz="1500">
                <a:solidFill>
                  <a:srgbClr val="2D3436"/>
                </a:solidFill>
              </a:rPr>
              <a:t>전방</a:t>
            </a:r>
            <a:r>
              <a:rPr lang="en-US" altLang="ko-KR" sz="1500">
                <a:solidFill>
                  <a:srgbClr val="2D3436"/>
                </a:solidFill>
              </a:rPr>
              <a:t>) </a:t>
            </a:r>
            <a:r>
              <a:rPr lang="ko-KR" altLang="en-US" sz="1500">
                <a:solidFill>
                  <a:srgbClr val="2D3436"/>
                </a:solidFill>
              </a:rPr>
              <a:t>방향을
원하는 곳으로 돌려봐요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C046F7A6-1B59-AC42-AF94-A0EEF2E7B145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F7C6875-0FBD-2746-BBFD-464941F8028B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N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1C8DBA-3677-9643-A014-24AB7FEBCCAF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목표 방향 맞추기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994CF1-4F83-8E41-B869-DF1D48D49BD9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특정 목표물을 바라보도록
요를 조절하는 연습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정확한 방향 제어가 핵심이에요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CF8232D-91F5-6D45-B14B-82477D9CD1DA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143744B-0D58-1B46-81FA-5AC08B037A7D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C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E00E3D-32A2-4743-BB3D-D3EBB6E14A9B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복합 조종 연습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56F59F-4C57-C24B-B357-303527FABA85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이동하면서 동시에 회전하기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피치 </a:t>
            </a:r>
            <a:r>
              <a:rPr lang="en-US" altLang="ko-KR" sz="1500">
                <a:solidFill>
                  <a:srgbClr val="2D3436"/>
                </a:solidFill>
              </a:rPr>
              <a:t>+ </a:t>
            </a:r>
            <a:r>
              <a:rPr lang="ko-KR" altLang="en-US" sz="1500">
                <a:solidFill>
                  <a:srgbClr val="2D3436"/>
                </a:solidFill>
              </a:rPr>
              <a:t>롤 </a:t>
            </a:r>
            <a:r>
              <a:rPr lang="en-US" altLang="ko-KR" sz="1500">
                <a:solidFill>
                  <a:srgbClr val="2D3436"/>
                </a:solidFill>
              </a:rPr>
              <a:t>+ </a:t>
            </a:r>
            <a:r>
              <a:rPr lang="ko-KR" altLang="en-US" sz="1500">
                <a:solidFill>
                  <a:srgbClr val="2D3436"/>
                </a:solidFill>
              </a:rPr>
              <a:t>요를 함께 사용해서
자유자재 비행에 도전해요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D28C90E0-0AE1-2143-89F5-DF59C782BE3C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E12E26E-F189-C749-A412-88F6B9FBD85B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T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85F74E-B616-D84E-85E2-AA853292093C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b="1">
                <a:solidFill>
                  <a:srgbClr val="1E3A5F"/>
                </a:solidFill>
              </a:rPr>
              <a:t>Phase 2 </a:t>
            </a:r>
            <a:r>
              <a:rPr lang="ko-KR" altLang="en-US" b="1">
                <a:solidFill>
                  <a:srgbClr val="1E3A5F"/>
                </a:solidFill>
              </a:rPr>
              <a:t>종합 평가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45721B-1B36-9646-BA78-2416A0236F3F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이륙 → 이동 → 회전 → 착륙
전 과정을 자연스럽게 연결하는
종합 비행 테스트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562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850EC7-875E-CDC8-330D-9B99DE0D6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9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기초 미션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98A303A5-5BB5-D54C-B89C-6B88F698F102}"/>
              </a:ext>
            </a:extLst>
          </p:cNvPr>
          <p:cNvSpPr/>
          <p:nvPr/>
        </p:nvSpPr>
        <p:spPr>
          <a:xfrm>
            <a:off x="508000" y="1016000"/>
            <a:ext cx="2413000" cy="381000"/>
          </a:xfrm>
          <a:prstGeom prst="roundRect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3 · </a:t>
            </a:r>
            <a:r>
              <a:rPr lang="ko-KR" altLang="en-US" sz="1400" b="1">
                <a:solidFill>
                  <a:srgbClr val="FFFFFF"/>
                </a:solidFill>
              </a:rPr>
              <a:t>미션 수행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CC49BE78-4DDA-EE45-8797-7C53694B4CBE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EFBEBCE-CA2A-D64E-87CC-112DEB62AFDA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1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62DD88-F19F-924C-9243-CEC7E3DB6762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미션 </a:t>
            </a:r>
            <a:r>
              <a:rPr lang="en-US" altLang="ko-KR" b="1">
                <a:solidFill>
                  <a:srgbClr val="1E3A5F"/>
                </a:solidFill>
              </a:rPr>
              <a:t>1: </a:t>
            </a:r>
            <a:r>
              <a:rPr lang="ko-KR" altLang="en-US" b="1">
                <a:solidFill>
                  <a:srgbClr val="1E3A5F"/>
                </a:solidFill>
              </a:rPr>
              <a:t>안전 이륙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2D7670-594C-844E-9A99-D93FB7DA0F39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지정된 이륙 지점에서
안정적으로 목표 고도까지
이륙하기</a:t>
            </a:r>
            <a:r>
              <a:rPr lang="en-US" altLang="ko-KR" sz="1500">
                <a:solidFill>
                  <a:srgbClr val="2D3436"/>
                </a:solidFill>
              </a:rPr>
              <a:t>! (5</a:t>
            </a:r>
            <a:r>
              <a:rPr lang="en" altLang="ko-Kore-KR" sz="1500">
                <a:solidFill>
                  <a:srgbClr val="2D3436"/>
                </a:solidFill>
              </a:rPr>
              <a:t>m </a:t>
            </a:r>
            <a:r>
              <a:rPr lang="ko-KR" altLang="en-US" sz="1500">
                <a:solidFill>
                  <a:srgbClr val="2D3436"/>
                </a:solidFill>
              </a:rPr>
              <a:t>도달</a:t>
            </a:r>
            <a:r>
              <a:rPr lang="en-US" altLang="ko-KR" sz="1500">
                <a:solidFill>
                  <a:srgbClr val="2D3436"/>
                </a:solidFill>
              </a:rPr>
              <a:t>)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CFDE9B01-8EE6-554F-ACC0-D3BB912E2AE1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D583611-379A-A148-9CE1-1400617884D7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2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CA1C46-01AD-674D-BB90-20EF77D6DA77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미션 </a:t>
            </a:r>
            <a:r>
              <a:rPr lang="en-US" altLang="ko-KR" b="1">
                <a:solidFill>
                  <a:srgbClr val="1E3A5F"/>
                </a:solidFill>
              </a:rPr>
              <a:t>2: </a:t>
            </a:r>
            <a:r>
              <a:rPr lang="ko-KR" altLang="en-US" b="1">
                <a:solidFill>
                  <a:srgbClr val="1E3A5F"/>
                </a:solidFill>
              </a:rPr>
              <a:t>정밀 착륙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5B9C5C-6406-F54F-AB38-76A30D76682D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표시된 착륙 패드 위에
정확하게 착륙하기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좌우 오차 </a:t>
            </a:r>
            <a:r>
              <a:rPr lang="en-US" altLang="ko-KR" sz="1500">
                <a:solidFill>
                  <a:srgbClr val="2D3436"/>
                </a:solidFill>
              </a:rPr>
              <a:t>1</a:t>
            </a:r>
            <a:r>
              <a:rPr lang="en" altLang="ko-Kore-KR" sz="1500">
                <a:solidFill>
                  <a:srgbClr val="2D3436"/>
                </a:solidFill>
              </a:rPr>
              <a:t>m </a:t>
            </a:r>
            <a:r>
              <a:rPr lang="ko-KR" altLang="en-US" sz="1500">
                <a:solidFill>
                  <a:srgbClr val="2D3436"/>
                </a:solidFill>
              </a:rPr>
              <a:t>이내 목표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4FA7EE0E-5124-0340-BA89-63445625CD13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7256C16-8D2B-CB43-B98A-404FBD842513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3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4E3281-8796-FD4F-858B-DFFD80ABE4F7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미션 </a:t>
            </a:r>
            <a:r>
              <a:rPr lang="en-US" altLang="ko-KR" b="1">
                <a:solidFill>
                  <a:srgbClr val="1E3A5F"/>
                </a:solidFill>
              </a:rPr>
              <a:t>3: </a:t>
            </a:r>
            <a:r>
              <a:rPr lang="ko-KR" altLang="en-US" b="1">
                <a:solidFill>
                  <a:srgbClr val="1E3A5F"/>
                </a:solidFill>
              </a:rPr>
              <a:t>고도 유지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0E0831-78DA-B547-9DD4-B80D20F7ECAA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10m </a:t>
            </a:r>
            <a:r>
              <a:rPr lang="ko-KR" altLang="en-US" sz="1500">
                <a:solidFill>
                  <a:srgbClr val="2D3436"/>
                </a:solidFill>
              </a:rPr>
              <a:t>높이에서 </a:t>
            </a:r>
            <a:r>
              <a:rPr lang="en-US" altLang="ko-KR" sz="1500">
                <a:solidFill>
                  <a:srgbClr val="2D3436"/>
                </a:solidFill>
              </a:rPr>
              <a:t>30</a:t>
            </a:r>
            <a:r>
              <a:rPr lang="ko-KR" altLang="en-US" sz="1500">
                <a:solidFill>
                  <a:srgbClr val="2D3436"/>
                </a:solidFill>
              </a:rPr>
              <a:t>초간
고도를 일정하게 유지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오차 </a:t>
            </a:r>
            <a:r>
              <a:rPr lang="en-US" altLang="ko-KR" sz="1500">
                <a:solidFill>
                  <a:srgbClr val="2D3436"/>
                </a:solidFill>
              </a:rPr>
              <a:t>±1</a:t>
            </a:r>
            <a:r>
              <a:rPr lang="en" altLang="ko-Kore-KR" sz="1500">
                <a:solidFill>
                  <a:srgbClr val="2D3436"/>
                </a:solidFill>
              </a:rPr>
              <a:t>m </a:t>
            </a:r>
            <a:r>
              <a:rPr lang="ko-KR" altLang="en-US" sz="1500">
                <a:solidFill>
                  <a:srgbClr val="2D3436"/>
                </a:solidFill>
              </a:rPr>
              <a:t>이내 도전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40E935FB-AE96-054E-8793-DC2D7DF082C6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1D2B432-37BD-F949-96CC-6C3D52378823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S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901F82-6D34-9144-BF9E-5F4BC08791AC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점수와 피드백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F67505-2CB1-0E4F-A864-6CCE31DCB7ED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각 미션별 점수 시스템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정확도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시간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안정성을
종합 평가해요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159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670A1-4735-08A0-6035-C3D8F27F5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10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이동 미션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4A5FA25B-02C8-994D-8F80-2C1BDCCB5136}"/>
              </a:ext>
            </a:extLst>
          </p:cNvPr>
          <p:cNvSpPr/>
          <p:nvPr/>
        </p:nvSpPr>
        <p:spPr>
          <a:xfrm>
            <a:off x="508000" y="1016000"/>
            <a:ext cx="2413000" cy="381000"/>
          </a:xfrm>
          <a:prstGeom prst="roundRect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3 · </a:t>
            </a:r>
            <a:r>
              <a:rPr lang="ko-KR" altLang="en-US" sz="1400" b="1">
                <a:solidFill>
                  <a:srgbClr val="FFFFFF"/>
                </a:solidFill>
              </a:rPr>
              <a:t>미션 수행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B4658A93-A146-6F4F-B934-517E8C9256AC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4C49B50-0DBC-3344-84F4-2457C63C1FA6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4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566680-B0AD-4345-BCEC-C0CD49B1D230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미션 </a:t>
            </a:r>
            <a:r>
              <a:rPr lang="en-US" altLang="ko-KR" b="1">
                <a:solidFill>
                  <a:srgbClr val="1E3A5F"/>
                </a:solidFill>
              </a:rPr>
              <a:t>4: </a:t>
            </a:r>
            <a:r>
              <a:rPr lang="ko-KR" altLang="en-US" b="1">
                <a:solidFill>
                  <a:srgbClr val="1E3A5F"/>
                </a:solidFill>
              </a:rPr>
              <a:t>직진 비행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01DEA-998E-0845-8838-0F2E0F90CBE9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A→B </a:t>
            </a:r>
            <a:r>
              <a:rPr lang="ko-KR" altLang="en-US" sz="1500">
                <a:solidFill>
                  <a:srgbClr val="2D3436"/>
                </a:solidFill>
              </a:rPr>
              <a:t>직선 경로를 따라
정확하게 비행하기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경로 이탈 최소화 도전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30271A51-4DD2-5E40-A87C-9155569A1D92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180B8C1-72F0-E648-AB0C-4BE13A4B7618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5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F7DBB0-54DE-6144-91A8-4F330000A7C7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미션 </a:t>
            </a:r>
            <a:r>
              <a:rPr lang="en-US" altLang="ko-KR" b="1">
                <a:solidFill>
                  <a:srgbClr val="1E3A5F"/>
                </a:solidFill>
              </a:rPr>
              <a:t>5: </a:t>
            </a:r>
            <a:r>
              <a:rPr lang="ko-KR" altLang="en-US" b="1">
                <a:solidFill>
                  <a:srgbClr val="1E3A5F"/>
                </a:solidFill>
              </a:rPr>
              <a:t>링 통과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2CF047-4624-0740-86C7-29DA8E6A9443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공중에 떠 있는 링을
통과하며 비행하기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정밀한 고도</a:t>
            </a:r>
            <a:r>
              <a:rPr lang="en-US" altLang="ko-KR" sz="1500">
                <a:solidFill>
                  <a:srgbClr val="2D3436"/>
                </a:solidFill>
              </a:rPr>
              <a:t>/</a:t>
            </a:r>
            <a:r>
              <a:rPr lang="ko-KR" altLang="en-US" sz="1500">
                <a:solidFill>
                  <a:srgbClr val="2D3436"/>
                </a:solidFill>
              </a:rPr>
              <a:t>방향 제어 필요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C90B10ED-A9E1-134B-A7A3-A15EA92EA440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5F4EDEE-685A-C24B-93E1-4DEA6E9A79D3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6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8BF526-4CB8-9849-B2E9-30525ED11E97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미션 </a:t>
            </a:r>
            <a:r>
              <a:rPr lang="en-US" altLang="ko-KR" b="1">
                <a:solidFill>
                  <a:srgbClr val="1E3A5F"/>
                </a:solidFill>
              </a:rPr>
              <a:t>6: </a:t>
            </a:r>
            <a:r>
              <a:rPr lang="ko-KR" altLang="en-US" b="1">
                <a:solidFill>
                  <a:srgbClr val="1E3A5F"/>
                </a:solidFill>
              </a:rPr>
              <a:t>웨이포인트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58D06D-A482-3743-A6BF-919B3CB44DA2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여러 지점을 순서대로
방문하는 경유점 비행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효율적인 경로 계획이 핵심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CA34FF96-8769-9D48-932B-4F3B32FA3A56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1D64917-865B-A149-B134-36B381857E17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T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37D46C-682B-024E-8841-597F21DE0C92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미션 팁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9EB5A7-1C43-D74E-A01B-0B708EC7AB4C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급조작은 금물</a:t>
            </a:r>
            <a:r>
              <a:rPr lang="en-US" altLang="ko-KR" sz="1500">
                <a:solidFill>
                  <a:srgbClr val="2D3436"/>
                </a:solidFill>
              </a:rPr>
              <a:t>! </a:t>
            </a:r>
            <a:r>
              <a:rPr lang="ko-KR" altLang="en-US" sz="1500">
                <a:solidFill>
                  <a:srgbClr val="2D3436"/>
                </a:solidFill>
              </a:rPr>
              <a:t>부드러운
스틱 조작이 점수의 비결</a:t>
            </a:r>
            <a:r>
              <a:rPr lang="en-US" altLang="ko-KR" sz="1500">
                <a:solidFill>
                  <a:srgbClr val="2D3436"/>
                </a:solidFill>
              </a:rPr>
              <a:t>.
</a:t>
            </a:r>
            <a:r>
              <a:rPr lang="ko-KR" altLang="en-US" sz="1500">
                <a:solidFill>
                  <a:srgbClr val="2D3436"/>
                </a:solidFill>
              </a:rPr>
              <a:t>미리 경로를 머릿속에 그려봐요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934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A20294-C687-DF39-7DB9-11DF6913D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11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복합 미션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529285AE-8E99-1545-A2E5-A3DA4C44072C}"/>
              </a:ext>
            </a:extLst>
          </p:cNvPr>
          <p:cNvSpPr/>
          <p:nvPr/>
        </p:nvSpPr>
        <p:spPr>
          <a:xfrm>
            <a:off x="508000" y="1016000"/>
            <a:ext cx="2413000" cy="381000"/>
          </a:xfrm>
          <a:prstGeom prst="roundRect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3 · </a:t>
            </a:r>
            <a:r>
              <a:rPr lang="ko-KR" altLang="en-US" sz="1400" b="1">
                <a:solidFill>
                  <a:srgbClr val="FFFFFF"/>
                </a:solidFill>
              </a:rPr>
              <a:t>미션 수행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402F86D-BFE3-2C41-B4DC-1F81BAB2B14B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2005D8E-42A2-C14F-8D01-C56698103011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7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FF06BB-D75D-F742-A1C8-832644579C5D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미션 </a:t>
            </a:r>
            <a:r>
              <a:rPr lang="en-US" altLang="ko-KR" b="1">
                <a:solidFill>
                  <a:srgbClr val="1E3A5F"/>
                </a:solidFill>
              </a:rPr>
              <a:t>7: </a:t>
            </a:r>
            <a:r>
              <a:rPr lang="ko-KR" altLang="en-US" b="1">
                <a:solidFill>
                  <a:srgbClr val="1E3A5F"/>
                </a:solidFill>
              </a:rPr>
              <a:t>정밀 착륙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835188-BEA6-0E4F-B075-914A303AD860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높은 곳에서 좁은 착륙 패드에
정확히 내려앉기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수직 하강 </a:t>
            </a:r>
            <a:r>
              <a:rPr lang="en-US" altLang="ko-KR" sz="1500">
                <a:solidFill>
                  <a:srgbClr val="2D3436"/>
                </a:solidFill>
              </a:rPr>
              <a:t>+ </a:t>
            </a:r>
            <a:r>
              <a:rPr lang="ko-KR" altLang="en-US" sz="1500">
                <a:solidFill>
                  <a:srgbClr val="2D3436"/>
                </a:solidFill>
              </a:rPr>
              <a:t>위치 보정 연습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9938E06-E04C-BC4A-A5F6-BAD08A517E7C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CD9CB2C-421E-2140-8307-6437A9E7499F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8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DFDD34-77A2-2148-AE9B-238C03CE0F8B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미션 </a:t>
            </a:r>
            <a:r>
              <a:rPr lang="en-US" altLang="ko-KR" b="1">
                <a:solidFill>
                  <a:srgbClr val="1E3A5F"/>
                </a:solidFill>
              </a:rPr>
              <a:t>8: </a:t>
            </a:r>
            <a:r>
              <a:rPr lang="ko-KR" altLang="en-US" b="1">
                <a:solidFill>
                  <a:srgbClr val="1E3A5F"/>
                </a:solidFill>
              </a:rPr>
              <a:t>장애물 회피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CE72C8-4761-2948-B696-3EDF4B2803F0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장애물 사이를 피해서
안전하게 목표 지점 도달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공간 인지 능력을 키워요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D817D3AC-5361-1142-AF87-224F545AC324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39E5980-7F22-9341-B90D-22C30A257697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9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D99A69-42D2-B147-BB2D-CDBBE0BB74C8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미션 </a:t>
            </a:r>
            <a:r>
              <a:rPr lang="en-US" altLang="ko-KR" b="1">
                <a:solidFill>
                  <a:srgbClr val="1E3A5F"/>
                </a:solidFill>
              </a:rPr>
              <a:t>9: </a:t>
            </a:r>
            <a:r>
              <a:rPr lang="en" altLang="ko-Kore-KR" b="1">
                <a:solidFill>
                  <a:srgbClr val="1E3A5F"/>
                </a:solidFill>
              </a:rPr>
              <a:t>S</a:t>
            </a:r>
            <a:r>
              <a:rPr lang="ko-KR" altLang="en-US" b="1">
                <a:solidFill>
                  <a:srgbClr val="1E3A5F"/>
                </a:solidFill>
              </a:rPr>
              <a:t>자 비행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061C24-F2FD-C442-93A0-718678F9D432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S</a:t>
            </a:r>
            <a:r>
              <a:rPr lang="ko-KR" altLang="en-US" sz="1500">
                <a:solidFill>
                  <a:srgbClr val="2D3436"/>
                </a:solidFill>
              </a:rPr>
              <a:t>자 곡선 경로를 따라
부드럽게 비행하기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롤 </a:t>
            </a:r>
            <a:r>
              <a:rPr lang="en-US" altLang="ko-KR" sz="1500">
                <a:solidFill>
                  <a:srgbClr val="2D3436"/>
                </a:solidFill>
              </a:rPr>
              <a:t>+ </a:t>
            </a:r>
            <a:r>
              <a:rPr lang="ko-KR" altLang="en-US" sz="1500">
                <a:solidFill>
                  <a:srgbClr val="2D3436"/>
                </a:solidFill>
              </a:rPr>
              <a:t>피치 복합 조종 연습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49866D85-19B9-234D-BC0D-B7A957274C6F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DE2C1BB-5EEA-CD43-9E33-09D4B9DF7139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10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DB29CA-E3D0-7D47-91A3-468C783A03A5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미션 </a:t>
            </a:r>
            <a:r>
              <a:rPr lang="en-US" altLang="ko-KR" b="1">
                <a:solidFill>
                  <a:srgbClr val="1E3A5F"/>
                </a:solidFill>
              </a:rPr>
              <a:t>10: </a:t>
            </a:r>
            <a:r>
              <a:rPr lang="ko-KR" altLang="en-US" b="1">
                <a:solidFill>
                  <a:srgbClr val="1E3A5F"/>
                </a:solidFill>
              </a:rPr>
              <a:t>복합 코스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196492-508F-5940-A809-A8F4CC8D4A3B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이륙 → 링 통과 → 장애물 회피
→ 정밀 착륙까지</a:t>
            </a:r>
            <a:r>
              <a:rPr lang="en-US" altLang="ko-KR" sz="1500">
                <a:solidFill>
                  <a:srgbClr val="2D3436"/>
                </a:solidFill>
              </a:rPr>
              <a:t>! </a:t>
            </a:r>
            <a:r>
              <a:rPr lang="ko-KR" altLang="en-US" sz="1500">
                <a:solidFill>
                  <a:srgbClr val="2D3436"/>
                </a:solidFill>
              </a:rPr>
              <a:t>전 기술을
종합하는 도전 미션이에요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062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F2D31-DE42-7C5C-9163-CDF05A72A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12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도전 미션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8BCE1A8C-7B32-B540-A47A-9CDA76D2A6C0}"/>
              </a:ext>
            </a:extLst>
          </p:cNvPr>
          <p:cNvSpPr/>
          <p:nvPr/>
        </p:nvSpPr>
        <p:spPr>
          <a:xfrm>
            <a:off x="508000" y="1016000"/>
            <a:ext cx="2413000" cy="381000"/>
          </a:xfrm>
          <a:prstGeom prst="roundRect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3 · </a:t>
            </a:r>
            <a:r>
              <a:rPr lang="ko-KR" altLang="en-US" sz="1400" b="1">
                <a:solidFill>
                  <a:srgbClr val="FFFFFF"/>
                </a:solidFill>
              </a:rPr>
              <a:t>미션 수행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DE7FC91-E43F-6343-B6C6-B03AF82189AF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03A626A-87A8-B347-83E6-61274771B72D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!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FD697-7E4E-6543-B8A6-8AADB3C24A00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미션 </a:t>
            </a:r>
            <a:r>
              <a:rPr lang="en-US" altLang="ko-KR" b="1">
                <a:solidFill>
                  <a:srgbClr val="1E3A5F"/>
                </a:solidFill>
              </a:rPr>
              <a:t>11~13: </a:t>
            </a:r>
            <a:r>
              <a:rPr lang="ko-KR" altLang="en-US" b="1">
                <a:solidFill>
                  <a:srgbClr val="1E3A5F"/>
                </a:solidFill>
              </a:rPr>
              <a:t>타임어택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9A2886-1CE5-3B4B-9A4D-EACC801049F6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정해진 코스를 최단 시간에
완주하는 스피드 도전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속도와 정확성의 균형이 핵심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82BF9282-485A-4C4C-80A8-CCFD2CE02A06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0D2DA29-426B-4147-8D5E-94633228C031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F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6FA39-28E3-4440-B707-2526D95439EB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미션 </a:t>
            </a:r>
            <a:r>
              <a:rPr lang="en-US" altLang="ko-KR" b="1">
                <a:solidFill>
                  <a:srgbClr val="1E3A5F"/>
                </a:solidFill>
              </a:rPr>
              <a:t>14: </a:t>
            </a:r>
            <a:r>
              <a:rPr lang="ko-KR" altLang="en-US" b="1">
                <a:solidFill>
                  <a:srgbClr val="1E3A5F"/>
                </a:solidFill>
              </a:rPr>
              <a:t>자유 비행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959AEA-CB4B-9D4C-8203-4EC9DCC0D48B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자유롭게 비행하며
나만의 멋진 비행 경로를
만들어보는 창작 미션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9082F67E-9F7D-4140-BA57-0AA14C62E732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2383EEF-7A32-944D-9E6F-49CF87B49B78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C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072BFE-AFB3-F847-9C3B-36A9598BB4F2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미션 </a:t>
            </a:r>
            <a:r>
              <a:rPr lang="en-US" altLang="ko-KR" b="1">
                <a:solidFill>
                  <a:srgbClr val="1E3A5F"/>
                </a:solidFill>
              </a:rPr>
              <a:t>15: </a:t>
            </a:r>
            <a:r>
              <a:rPr lang="ko-KR" altLang="en-US" b="1">
                <a:solidFill>
                  <a:srgbClr val="1E3A5F"/>
                </a:solidFill>
              </a:rPr>
              <a:t>종합 챌린지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E88A05-046E-6540-BEEB-5608DFDB810B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가장 어려운 최종 미션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모든 기술을 동원해서
완벽한 비행을 보여줘요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D0DFE9DF-B017-9148-A561-681CFDD76338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F9CD775-6191-CF42-9855-701A14013F71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R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F0C77A-B9F1-164D-B87F-C1EE1699AF8E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b="1">
                <a:solidFill>
                  <a:srgbClr val="1E3A5F"/>
                </a:solidFill>
              </a:rPr>
              <a:t>Phase 3 </a:t>
            </a:r>
            <a:r>
              <a:rPr lang="ko-KR" altLang="en-US" b="1">
                <a:solidFill>
                  <a:srgbClr val="1E3A5F"/>
                </a:solidFill>
              </a:rPr>
              <a:t>성과 리뷰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D7633C-94E6-CB46-AD4A-C1BD92ABE2FF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>
                <a:solidFill>
                  <a:srgbClr val="2D3436"/>
                </a:solidFill>
              </a:rPr>
              <a:t>15</a:t>
            </a:r>
            <a:r>
              <a:rPr lang="ko-KR" altLang="en-US" sz="1500">
                <a:solidFill>
                  <a:srgbClr val="2D3436"/>
                </a:solidFill>
              </a:rPr>
              <a:t>개 미션 달성률 확인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잘한 점과 개선할 점을
돌아보는 시간이에요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949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856A4-32B4-BB2B-041C-5E6B3EAE0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13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블록 코딩 입문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70178C78-B94F-A846-874D-89DE63087454}"/>
              </a:ext>
            </a:extLst>
          </p:cNvPr>
          <p:cNvSpPr/>
          <p:nvPr/>
        </p:nvSpPr>
        <p:spPr>
          <a:xfrm>
            <a:off x="508000" y="1016000"/>
            <a:ext cx="2413000" cy="381000"/>
          </a:xfrm>
          <a:prstGeom prst="round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4 · </a:t>
            </a:r>
            <a:r>
              <a:rPr lang="ko-KR" altLang="en-US" sz="1400" b="1">
                <a:solidFill>
                  <a:srgbClr val="FFFFFF"/>
                </a:solidFill>
              </a:rPr>
              <a:t>블록 코딩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93B3852-8C36-4D45-8C7C-78E20CDC4870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3BB5F59-FB64-CE4E-8AD8-FCDB7F14B927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B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362898-FC2D-F646-98B5-F5111D000882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블록 에디터 소개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623463-AC50-CF46-A273-4C8DB5CF65E5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블록 코딩 에디터의 화면 구성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블록을 드래그해서 연결하는
방법을 배워요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C6A3A1DD-9FEC-F546-9397-975188B7749C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618EF12-E14C-DA45-B338-61A576FD3B2C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U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B269C5-42B8-504B-B4F1-20FCF1BE91FB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이륙</a:t>
            </a:r>
            <a:r>
              <a:rPr lang="en-US" altLang="ko-KR" b="1">
                <a:solidFill>
                  <a:srgbClr val="1E3A5F"/>
                </a:solidFill>
              </a:rPr>
              <a:t>/</a:t>
            </a:r>
            <a:r>
              <a:rPr lang="ko-KR" altLang="en-US" b="1">
                <a:solidFill>
                  <a:srgbClr val="1E3A5F"/>
                </a:solidFill>
              </a:rPr>
              <a:t>착륙 블록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66067C-7A7E-CF49-B972-C299BB2A611C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takeoff() </a:t>
            </a:r>
            <a:r>
              <a:rPr lang="ko-KR" altLang="en-US" sz="1500">
                <a:solidFill>
                  <a:srgbClr val="2D3436"/>
                </a:solidFill>
              </a:rPr>
              <a:t>블록과 </a:t>
            </a:r>
            <a:r>
              <a:rPr lang="en" altLang="ko-Kore-KR" sz="1500">
                <a:solidFill>
                  <a:srgbClr val="2D3436"/>
                </a:solidFill>
              </a:rPr>
              <a:t>land() </a:t>
            </a:r>
            <a:r>
              <a:rPr lang="ko-KR" altLang="en-US" sz="1500">
                <a:solidFill>
                  <a:srgbClr val="2D3436"/>
                </a:solidFill>
              </a:rPr>
              <a:t>블록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드론을 코드로 이륙시키고
착륙시키는 첫 프로그램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C23C28C-8FA0-B445-A065-FFF81281E7E0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534FCDF-CFB0-5D4C-93FA-02E0CC996418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W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5B7994-35B1-EF4F-9FAA-621E235C1CF3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대기 블록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A38827-1131-7048-B53C-4A9688797FA4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wait(</a:t>
            </a:r>
            <a:r>
              <a:rPr lang="ko-KR" altLang="en-US" sz="1500">
                <a:solidFill>
                  <a:srgbClr val="2D3436"/>
                </a:solidFill>
              </a:rPr>
              <a:t>초</a:t>
            </a:r>
            <a:r>
              <a:rPr lang="en-US" altLang="ko-KR" sz="1500">
                <a:solidFill>
                  <a:srgbClr val="2D3436"/>
                </a:solidFill>
              </a:rPr>
              <a:t>) </a:t>
            </a:r>
            <a:r>
              <a:rPr lang="ko-KR" altLang="en-US" sz="1500">
                <a:solidFill>
                  <a:srgbClr val="2D3436"/>
                </a:solidFill>
              </a:rPr>
              <a:t>블록으로
동작 사이에 대기 시간을
넣는 방법을 배워요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A0EC8928-310B-0E43-97C7-6756CEB8F20C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3EB5824-E3A5-CD4B-A1A2-0483D57FADE6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P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37586D-27EE-594E-A210-4769D0CAFD63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첫 프로그램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674F67-DE4B-9C4A-93A2-C37BCAC6D498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이륙 → </a:t>
            </a:r>
            <a:r>
              <a:rPr lang="en-US" altLang="ko-KR" sz="1500">
                <a:solidFill>
                  <a:srgbClr val="2D3436"/>
                </a:solidFill>
              </a:rPr>
              <a:t>3</a:t>
            </a:r>
            <a:r>
              <a:rPr lang="ko-KR" altLang="en-US" sz="1500">
                <a:solidFill>
                  <a:srgbClr val="2D3436"/>
                </a:solidFill>
              </a:rPr>
              <a:t>초 대기 → 착륙
가장 간단한 드론 프로그램을
직접 만들어 실행해봐요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658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634F11-CD44-3FE2-7D1C-F29B971A0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14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순차 실행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76804D29-E73F-5E45-9B1C-9FAF1BFD238C}"/>
              </a:ext>
            </a:extLst>
          </p:cNvPr>
          <p:cNvSpPr/>
          <p:nvPr/>
        </p:nvSpPr>
        <p:spPr>
          <a:xfrm>
            <a:off x="508000" y="1016000"/>
            <a:ext cx="2413000" cy="381000"/>
          </a:xfrm>
          <a:prstGeom prst="round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4 · </a:t>
            </a:r>
            <a:r>
              <a:rPr lang="ko-KR" altLang="en-US" sz="1400" b="1">
                <a:solidFill>
                  <a:srgbClr val="FFFFFF"/>
                </a:solidFill>
              </a:rPr>
              <a:t>블록 코딩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62FA4420-2736-B14B-8087-27C64A0B9664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436A1E1-71DF-AC41-9D7F-F74985DC4009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M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9C37CC-1B33-8747-BFC4-58E7143B1130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이동 블록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DD563-6986-ED41-BBCC-939551353F63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moveTo(x, y, z) </a:t>
            </a:r>
            <a:r>
              <a:rPr lang="ko-KR" altLang="en-US" sz="1500">
                <a:solidFill>
                  <a:srgbClr val="2D3436"/>
                </a:solidFill>
              </a:rPr>
              <a:t>블록으로
원하는 좌표로 이동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순서대로 실행되는 순차 구조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08531C1C-736F-6745-AD34-7E70CF7760A7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52A54BA-6B7E-3F4F-9A03-A303125B22B1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S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18D9A1-7E0A-3341-A1A0-90099A312E82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사각형 비행 만들기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7C90E0-44CE-B348-A9D7-C1C5C5F6A2F6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이동 블록 </a:t>
            </a:r>
            <a:r>
              <a:rPr lang="en-US" altLang="ko-KR" sz="1500">
                <a:solidFill>
                  <a:srgbClr val="2D3436"/>
                </a:solidFill>
              </a:rPr>
              <a:t>4</a:t>
            </a:r>
            <a:r>
              <a:rPr lang="ko-KR" altLang="en-US" sz="1500">
                <a:solidFill>
                  <a:srgbClr val="2D3436"/>
                </a:solidFill>
              </a:rPr>
              <a:t>개를 연결해서
사각형 경로 비행 프로그램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좌표 계산이 핵심이에요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8238B397-304D-274C-92E1-C266EEEC4092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8327310-BD72-7348-A76B-CE0037E926ED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T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3AA2E0-AFB3-4F4F-918C-7A9E76F30E9B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삼각형 비행 도전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483F6C-02FA-0C47-85B6-F48771C0DED8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삼각형 꼭짓점 </a:t>
            </a:r>
            <a:r>
              <a:rPr lang="en-US" altLang="ko-KR" sz="1500">
                <a:solidFill>
                  <a:srgbClr val="2D3436"/>
                </a:solidFill>
              </a:rPr>
              <a:t>3</a:t>
            </a:r>
            <a:r>
              <a:rPr lang="ko-KR" altLang="en-US" sz="1500">
                <a:solidFill>
                  <a:srgbClr val="2D3436"/>
                </a:solidFill>
              </a:rPr>
              <a:t>개의 좌표를
계산해서 비행해봐요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수학이 코딩에 활용돼요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46675E85-7DF8-F34B-A7DD-D0C754EF86F7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3CC2663-1B11-5348-A984-4264147AC914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D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7E7214-471C-5D44-9B8A-CE5F2E317F8E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디버깅 배우기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416D69-C34B-854B-B217-5F27BE862642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프로그램이 예상대로 안 될 때
어디가 잘못됐는지 찾는 방법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오류를 고치는 것도 실력이에요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498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9428F-36C1-FC8F-4CB8-60363E33E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15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반복문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0102B8AF-DA46-3E4F-8AAC-A8E3AC4E897C}"/>
              </a:ext>
            </a:extLst>
          </p:cNvPr>
          <p:cNvSpPr/>
          <p:nvPr/>
        </p:nvSpPr>
        <p:spPr>
          <a:xfrm>
            <a:off x="508000" y="1016000"/>
            <a:ext cx="2413000" cy="381000"/>
          </a:xfrm>
          <a:prstGeom prst="round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4 · </a:t>
            </a:r>
            <a:r>
              <a:rPr lang="ko-KR" altLang="en-US" sz="1400" b="1">
                <a:solidFill>
                  <a:srgbClr val="FFFFFF"/>
                </a:solidFill>
              </a:rPr>
              <a:t>블록 코딩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6BF37CE0-BD7C-3944-9585-B26278425B17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7A4A052-0985-7A4E-B03B-6D8AF2F911A5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R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5E7DF1-7A22-C043-99A2-440FA786A327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반복 블록 소개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42E0D9-514B-354E-B8D5-9B04451D9A56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repeat(</a:t>
            </a:r>
            <a:r>
              <a:rPr lang="ko-KR" altLang="en-US" sz="1500">
                <a:solidFill>
                  <a:srgbClr val="2D3436"/>
                </a:solidFill>
              </a:rPr>
              <a:t>횟수</a:t>
            </a:r>
            <a:r>
              <a:rPr lang="en-US" altLang="ko-KR" sz="1500">
                <a:solidFill>
                  <a:srgbClr val="2D3436"/>
                </a:solidFill>
              </a:rPr>
              <a:t>) </a:t>
            </a:r>
            <a:r>
              <a:rPr lang="ko-KR" altLang="en-US" sz="1500">
                <a:solidFill>
                  <a:srgbClr val="2D3436"/>
                </a:solidFill>
              </a:rPr>
              <a:t>블록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같은 동작을 여러 번 반복하면
코드가 훨씬 짧아져요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45944D2-D84B-F64D-A6A7-7D22EC2EEC59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18408F6-CD4D-124C-9083-FFD822DAADD7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O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DADE7D-794F-A145-80C5-F90CAD6ACF9B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원형 비행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54E658-97F4-AB4B-80E3-995307BAE589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조금 이동 </a:t>
            </a:r>
            <a:r>
              <a:rPr lang="en-US" altLang="ko-KR" sz="1500">
                <a:solidFill>
                  <a:srgbClr val="2D3436"/>
                </a:solidFill>
              </a:rPr>
              <a:t>+ </a:t>
            </a:r>
            <a:r>
              <a:rPr lang="ko-KR" altLang="en-US" sz="1500">
                <a:solidFill>
                  <a:srgbClr val="2D3436"/>
                </a:solidFill>
              </a:rPr>
              <a:t>조금 회전을
</a:t>
            </a:r>
            <a:r>
              <a:rPr lang="en-US" altLang="ko-KR" sz="1500">
                <a:solidFill>
                  <a:srgbClr val="2D3436"/>
                </a:solidFill>
              </a:rPr>
              <a:t>36</a:t>
            </a:r>
            <a:r>
              <a:rPr lang="ko-KR" altLang="en-US" sz="1500">
                <a:solidFill>
                  <a:srgbClr val="2D3436"/>
                </a:solidFill>
              </a:rPr>
              <a:t>번 반복하면 원형 비행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반복문의 힘을 체험해요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EC38398B-3C0A-BC46-9DD2-1919E56104B4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7BFE83C-2401-E04D-8084-C7E74B252EEC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P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004D12-B79F-774A-A2E8-167B067AD781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패턴 비행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735144-D92A-A542-AFB1-016AAE1C13B4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별 모양</a:t>
            </a:r>
            <a:r>
              <a:rPr lang="en-US" altLang="ko-KR" sz="1500">
                <a:solidFill>
                  <a:srgbClr val="2D3436"/>
                </a:solidFill>
              </a:rPr>
              <a:t>, 8</a:t>
            </a:r>
            <a:r>
              <a:rPr lang="ko-KR" altLang="en-US" sz="1500">
                <a:solidFill>
                  <a:srgbClr val="2D3436"/>
                </a:solidFill>
              </a:rPr>
              <a:t>자 모양 등
반복문으로 멋진 비행 패턴을
만들어봐요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26F8B5AB-F687-4741-8D16-62B838DE4293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6E37202-DE17-7A4D-8B28-94C53E90378E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N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5A22BA-2FDA-9A4B-8755-6E885178F719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중첩 반복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E352B5-4F51-3745-85BA-3142CCF1769E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반복문 안에 반복문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복잡한 패턴을 만드는
고급 기법을 배워요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39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A46FE-F9A4-046A-8405-08ADC39AF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16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조건문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52B6D8B0-402F-D74A-BDB0-4DFF5478438A}"/>
              </a:ext>
            </a:extLst>
          </p:cNvPr>
          <p:cNvSpPr/>
          <p:nvPr/>
        </p:nvSpPr>
        <p:spPr>
          <a:xfrm>
            <a:off x="508000" y="1016000"/>
            <a:ext cx="2413000" cy="381000"/>
          </a:xfrm>
          <a:prstGeom prst="round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4 · </a:t>
            </a:r>
            <a:r>
              <a:rPr lang="ko-KR" altLang="en-US" sz="1400" b="1">
                <a:solidFill>
                  <a:srgbClr val="FFFFFF"/>
                </a:solidFill>
              </a:rPr>
              <a:t>블록 코딩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6DE8588-64C9-7B45-B23E-7EEDEFF0AE26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AB4EDF1-CD7E-7F47-A26D-713F7B86229B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?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BE39AB-B964-124A-A68F-46AA0DE6FE8D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조건문 소개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4096F7-90C6-5741-9587-8FD633FDA7B4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if-else </a:t>
            </a:r>
            <a:r>
              <a:rPr lang="ko-KR" altLang="en-US" sz="1500">
                <a:solidFill>
                  <a:srgbClr val="2D3436"/>
                </a:solidFill>
              </a:rPr>
              <a:t>블록</a:t>
            </a:r>
            <a:r>
              <a:rPr lang="en-US" altLang="ko-KR" sz="1500">
                <a:solidFill>
                  <a:srgbClr val="2D3436"/>
                </a:solidFill>
              </a:rPr>
              <a:t>!
'</a:t>
            </a:r>
            <a:r>
              <a:rPr lang="ko-KR" altLang="en-US" sz="1500">
                <a:solidFill>
                  <a:srgbClr val="2D3436"/>
                </a:solidFill>
              </a:rPr>
              <a:t>만약 </a:t>
            </a:r>
            <a:r>
              <a:rPr lang="en-US" altLang="ko-KR" sz="1500">
                <a:solidFill>
                  <a:srgbClr val="2D3436"/>
                </a:solidFill>
              </a:rPr>
              <a:t>~</a:t>
            </a:r>
            <a:r>
              <a:rPr lang="ko-KR" altLang="en-US" sz="1500">
                <a:solidFill>
                  <a:srgbClr val="2D3436"/>
                </a:solidFill>
              </a:rPr>
              <a:t>하면 </a:t>
            </a:r>
            <a:r>
              <a:rPr lang="en-US" altLang="ko-KR" sz="1500">
                <a:solidFill>
                  <a:srgbClr val="2D3436"/>
                </a:solidFill>
              </a:rPr>
              <a:t>~</a:t>
            </a:r>
            <a:r>
              <a:rPr lang="ko-KR" altLang="en-US" sz="1500">
                <a:solidFill>
                  <a:srgbClr val="2D3436"/>
                </a:solidFill>
              </a:rPr>
              <a:t>하고</a:t>
            </a:r>
            <a:r>
              <a:rPr lang="en-US" altLang="ko-KR" sz="1500">
                <a:solidFill>
                  <a:srgbClr val="2D3436"/>
                </a:solidFill>
              </a:rPr>
              <a:t>,
</a:t>
            </a:r>
            <a:r>
              <a:rPr lang="ko-KR" altLang="en-US" sz="1500">
                <a:solidFill>
                  <a:srgbClr val="2D3436"/>
                </a:solidFill>
              </a:rPr>
              <a:t>아니면 </a:t>
            </a:r>
            <a:r>
              <a:rPr lang="en-US" altLang="ko-KR" sz="1500">
                <a:solidFill>
                  <a:srgbClr val="2D3436"/>
                </a:solidFill>
              </a:rPr>
              <a:t>~</a:t>
            </a:r>
            <a:r>
              <a:rPr lang="ko-KR" altLang="en-US" sz="1500">
                <a:solidFill>
                  <a:srgbClr val="2D3436"/>
                </a:solidFill>
              </a:rPr>
              <a:t>해라</a:t>
            </a:r>
            <a:r>
              <a:rPr lang="en-US" altLang="ko-KR" sz="1500">
                <a:solidFill>
                  <a:srgbClr val="2D3436"/>
                </a:solidFill>
              </a:rPr>
              <a:t>' </a:t>
            </a:r>
            <a:r>
              <a:rPr lang="ko-KR" altLang="en-US" sz="1500">
                <a:solidFill>
                  <a:srgbClr val="2D3436"/>
                </a:solidFill>
              </a:rPr>
              <a:t>논리를 배워요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7F74E7F-2C30-5344-A183-0E6560584BEA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7F22E20-FA16-F345-8502-65F577747C99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S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402D8A-33DD-5744-89B0-0695B3E3FD8D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센서 값 읽기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127ABA-CC70-FD4B-83A1-D7CE799C051A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고도 센서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거리 센서 등
드론 센서의 값을 블록으로
읽어오는 방법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5317890-0B4C-984C-A45A-EAA8B4CAC42E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60C1197-6949-F840-B40D-DEB2F3638847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A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1FC342-89F1-8348-8900-223180913BFF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조건 동작 분기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0CC480-71AC-1842-B179-69B1712840DA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>
                <a:solidFill>
                  <a:srgbClr val="2D3436"/>
                </a:solidFill>
              </a:rPr>
              <a:t>'</a:t>
            </a:r>
            <a:r>
              <a:rPr lang="ko-KR" altLang="en-US" sz="1500">
                <a:solidFill>
                  <a:srgbClr val="2D3436"/>
                </a:solidFill>
              </a:rPr>
              <a:t>고도가 </a:t>
            </a:r>
            <a:r>
              <a:rPr lang="en-US" altLang="ko-KR" sz="1500">
                <a:solidFill>
                  <a:srgbClr val="2D3436"/>
                </a:solidFill>
              </a:rPr>
              <a:t>10</a:t>
            </a:r>
            <a:r>
              <a:rPr lang="en" altLang="ko-Kore-KR" sz="1500">
                <a:solidFill>
                  <a:srgbClr val="2D3436"/>
                </a:solidFill>
              </a:rPr>
              <a:t>m </a:t>
            </a:r>
            <a:r>
              <a:rPr lang="ko-KR" altLang="en-US" sz="1500">
                <a:solidFill>
                  <a:srgbClr val="2D3436"/>
                </a:solidFill>
              </a:rPr>
              <a:t>이상이면 정지</a:t>
            </a:r>
            <a:r>
              <a:rPr lang="en-US" altLang="ko-KR" sz="1500">
                <a:solidFill>
                  <a:srgbClr val="2D3436"/>
                </a:solidFill>
              </a:rPr>
              <a:t>,
</a:t>
            </a:r>
            <a:r>
              <a:rPr lang="ko-KR" altLang="en-US" sz="1500">
                <a:solidFill>
                  <a:srgbClr val="2D3436"/>
                </a:solidFill>
              </a:rPr>
              <a:t>아니면 상승</a:t>
            </a:r>
            <a:r>
              <a:rPr lang="en-US" altLang="ko-KR" sz="1500">
                <a:solidFill>
                  <a:srgbClr val="2D3436"/>
                </a:solidFill>
              </a:rPr>
              <a:t>' </a:t>
            </a:r>
            <a:r>
              <a:rPr lang="ko-KR" altLang="en-US" sz="1500">
                <a:solidFill>
                  <a:srgbClr val="2D3436"/>
                </a:solidFill>
              </a:rPr>
              <a:t>같은
조건부 비행 프로그램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34C668D9-CA79-E54F-A886-23A29FE114FA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A6F2FC5-75AB-B148-9ECD-BCEF7F64D8F1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L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F7FDBA-2714-414B-ABF1-95943A87B46B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장애물 감지 비행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3C068F-D95B-B340-9054-E9C9C6E5CF18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센서로 장애물을 감지하면
자동으로 방향을 바꾸는
스마트 비행 프로그램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6816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19039-C970-BDE9-E5D2-4DF92738D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17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블록 코딩 프로젝트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87741312-A897-AF4B-B477-ED7F118D9CBE}"/>
              </a:ext>
            </a:extLst>
          </p:cNvPr>
          <p:cNvSpPr/>
          <p:nvPr/>
        </p:nvSpPr>
        <p:spPr>
          <a:xfrm>
            <a:off x="508000" y="1016000"/>
            <a:ext cx="2413000" cy="381000"/>
          </a:xfrm>
          <a:prstGeom prst="round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4 · </a:t>
            </a:r>
            <a:r>
              <a:rPr lang="ko-KR" altLang="en-US" sz="1400" b="1">
                <a:solidFill>
                  <a:srgbClr val="FFFFFF"/>
                </a:solidFill>
              </a:rPr>
              <a:t>블록 코딩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ABDBACA3-4BF6-4745-AB0A-2FBF6B2B7E32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3A4F4DD-C834-1849-952B-D77E138D4BEB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G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80E9B6-713F-9C4A-8863-8DA5C057B9EE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자율비행 경로 설계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B3710-ECF0-4547-8F57-AD562579A684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출발점부터 도착점까지
자동으로 비행하는 경로를
블록으로 설계해봐요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D3DE7D51-2C27-E841-B1A6-63C6FA10B45B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20EB148-B171-0443-AE71-498DB7661146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M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55DA9A-F375-4B41-9C9E-48D19A9D3CB3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미션 자동화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C0C370-40CC-B94B-86D2-99EED2C2B126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기존 미션들을 블록 코딩으로
자동화해봐요</a:t>
            </a:r>
            <a:r>
              <a:rPr lang="en-US" altLang="ko-KR" sz="1500">
                <a:solidFill>
                  <a:srgbClr val="2D3436"/>
                </a:solidFill>
              </a:rPr>
              <a:t>! </a:t>
            </a:r>
            <a:r>
              <a:rPr lang="ko-KR" altLang="en-US" sz="1500">
                <a:solidFill>
                  <a:srgbClr val="2D3436"/>
                </a:solidFill>
              </a:rPr>
              <a:t>수동 조종보다
정확할 수 있을까</a:t>
            </a:r>
            <a:r>
              <a:rPr lang="en-US" altLang="ko-KR" sz="1500">
                <a:solidFill>
                  <a:srgbClr val="2D3436"/>
                </a:solidFill>
              </a:rPr>
              <a:t>?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D38209D-ADF4-3D40-80EC-AD6236A4F698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46B0EA2-242D-8848-9AC2-DC69F0B58BCC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C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96EC4D-478D-B740-A373-15F4817F4631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창작 프로그램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12533A-3C17-F64A-A023-F63693FCC2C1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나만의 아이디어로
드론 프로그램을 만들어요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상상력이 코드가 되는 순간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B8DBD0F2-8578-BA40-863E-AB2CD253F567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40E2E4B-60BF-034E-BF4A-BA74FB399CC2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P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ECB8C6-9A9D-544E-B671-684A3554F4E2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발표와 공유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EDD7E5-0E13-BB44-9D27-0E3A51E37ABB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내가 만든 블록 프로그램을
친구들에게 발표하고
서로의 아이디어를 나눠요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8517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5EF1B-8413-BDAF-3C82-167EC284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18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en" altLang="ko-Kore-KR" sz="3000" b="1"/>
              <a:t>JavaScript </a:t>
            </a:r>
            <a:r>
              <a:rPr kumimoji="1" lang="ko-KR" altLang="en-US" sz="3000" b="1"/>
              <a:t>기초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FF2173A9-AD41-4442-8778-E37E45825BC7}"/>
              </a:ext>
            </a:extLst>
          </p:cNvPr>
          <p:cNvSpPr/>
          <p:nvPr/>
        </p:nvSpPr>
        <p:spPr>
          <a:xfrm>
            <a:off x="508000" y="1016000"/>
            <a:ext cx="2540000" cy="381000"/>
          </a:xfrm>
          <a:prstGeom prst="roundRect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5 · </a:t>
            </a:r>
            <a:r>
              <a:rPr lang="ko-KR" altLang="en-US" sz="1400" b="1">
                <a:solidFill>
                  <a:srgbClr val="FFFFFF"/>
                </a:solidFill>
              </a:rPr>
              <a:t>텍스트 코딩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68DC343C-BEE9-FF42-8B46-B8D5C116DE85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DAADF5E-CE6E-EE4C-931F-B9F77DE0667E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J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B01E32-13B1-7844-B004-22FBBCE3E225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b="1">
                <a:solidFill>
                  <a:srgbClr val="1E3A5F"/>
                </a:solidFill>
              </a:rPr>
              <a:t>JavaScript </a:t>
            </a:r>
            <a:r>
              <a:rPr lang="ko-KR" altLang="en-US" b="1">
                <a:solidFill>
                  <a:srgbClr val="1E3A5F"/>
                </a:solidFill>
              </a:rPr>
              <a:t>소개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D3296-3581-3040-A5EB-2E47947299E4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텍스트 코딩의 세계에 오신 걸 환영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블록 대신 직접 글자를 써서
드론을 제어하는 법을 배워요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860A7D2-7BD1-0C42-AE11-F976BFD0D4AB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B7372B7-610B-B042-B54F-B2C5559FF00C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V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233E5C-5A0F-9C4D-93B0-5169CADF06DC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변수 배우기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BA72CD-FF78-3241-ABF4-4F24A24D344F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let height = 10;
</a:t>
            </a:r>
            <a:r>
              <a:rPr lang="ko-KR" altLang="en-US" sz="1500">
                <a:solidFill>
                  <a:srgbClr val="2D3436"/>
                </a:solidFill>
              </a:rPr>
              <a:t>값을 저장하는 상자인 변수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숫자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문자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좌표를 담아요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418C6727-0DA7-ED45-A3A4-461CE47E2258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86BDE29-FD13-A040-8C5D-D71415E97EE6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F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7BB4EC-A258-DE43-B9EB-EFC0C69A3A8C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함수 배우기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A2D3F6-8ABE-534E-9F5A-607DDA4F9F0B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function </a:t>
            </a:r>
            <a:r>
              <a:rPr lang="ko-KR" altLang="en-US" sz="1500">
                <a:solidFill>
                  <a:srgbClr val="2D3436"/>
                </a:solidFill>
              </a:rPr>
              <a:t>비행</a:t>
            </a:r>
            <a:r>
              <a:rPr lang="en-US" altLang="ko-KR" sz="1500">
                <a:solidFill>
                  <a:srgbClr val="2D3436"/>
                </a:solidFill>
              </a:rPr>
              <a:t>() { ... }
</a:t>
            </a:r>
            <a:r>
              <a:rPr lang="ko-KR" altLang="en-US" sz="1500">
                <a:solidFill>
                  <a:srgbClr val="2D3436"/>
                </a:solidFill>
              </a:rPr>
              <a:t>반복되는 코드를 묶어서
이름을 붙이는 함수 개념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8A370642-AFC1-5640-9D22-FAFAAB9FB6C7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BEB4E6C-3701-9546-930A-C1D57D021BBD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A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6A4998-588D-E240-A1FB-D990270FA713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b="1">
                <a:solidFill>
                  <a:srgbClr val="1E3A5F"/>
                </a:solidFill>
              </a:rPr>
              <a:t>Drone API </a:t>
            </a:r>
            <a:r>
              <a:rPr lang="ko-KR" altLang="en-US" b="1">
                <a:solidFill>
                  <a:srgbClr val="1E3A5F"/>
                </a:solidFill>
              </a:rPr>
              <a:t>소개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4503C8-41A5-F545-8C95-37378D0E7E75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drone.takeoff();
drone.flyTo(x, y, z);
drone.land(); </a:t>
            </a:r>
            <a:r>
              <a:rPr lang="ko-KR" altLang="en-US" sz="1500">
                <a:solidFill>
                  <a:srgbClr val="2D3436"/>
                </a:solidFill>
              </a:rPr>
              <a:t>기본 명령어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5183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A2F5E0-ED13-B461-E9F1-38C40078D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19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비행 프로그래밍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3148DA91-DB65-F04C-ADC4-3B1A21EA6474}"/>
              </a:ext>
            </a:extLst>
          </p:cNvPr>
          <p:cNvSpPr/>
          <p:nvPr/>
        </p:nvSpPr>
        <p:spPr>
          <a:xfrm>
            <a:off x="508000" y="1016000"/>
            <a:ext cx="2540000" cy="381000"/>
          </a:xfrm>
          <a:prstGeom prst="roundRect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5 · </a:t>
            </a:r>
            <a:r>
              <a:rPr lang="ko-KR" altLang="en-US" sz="1400" b="1">
                <a:solidFill>
                  <a:srgbClr val="FFFFFF"/>
                </a:solidFill>
              </a:rPr>
              <a:t>텍스트 코딩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E97DD6D-BC94-3840-ABA0-973ECCFF8511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6A4FB00-C7B9-284A-B1C3-6E5691F684C8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F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DDE70-9C3B-F543-9EAF-060D1D71A784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b="1">
                <a:solidFill>
                  <a:srgbClr val="1E3A5F"/>
                </a:solidFill>
              </a:rPr>
              <a:t>flyTo() </a:t>
            </a:r>
            <a:r>
              <a:rPr lang="ko-KR" altLang="en-US" b="1">
                <a:solidFill>
                  <a:srgbClr val="1E3A5F"/>
                </a:solidFill>
              </a:rPr>
              <a:t>함수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AFB53E-DF7C-8648-9935-0B4ABBB0D8EC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drone.flyTo(10, 5, 0);
</a:t>
            </a:r>
            <a:r>
              <a:rPr lang="ko-KR" altLang="en-US" sz="1500">
                <a:solidFill>
                  <a:srgbClr val="2D3436"/>
                </a:solidFill>
              </a:rPr>
              <a:t>좌표를 지정해서 드론을
원하는 위치로 보내봐요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7004E1B-A73C-9D4E-B4EB-B3B04B8BE1EE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3CD3735-83C9-A641-AC55-AB2DFCF5C541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C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CE7FD-1398-7F45-B3B8-83C4759D1478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좌표 기반 비행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F7B7CE-9CDE-4246-A630-750D42230483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x, y, z </a:t>
            </a:r>
            <a:r>
              <a:rPr lang="ko-KR" altLang="en-US" sz="1500">
                <a:solidFill>
                  <a:srgbClr val="2D3436"/>
                </a:solidFill>
              </a:rPr>
              <a:t>좌표를 직접 계산해서
정확한 위치로 비행하는
코드를 작성해요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C56132FC-AA94-4342-8E82-19F591096A9C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BA529E4-03B7-694D-9A7D-10A3C431E566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S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804677-48C9-AF4C-94E5-00DCD55583A8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순차 비행 코드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19AE04-140D-7B4C-90A1-A31854C7B99B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여러 </a:t>
            </a:r>
            <a:r>
              <a:rPr lang="en" altLang="ko-Kore-KR" sz="1500">
                <a:solidFill>
                  <a:srgbClr val="2D3436"/>
                </a:solidFill>
              </a:rPr>
              <a:t>flyTo()</a:t>
            </a:r>
            <a:r>
              <a:rPr lang="ko-KR" altLang="en-US" sz="1500">
                <a:solidFill>
                  <a:srgbClr val="2D3436"/>
                </a:solidFill>
              </a:rPr>
              <a:t>를 순서대로 실행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en" altLang="ko-Kore-KR" sz="1500">
                <a:solidFill>
                  <a:srgbClr val="2D3436"/>
                </a:solidFill>
              </a:rPr>
              <a:t>await</a:t>
            </a:r>
            <a:r>
              <a:rPr lang="ko-KR" altLang="en-US" sz="1500">
                <a:solidFill>
                  <a:srgbClr val="2D3436"/>
                </a:solidFill>
              </a:rPr>
              <a:t>로 이전 동작이 끝날 때까지
기다리는 비동기 개념도 배워요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00825C5-062D-9649-A6D4-42EBAF9E2A61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C6346E3-9914-1B47-8AEB-3A363DAF4D83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R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D22BE6-AC50-B44B-936D-31B92BD41F3E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사각형 코드 비행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BBF6AE-1C26-C84D-A309-B51CBC04B4C1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블록으로 만든 사각형 비행을
이번엔 </a:t>
            </a:r>
            <a:r>
              <a:rPr lang="en" altLang="ko-Kore-KR" sz="1500">
                <a:solidFill>
                  <a:srgbClr val="2D3436"/>
                </a:solidFill>
              </a:rPr>
              <a:t>JavaScript </a:t>
            </a:r>
            <a:r>
              <a:rPr lang="ko-KR" altLang="en-US" sz="1500">
                <a:solidFill>
                  <a:srgbClr val="2D3436"/>
                </a:solidFill>
              </a:rPr>
              <a:t>코드로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두 방식을 비교해봐요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651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F802D3-6521-E9F3-517D-0E329C761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20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반복과 조건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6CB2ADD-476B-664D-8E3F-12B8701CBDF7}"/>
              </a:ext>
            </a:extLst>
          </p:cNvPr>
          <p:cNvSpPr/>
          <p:nvPr/>
        </p:nvSpPr>
        <p:spPr>
          <a:xfrm>
            <a:off x="508000" y="1016000"/>
            <a:ext cx="2540000" cy="381000"/>
          </a:xfrm>
          <a:prstGeom prst="roundRect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5 · </a:t>
            </a:r>
            <a:r>
              <a:rPr lang="ko-KR" altLang="en-US" sz="1400" b="1">
                <a:solidFill>
                  <a:srgbClr val="FFFFFF"/>
                </a:solidFill>
              </a:rPr>
              <a:t>텍스트 코딩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A3F8EB23-A48F-BD4D-9770-96196A744EF5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8559EA4-A90A-394A-9B7D-23B0702FE63C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L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695E4-3ABA-ED4F-87E8-D2A8FF5C04A6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b="1">
                <a:solidFill>
                  <a:srgbClr val="1E3A5F"/>
                </a:solidFill>
              </a:rPr>
              <a:t>for </a:t>
            </a:r>
            <a:r>
              <a:rPr lang="ko-KR" altLang="en-US" b="1">
                <a:solidFill>
                  <a:srgbClr val="1E3A5F"/>
                </a:solidFill>
              </a:rPr>
              <a:t>루프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1D709F-BF4F-E547-9E17-65DF16FA74DB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for (let i = 0; i &lt; 36; i++) { }
36</a:t>
            </a:r>
            <a:r>
              <a:rPr lang="ko-KR" altLang="en-US" sz="1500">
                <a:solidFill>
                  <a:srgbClr val="2D3436"/>
                </a:solidFill>
              </a:rPr>
              <a:t>번 반복으로 원형 비행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코드 한 줄로 복잡한 패턴을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2E0EE54B-635D-F048-8F81-BA16E27482DC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564A111-4079-FB42-87BC-5B50B777C2BC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W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48F17E-AAF6-F642-9FFA-7B48E8765DFD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b="1">
                <a:solidFill>
                  <a:srgbClr val="1E3A5F"/>
                </a:solidFill>
              </a:rPr>
              <a:t>while </a:t>
            </a:r>
            <a:r>
              <a:rPr lang="ko-KR" altLang="en-US" b="1">
                <a:solidFill>
                  <a:srgbClr val="1E3A5F"/>
                </a:solidFill>
              </a:rPr>
              <a:t>루프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95C4B9-4A7D-FA48-98DD-309E37CEE6A4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while (height &lt; 20) { </a:t>
            </a:r>
            <a:r>
              <a:rPr lang="ko-KR" altLang="en-US" sz="1500">
                <a:solidFill>
                  <a:srgbClr val="2D3436"/>
                </a:solidFill>
              </a:rPr>
              <a:t>상승</a:t>
            </a:r>
            <a:r>
              <a:rPr lang="en-US" altLang="ko-KR" sz="1500">
                <a:solidFill>
                  <a:srgbClr val="2D3436"/>
                </a:solidFill>
              </a:rPr>
              <a:t>; }
</a:t>
            </a:r>
            <a:r>
              <a:rPr lang="ko-KR" altLang="en-US" sz="1500">
                <a:solidFill>
                  <a:srgbClr val="2D3436"/>
                </a:solidFill>
              </a:rPr>
              <a:t>조건이 참인 동안 반복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목표 고도까지 자동 상승 코드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0CDB0B3-E809-9A42-AB4B-78B34D71DE95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4753F76-265B-D742-8B6C-ECCFC51DE628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</a:rPr>
              <a:t>?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BC8D8B-5CCC-A047-B72B-C0134B0BC4FF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b="1">
                <a:solidFill>
                  <a:srgbClr val="1E3A5F"/>
                </a:solidFill>
              </a:rPr>
              <a:t>if </a:t>
            </a:r>
            <a:r>
              <a:rPr lang="ko-KR" altLang="en-US" b="1">
                <a:solidFill>
                  <a:srgbClr val="1E3A5F"/>
                </a:solidFill>
              </a:rPr>
              <a:t>조건문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ECF38E-1A1E-D647-917F-9EC3A9CFE343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if (sensor.distance &lt; 2) {
  </a:t>
            </a:r>
            <a:r>
              <a:rPr lang="ko-KR" altLang="en-US" sz="1500">
                <a:solidFill>
                  <a:srgbClr val="2D3436"/>
                </a:solidFill>
              </a:rPr>
              <a:t>방향전환</a:t>
            </a:r>
            <a:r>
              <a:rPr lang="en-US" altLang="ko-KR" sz="1500">
                <a:solidFill>
                  <a:srgbClr val="2D3436"/>
                </a:solidFill>
              </a:rPr>
              <a:t>();
}
</a:t>
            </a:r>
            <a:r>
              <a:rPr lang="ko-KR" altLang="en-US" sz="1500">
                <a:solidFill>
                  <a:srgbClr val="2D3436"/>
                </a:solidFill>
              </a:rPr>
              <a:t>장애물 감지 자동 회피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9EC2FF09-DABA-0941-A977-87E0FF12B15B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CF2877D-E9FC-6B49-8141-FDDEAA62B2D4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S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070F24-626D-1B4C-8348-7FD45F1BE965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센서 활용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59D46B-774C-D44B-8B45-6BE8E9B54409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drone.getAltitude();
drone.getDistance();
</a:t>
            </a:r>
            <a:r>
              <a:rPr lang="ko-KR" altLang="en-US" sz="1500">
                <a:solidFill>
                  <a:srgbClr val="2D3436"/>
                </a:solidFill>
              </a:rPr>
              <a:t>실시간 센서 데이터로 판단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713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0B0A57-5E20-88B5-B3A1-FD8F3698A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21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자율비행 코딩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2A91B2CC-5201-F345-BC0E-F1492410FBE6}"/>
              </a:ext>
            </a:extLst>
          </p:cNvPr>
          <p:cNvSpPr/>
          <p:nvPr/>
        </p:nvSpPr>
        <p:spPr>
          <a:xfrm>
            <a:off x="508000" y="1016000"/>
            <a:ext cx="2540000" cy="381000"/>
          </a:xfrm>
          <a:prstGeom prst="roundRect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5 · </a:t>
            </a:r>
            <a:r>
              <a:rPr lang="ko-KR" altLang="en-US" sz="1400" b="1">
                <a:solidFill>
                  <a:srgbClr val="FFFFFF"/>
                </a:solidFill>
              </a:rPr>
              <a:t>텍스트 코딩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9DA3782F-B200-694F-AC32-A2D285EF2AD6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3CE50F1-F915-3F42-A528-601528C3A01A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W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65CF94-C665-624E-97E1-91D4A1734A02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웨이포인트 순찰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1E64CD-27E7-A240-8BD2-CB82503EC38D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</a:rPr>
              <a:t>const waypoints = [...]
</a:t>
            </a:r>
            <a:r>
              <a:rPr lang="ko-KR" altLang="en-US" sz="1500">
                <a:solidFill>
                  <a:srgbClr val="2D3436"/>
                </a:solidFill>
              </a:rPr>
              <a:t>여러 지점을 배열에 저장하고
순서대로 자동 순찰하는 코드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AA2C73F-7261-F34D-BE8E-C84EA6BD1982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3E607F0-A8B6-824C-A582-5AFC36D7C451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P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2F2066-5AEC-B347-A781-9A42834EFB58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경로 탐색 알고리즘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B30356-C0F9-D84C-BFBC-A3C8046F739F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최단 경로 찾기의 기본 원리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여러 지점을 효율적으로
방문하는 알고리즘을 배워요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CB7A4860-B4C4-3345-91A5-CD19D2FC4D53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D194BE7-8685-EF42-8AE4-D7BF60F36C1D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A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9C2E38-E83E-5B45-B527-944FAC58294C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자율비행 프로그램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BE9DB1-9B48-FE40-AD02-0766FBFAABFE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이륙 → 경유점 순찰 →
장애물 회피 → 자동 착륙까지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완전 자동화 비행 코드 완성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879E4FAF-50B8-1D41-96E6-910944746853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3B7279A-591C-DC42-AF33-DC6682B8E636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T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1CFD2A-DB6D-684B-A2CD-BBEF8BEF789C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코드 최적화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18B1EA-0229-AD41-A61F-1DEFB4056925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같은 기능이지만 더 짧고
더 효율적인 코드로 개선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좋은 코드란 무엇인지 토론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8602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4B390-34DE-13E7-EAC9-10DB6DC5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22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프로젝트 기획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AB722BC6-95AC-CE46-AC67-1E4912DC78AF}"/>
              </a:ext>
            </a:extLst>
          </p:cNvPr>
          <p:cNvSpPr/>
          <p:nvPr/>
        </p:nvSpPr>
        <p:spPr>
          <a:xfrm>
            <a:off x="508000" y="1016000"/>
            <a:ext cx="2667000" cy="381000"/>
          </a:xfrm>
          <a:prstGeom prst="roundRect">
            <a:avLst/>
          </a:prstGeom>
          <a:solidFill>
            <a:srgbClr val="FCC4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6 · </a:t>
            </a:r>
            <a:r>
              <a:rPr lang="ko-KR" altLang="en-US" sz="1400" b="1">
                <a:solidFill>
                  <a:srgbClr val="FFFFFF"/>
                </a:solidFill>
              </a:rPr>
              <a:t>프로젝트 </a:t>
            </a:r>
            <a:r>
              <a:rPr lang="en-US" altLang="ko-KR" sz="1400" b="1">
                <a:solidFill>
                  <a:srgbClr val="FFFFFF"/>
                </a:solidFill>
              </a:rPr>
              <a:t>&amp; </a:t>
            </a:r>
            <a:r>
              <a:rPr lang="ko-KR" altLang="en-US" sz="1400" b="1">
                <a:solidFill>
                  <a:srgbClr val="FFFFFF"/>
                </a:solidFill>
              </a:rPr>
              <a:t>발표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60602873-D6B9-9F46-874A-8958DDF57E9B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F280D73-B0C0-3B45-8657-060971F1D22A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FCC4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T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CA8C5-6855-C645-9FE5-C7E239BB0B12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팀 구성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A98D8-8EFD-2B49-97C1-775DB9B0A4AD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>
                <a:solidFill>
                  <a:srgbClr val="2D3436"/>
                </a:solidFill>
              </a:rPr>
              <a:t>2~3</a:t>
            </a:r>
            <a:r>
              <a:rPr lang="ko-KR" altLang="en-US" sz="1500">
                <a:solidFill>
                  <a:srgbClr val="2D3436"/>
                </a:solidFill>
              </a:rPr>
              <a:t>명이 한 팀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각자의 강점을 살려서
역할을 분담해요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CB5D91C5-1430-1640-85EA-F7DA64B3C0FA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FBBEBE5-6CC0-C94E-B9AC-4E41D43F55F4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I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217B16-6690-224D-B85C-6AAAA7C58324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주제 선정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14CED8-046B-F641-B388-6FB7E85CBB8E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드론 배달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환경 모니터링</a:t>
            </a:r>
            <a:r>
              <a:rPr lang="en-US" altLang="ko-KR" sz="1500">
                <a:solidFill>
                  <a:srgbClr val="2D3436"/>
                </a:solidFill>
              </a:rPr>
              <a:t>,
</a:t>
            </a:r>
            <a:r>
              <a:rPr lang="ko-KR" altLang="en-US" sz="1500">
                <a:solidFill>
                  <a:srgbClr val="2D3436"/>
                </a:solidFill>
              </a:rPr>
              <a:t>자동 촬영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군집 비행 등
다양한 주제 중 하나를 선택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2493E62-430E-B241-B24B-65954ECBD36A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DA9A24D-5C56-4B4F-B23E-6C226184D909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P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8C1B05-E6F6-8B4E-A6CE-D922A86AC94F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설계 문서 작성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14F417-E413-6D4D-B991-1934D91F9C8C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프로젝트 계획서를 작성해요</a:t>
            </a:r>
            <a:r>
              <a:rPr lang="en-US" altLang="ko-KR" sz="1500">
                <a:solidFill>
                  <a:srgbClr val="2D3436"/>
                </a:solidFill>
              </a:rPr>
              <a:t>.
</a:t>
            </a:r>
            <a:r>
              <a:rPr lang="ko-KR" altLang="en-US" sz="1500">
                <a:solidFill>
                  <a:srgbClr val="2D3436"/>
                </a:solidFill>
              </a:rPr>
              <a:t>목표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기능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필요 기술</a:t>
            </a:r>
            <a:r>
              <a:rPr lang="en-US" altLang="ko-KR" sz="1500">
                <a:solidFill>
                  <a:srgbClr val="2D3436"/>
                </a:solidFill>
              </a:rPr>
              <a:t>,
</a:t>
            </a:r>
            <a:r>
              <a:rPr lang="ko-KR" altLang="en-US" sz="1500">
                <a:solidFill>
                  <a:srgbClr val="2D3436"/>
                </a:solidFill>
              </a:rPr>
              <a:t>일정을 정리하는 연습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68A32073-C176-CE42-B348-A426F92C2F38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467262C-37BD-354E-8DCD-6E5EFB4CDB80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FF92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D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B776F2-0F53-9346-A5C8-DEA61019E2D8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설계 발표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162C4C-78FC-3742-8F9F-F86872954C2B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우리 팀의 프로젝트 계획을
다른 팀에게 발표하고
피드백을 받아요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1169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D4066-0C05-3AE3-AD06-86D416A65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23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프로젝트 개발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E5A59789-0552-AF48-9CA4-BFEAB4A6209E}"/>
              </a:ext>
            </a:extLst>
          </p:cNvPr>
          <p:cNvSpPr/>
          <p:nvPr/>
        </p:nvSpPr>
        <p:spPr>
          <a:xfrm>
            <a:off x="508000" y="1016000"/>
            <a:ext cx="2667000" cy="381000"/>
          </a:xfrm>
          <a:prstGeom prst="roundRect">
            <a:avLst/>
          </a:prstGeom>
          <a:solidFill>
            <a:srgbClr val="FCC4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6 · </a:t>
            </a:r>
            <a:r>
              <a:rPr lang="ko-KR" altLang="en-US" sz="1400" b="1">
                <a:solidFill>
                  <a:srgbClr val="FFFFFF"/>
                </a:solidFill>
              </a:rPr>
              <a:t>프로젝트 </a:t>
            </a:r>
            <a:r>
              <a:rPr lang="en-US" altLang="ko-KR" sz="1400" b="1">
                <a:solidFill>
                  <a:srgbClr val="FFFFFF"/>
                </a:solidFill>
              </a:rPr>
              <a:t>&amp; </a:t>
            </a:r>
            <a:r>
              <a:rPr lang="ko-KR" altLang="en-US" sz="1400" b="1">
                <a:solidFill>
                  <a:srgbClr val="FFFFFF"/>
                </a:solidFill>
              </a:rPr>
              <a:t>발표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9D4C5768-4B7A-8E49-977D-7BD9581E49C0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5C95DCE-178B-DB43-B574-3F88686442C0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FCC4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C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041AD4-1CD3-2D49-868F-557F629C2012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코딩 구현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5B92F-8CD3-6F4E-BD2B-8A02DDE7AE1F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설계한 대로 </a:t>
            </a:r>
            <a:r>
              <a:rPr lang="en" altLang="ko-Kore-KR" sz="1500">
                <a:solidFill>
                  <a:srgbClr val="2D3436"/>
                </a:solidFill>
              </a:rPr>
              <a:t>JavaScript </a:t>
            </a:r>
            <a:r>
              <a:rPr lang="ko-KR" altLang="en-US" sz="1500">
                <a:solidFill>
                  <a:srgbClr val="2D3436"/>
                </a:solidFill>
              </a:rPr>
              <a:t>코드를
작성해요</a:t>
            </a:r>
            <a:r>
              <a:rPr lang="en-US" altLang="ko-KR" sz="1500">
                <a:solidFill>
                  <a:srgbClr val="2D3436"/>
                </a:solidFill>
              </a:rPr>
              <a:t>! </a:t>
            </a:r>
            <a:r>
              <a:rPr lang="ko-KR" altLang="en-US" sz="1500">
                <a:solidFill>
                  <a:srgbClr val="2D3436"/>
                </a:solidFill>
              </a:rPr>
              <a:t>블록 코딩으로
프로토타입을 먼저 만들어도 </a:t>
            </a:r>
            <a:r>
              <a:rPr lang="en" altLang="ko-Kore-KR" sz="1500">
                <a:solidFill>
                  <a:srgbClr val="2D3436"/>
                </a:solidFill>
              </a:rPr>
              <a:t>OK.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EF233D58-5154-E44A-9122-3A4B0C42FAF7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925AA0F-BCF9-B749-8D45-FC5DCA923F0F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T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37CCEE-F6D3-2B46-81BF-8E34341914EA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테스트와 디버깅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86AB81-AD7D-1043-80A3-CBD3FA8585B1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시뮬레이터에서 반복 테스트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오류를 찾고 수정하는
디버깅 과정을 경험해요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4CEE35A-C501-7B49-8B76-879EA29AD1BD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01C2B85-8951-8346-8EE3-C54B0DD74B2B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4A90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O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79F793-C2F4-4B4B-B10F-B07BE259A723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코드 최적화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E50E41-D63E-9043-A439-42E5331A9CB1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더 효율적이고 안전한 코드로
개선해요</a:t>
            </a:r>
            <a:r>
              <a:rPr lang="en-US" altLang="ko-KR" sz="1500">
                <a:solidFill>
                  <a:srgbClr val="2D3436"/>
                </a:solidFill>
              </a:rPr>
              <a:t>! </a:t>
            </a:r>
            <a:r>
              <a:rPr lang="ko-KR" altLang="en-US" sz="1500">
                <a:solidFill>
                  <a:srgbClr val="2D3436"/>
                </a:solidFill>
              </a:rPr>
              <a:t>예외 처리와
안전 장치도 추가해봐요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C45086A5-0C34-2F46-876A-63C105A98D95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597477B-6AC1-0D47-8E4B-4BAFB39012DB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R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00DDF-0FBD-A642-9C40-80C969C22C06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중간 리뷰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3835FC-2957-7C48-A036-15F0EA60ACDA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진행 상황을 팀원들과 공유하고
남은 과제를 확인해요</a:t>
            </a:r>
            <a:r>
              <a:rPr lang="en-US" altLang="ko-KR" sz="1500">
                <a:solidFill>
                  <a:srgbClr val="2D3436"/>
                </a:solidFill>
              </a:rPr>
              <a:t>.
</a:t>
            </a:r>
            <a:r>
              <a:rPr lang="ko-KR" altLang="en-US" sz="1500">
                <a:solidFill>
                  <a:srgbClr val="2D3436"/>
                </a:solidFill>
              </a:rPr>
              <a:t>서로 도와서 완성도를 높여요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4385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46996-AE82-4880-12AA-99860B153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98500"/>
          </a:xfrm>
        </p:spPr>
        <p:txBody>
          <a:bodyPr>
            <a:normAutofit/>
          </a:bodyPr>
          <a:lstStyle/>
          <a:p>
            <a:r>
              <a:rPr kumimoji="1" lang="en-US" altLang="ko-KR" sz="3000" b="1"/>
              <a:t>24</a:t>
            </a:r>
            <a:r>
              <a:rPr kumimoji="1" lang="ko-KR" altLang="en-US" sz="3000" b="1"/>
              <a:t>주차</a:t>
            </a:r>
            <a:r>
              <a:rPr kumimoji="1" lang="en-US" altLang="ko-KR" sz="3000" b="1"/>
              <a:t>: </a:t>
            </a:r>
            <a:r>
              <a:rPr kumimoji="1" lang="ko-KR" altLang="en-US" sz="3000" b="1"/>
              <a:t>발표와 시연</a:t>
            </a:r>
            <a:endParaRPr kumimoji="1" lang="ko-Kore-KR" altLang="en-US" sz="3000" b="1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1FF7844A-B8FA-3D4E-81F4-C3ED37AB6BC4}"/>
              </a:ext>
            </a:extLst>
          </p:cNvPr>
          <p:cNvSpPr/>
          <p:nvPr/>
        </p:nvSpPr>
        <p:spPr>
          <a:xfrm>
            <a:off x="508000" y="1016000"/>
            <a:ext cx="2667000" cy="381000"/>
          </a:xfrm>
          <a:prstGeom prst="roundRect">
            <a:avLst/>
          </a:prstGeom>
          <a:solidFill>
            <a:srgbClr val="FCC4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</a:rPr>
              <a:t>Phase 6 · </a:t>
            </a:r>
            <a:r>
              <a:rPr lang="ko-KR" altLang="en-US" sz="1400" b="1">
                <a:solidFill>
                  <a:srgbClr val="FFFFFF"/>
                </a:solidFill>
              </a:rPr>
              <a:t>프로젝트 </a:t>
            </a:r>
            <a:r>
              <a:rPr lang="en-US" altLang="ko-KR" sz="1400" b="1">
                <a:solidFill>
                  <a:srgbClr val="FFFFFF"/>
                </a:solidFill>
              </a:rPr>
              <a:t>&amp; </a:t>
            </a:r>
            <a:r>
              <a:rPr lang="ko-KR" altLang="en-US" sz="1400" b="1">
                <a:solidFill>
                  <a:srgbClr val="FFFFFF"/>
                </a:solidFill>
              </a:rPr>
              <a:t>발표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D5B95FDD-25F8-FB48-B817-68D9F5057EC4}"/>
              </a:ext>
            </a:extLst>
          </p:cNvPr>
          <p:cNvSpPr/>
          <p:nvPr/>
        </p:nvSpPr>
        <p:spPr>
          <a:xfrm>
            <a:off x="5080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15CF2F4-12D2-B647-A979-84D0650D68C5}"/>
              </a:ext>
            </a:extLst>
          </p:cNvPr>
          <p:cNvSpPr/>
          <p:nvPr/>
        </p:nvSpPr>
        <p:spPr>
          <a:xfrm>
            <a:off x="698500" y="1778000"/>
            <a:ext cx="533400" cy="533400"/>
          </a:xfrm>
          <a:prstGeom prst="ellipse">
            <a:avLst/>
          </a:prstGeom>
          <a:solidFill>
            <a:srgbClr val="FCC41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P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36048-859F-5647-B03A-6E4DE7B6C811}"/>
              </a:ext>
            </a:extLst>
          </p:cNvPr>
          <p:cNvSpPr txBox="1"/>
          <p:nvPr/>
        </p:nvSpPr>
        <p:spPr>
          <a:xfrm>
            <a:off x="13716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결과 발표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1067B4-3FBB-4F4D-A23E-7C27C9CE4267}"/>
              </a:ext>
            </a:extLst>
          </p:cNvPr>
          <p:cNvSpPr txBox="1"/>
          <p:nvPr/>
        </p:nvSpPr>
        <p:spPr>
          <a:xfrm>
            <a:off x="7620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프로젝트 결과를 발표해요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기획 의도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개발 과정</a:t>
            </a:r>
            <a:r>
              <a:rPr lang="en-US" altLang="ko-KR" sz="1500">
                <a:solidFill>
                  <a:srgbClr val="2D3436"/>
                </a:solidFill>
              </a:rPr>
              <a:t>,
</a:t>
            </a:r>
            <a:r>
              <a:rPr lang="ko-KR" altLang="en-US" sz="1500">
                <a:solidFill>
                  <a:srgbClr val="2D3436"/>
                </a:solidFill>
              </a:rPr>
              <a:t>최종 결과물을 설명해요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85E664F-8CC9-E247-AFA8-1919C9B253DB}"/>
              </a:ext>
            </a:extLst>
          </p:cNvPr>
          <p:cNvSpPr/>
          <p:nvPr/>
        </p:nvSpPr>
        <p:spPr>
          <a:xfrm>
            <a:off x="6286500" y="158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CE9C2DB-CEA7-634E-A845-6FF3B8846806}"/>
              </a:ext>
            </a:extLst>
          </p:cNvPr>
          <p:cNvSpPr/>
          <p:nvPr/>
        </p:nvSpPr>
        <p:spPr>
          <a:xfrm>
            <a:off x="6477000" y="1778000"/>
            <a:ext cx="533400" cy="533400"/>
          </a:xfrm>
          <a:prstGeom prst="ellipse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D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3B1BF-8E5E-C046-87F8-D9B4891F3937}"/>
              </a:ext>
            </a:extLst>
          </p:cNvPr>
          <p:cNvSpPr txBox="1"/>
          <p:nvPr/>
        </p:nvSpPr>
        <p:spPr>
          <a:xfrm>
            <a:off x="7150100" y="173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실시간 시연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81350-7113-0C4A-BD4D-FF25E67496B0}"/>
              </a:ext>
            </a:extLst>
          </p:cNvPr>
          <p:cNvSpPr txBox="1"/>
          <p:nvPr/>
        </p:nvSpPr>
        <p:spPr>
          <a:xfrm>
            <a:off x="6540500" y="228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시뮬레이터에서 프로그램을
직접 실행해서 보여줘요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라이브 데모의 긴장감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3AACF83-50C7-EA46-8960-9F4669B49787}"/>
              </a:ext>
            </a:extLst>
          </p:cNvPr>
          <p:cNvSpPr/>
          <p:nvPr/>
        </p:nvSpPr>
        <p:spPr>
          <a:xfrm>
            <a:off x="5080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99C2305-D5B9-2749-8774-B2C82127A9FE}"/>
              </a:ext>
            </a:extLst>
          </p:cNvPr>
          <p:cNvSpPr/>
          <p:nvPr/>
        </p:nvSpPr>
        <p:spPr>
          <a:xfrm>
            <a:off x="698500" y="4318000"/>
            <a:ext cx="533400" cy="533400"/>
          </a:xfrm>
          <a:prstGeom prst="ellipse">
            <a:avLst/>
          </a:prstGeom>
          <a:solidFill>
            <a:srgbClr val="51CF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E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5BE9DE-66A1-1A40-AD3F-7A185DF08A4D}"/>
              </a:ext>
            </a:extLst>
          </p:cNvPr>
          <p:cNvSpPr txBox="1"/>
          <p:nvPr/>
        </p:nvSpPr>
        <p:spPr>
          <a:xfrm>
            <a:off x="13716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상호 평가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BC63BE-CFAF-F044-9CC1-896D5AFDACDD}"/>
              </a:ext>
            </a:extLst>
          </p:cNvPr>
          <p:cNvSpPr txBox="1"/>
          <p:nvPr/>
        </p:nvSpPr>
        <p:spPr>
          <a:xfrm>
            <a:off x="7620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</a:rPr>
              <a:t>다른 팀의 프로젝트를 보고
잘한 점</a:t>
            </a:r>
            <a:r>
              <a:rPr lang="en-US" altLang="ko-KR" sz="1500">
                <a:solidFill>
                  <a:srgbClr val="2D3436"/>
                </a:solidFill>
              </a:rPr>
              <a:t>, </a:t>
            </a:r>
            <a:r>
              <a:rPr lang="ko-KR" altLang="en-US" sz="1500">
                <a:solidFill>
                  <a:srgbClr val="2D3436"/>
                </a:solidFill>
              </a:rPr>
              <a:t>인상적인 점을
서로 평가하고 칭찬해요</a:t>
            </a:r>
            <a:r>
              <a:rPr lang="en-US" altLang="ko-KR" sz="1500">
                <a:solidFill>
                  <a:srgbClr val="2D3436"/>
                </a:solidFill>
              </a:rPr>
              <a:t>!</a:t>
            </a:r>
            <a:endParaRPr lang="ko-Kore-KR" altLang="en-US" sz="1500">
              <a:solidFill>
                <a:srgbClr val="2D3436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133379DE-875C-EF4E-AEAD-4F450F1AFE77}"/>
              </a:ext>
            </a:extLst>
          </p:cNvPr>
          <p:cNvSpPr/>
          <p:nvPr/>
        </p:nvSpPr>
        <p:spPr>
          <a:xfrm>
            <a:off x="6286500" y="4127500"/>
            <a:ext cx="5461000" cy="2286000"/>
          </a:xfrm>
          <a:prstGeom prst="round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D804A0D-CC5E-8046-9508-8FF6A1564BF2}"/>
              </a:ext>
            </a:extLst>
          </p:cNvPr>
          <p:cNvSpPr/>
          <p:nvPr/>
        </p:nvSpPr>
        <p:spPr>
          <a:xfrm>
            <a:off x="6477000" y="4318000"/>
            <a:ext cx="533400" cy="533400"/>
          </a:xfrm>
          <a:prstGeom prst="ellipse">
            <a:avLst/>
          </a:prstGeom>
          <a:solidFill>
            <a:srgbClr val="845E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</a:rPr>
              <a:t>G</a:t>
            </a:r>
            <a:endParaRPr lang="ko-Kore-KR" altLang="en-US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9C4C36-46B4-B848-AF42-0027DA2D0953}"/>
              </a:ext>
            </a:extLst>
          </p:cNvPr>
          <p:cNvSpPr txBox="1"/>
          <p:nvPr/>
        </p:nvSpPr>
        <p:spPr>
          <a:xfrm>
            <a:off x="7150100" y="42799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</a:rPr>
              <a:t>수료와 미래</a:t>
            </a:r>
            <a:endParaRPr lang="ko-Kore-KR" altLang="en-US" b="1">
              <a:solidFill>
                <a:srgbClr val="1E3A5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688124-193B-B941-8C3C-2CCFE9B1EEC7}"/>
              </a:ext>
            </a:extLst>
          </p:cNvPr>
          <p:cNvSpPr txBox="1"/>
          <p:nvPr/>
        </p:nvSpPr>
        <p:spPr>
          <a:xfrm>
            <a:off x="6540500" y="4826000"/>
            <a:ext cx="5016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>
                <a:solidFill>
                  <a:srgbClr val="2D3436"/>
                </a:solidFill>
              </a:rPr>
              <a:t>6</a:t>
            </a:r>
            <a:r>
              <a:rPr lang="ko-KR" altLang="en-US" sz="1500">
                <a:solidFill>
                  <a:srgbClr val="2D3436"/>
                </a:solidFill>
              </a:rPr>
              <a:t>개월 과정 수료를 축하해요</a:t>
            </a:r>
            <a:r>
              <a:rPr lang="en-US" altLang="ko-KR" sz="1500">
                <a:solidFill>
                  <a:srgbClr val="2D3436"/>
                </a:solidFill>
              </a:rPr>
              <a:t>!
</a:t>
            </a:r>
            <a:r>
              <a:rPr lang="ko-KR" altLang="en-US" sz="1500">
                <a:solidFill>
                  <a:srgbClr val="2D3436"/>
                </a:solidFill>
              </a:rPr>
              <a:t>앞으로의 드론 공부 방향과
진로를 함께 이야기해봐요</a:t>
            </a:r>
            <a:r>
              <a:rPr lang="en-US" altLang="ko-KR" sz="1500">
                <a:solidFill>
                  <a:srgbClr val="2D3436"/>
                </a:solidFill>
              </a:rPr>
              <a:t>.</a:t>
            </a:r>
            <a:endParaRPr lang="ko-Kore-KR" altLang="en-US" sz="1500">
              <a:solidFill>
                <a:srgbClr val="2D3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377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D3436"/>
      </a:dk1>
      <a:lt1>
        <a:srgbClr val="FFFFFF"/>
      </a:lt1>
      <a:dk2>
        <a:srgbClr val="1E3A5F"/>
      </a:dk2>
      <a:lt2>
        <a:srgbClr val="F0F4FF"/>
      </a:lt2>
      <a:accent1>
        <a:srgbClr val="4A90D9"/>
      </a:accent1>
      <a:accent2>
        <a:srgbClr val="FF6B6B"/>
      </a:accent2>
      <a:accent3>
        <a:srgbClr val="51CF66"/>
      </a:accent3>
      <a:accent4>
        <a:srgbClr val="FCC419"/>
      </a:accent4>
      <a:accent5>
        <a:srgbClr val="845EF7"/>
      </a:accent5>
      <a:accent6>
        <a:srgbClr val="FF922B"/>
      </a:accent6>
      <a:hlink>
        <a:srgbClr val="0563C1"/>
      </a:hlink>
      <a:folHlink>
        <a:srgbClr val="954F72"/>
      </a:folHlink>
    </a:clrScheme>
    <a:fontScheme name="Office">
      <a:majorFont>
        <a:latin typeface="Bahnschrift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hnschrift Ligh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5ace3-1b84-4ef5-b176-dfdb7fe130c1}">
  <we:reference id="WA200010001" version="1.0.0.0" store="en-US" storeType="OMEX"/>
  <we:alternateReferences/>
  <we:properties>
    <we:property name="Microsoft.Office.CampaignId" value="&quot;none&quot;"/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3284</Words>
  <Application>Microsoft Macintosh PowerPoint</Application>
  <PresentationFormat>와이드스크린</PresentationFormat>
  <Paragraphs>520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1" baseType="lpstr">
      <vt:lpstr>Arial</vt:lpstr>
      <vt:lpstr>Bahnschrift Light</vt:lpstr>
      <vt:lpstr>Bahnschrift SemiBold</vt:lpstr>
      <vt:lpstr>Office Theme</vt:lpstr>
      <vt:lpstr>PowerPoint 프레젠테이션</vt:lpstr>
      <vt:lpstr>드론이 뭐야?</vt:lpstr>
      <vt:lpstr>드론이 뜨는 원리: 추력</vt:lpstr>
      <vt:lpstr>드론이 움직이는 4가지 방법</vt:lpstr>
      <vt:lpstr>프로펠러는 이렇게 배치돼요!</vt:lpstr>
      <vt:lpstr>드론의 두뇌: 컴퓨터가 하는 일</vt:lpstr>
      <vt:lpstr>드론에 작용하는 힘들</vt:lpstr>
      <vt:lpstr>드론의 자세: 기울기와 방향</vt:lpstr>
      <vt:lpstr>뉴턴의 법칙으로 드론 이해하기</vt:lpstr>
      <vt:lpstr>우리 드론의 스펙 카드</vt:lpstr>
      <vt:lpstr>컴퓨터는 어떻게 드론을 따라할까?</vt:lpstr>
      <vt:lpstr>드론 시스템 한눈에 보기!</vt:lpstr>
      <vt:lpstr>6개월 (24주) 드론 교육 커리큘럼</vt:lpstr>
      <vt:lpstr>1주차: 드론이란?</vt:lpstr>
      <vt:lpstr>2주차: 드론의 구조</vt:lpstr>
      <vt:lpstr>3주차: 비행의 원리</vt:lpstr>
      <vt:lpstr>4주차: 좌표와 방향</vt:lpstr>
      <vt:lpstr>5주차: 첫 비행</vt:lpstr>
      <vt:lpstr>6주차: 상승과 하강</vt:lpstr>
      <vt:lpstr>7주차: 전후좌우 이동</vt:lpstr>
      <vt:lpstr>8주차: 회전과 방향</vt:lpstr>
      <vt:lpstr>9주차: 기초 미션</vt:lpstr>
      <vt:lpstr>10주차: 이동 미션</vt:lpstr>
      <vt:lpstr>11주차: 복합 미션</vt:lpstr>
      <vt:lpstr>12주차: 도전 미션</vt:lpstr>
      <vt:lpstr>13주차: 블록 코딩 입문</vt:lpstr>
      <vt:lpstr>14주차: 순차 실행</vt:lpstr>
      <vt:lpstr>15주차: 반복문</vt:lpstr>
      <vt:lpstr>16주차: 조건문</vt:lpstr>
      <vt:lpstr>17주차: 블록 코딩 프로젝트</vt:lpstr>
      <vt:lpstr>18주차: JavaScript 기초</vt:lpstr>
      <vt:lpstr>19주차: 비행 프로그래밍</vt:lpstr>
      <vt:lpstr>20주차: 반복과 조건</vt:lpstr>
      <vt:lpstr>21주차: 자율비행 코딩</vt:lpstr>
      <vt:lpstr>22주차: 프로젝트 기획</vt:lpstr>
      <vt:lpstr>23주차: 프로젝트 개발</vt:lpstr>
      <vt:lpstr>24주차: 발표와 시연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(대학원생) 강경태 (기계공학과)</cp:lastModifiedBy>
  <cp:revision>3</cp:revision>
  <dcterms:created xsi:type="dcterms:W3CDTF">2018-06-07T21:39:02Z</dcterms:created>
  <dcterms:modified xsi:type="dcterms:W3CDTF">2026-02-17T08:46:49Z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