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8" r:id="rId3"/>
    <p:sldId id="259" r:id="rId4"/>
    <p:sldId id="260" r:id="rId5"/>
    <p:sldId id="261" r:id="rId6"/>
    <p:sldId id="274" r:id="rId7"/>
    <p:sldId id="273" r:id="rId8"/>
    <p:sldId id="275" r:id="rId9"/>
    <p:sldId id="263" r:id="rId10"/>
    <p:sldId id="264" r:id="rId11"/>
    <p:sldId id="266" r:id="rId12"/>
    <p:sldId id="267" r:id="rId13"/>
    <p:sldId id="276" r:id="rId14"/>
    <p:sldId id="268" r:id="rId15"/>
    <p:sldId id="269" r:id="rId16"/>
    <p:sldId id="270" r:id="rId17"/>
    <p:sldId id="271" r:id="rId18"/>
    <p:sldId id="272" r:id="rId19"/>
    <p:sldId id="277" r:id="rId20"/>
    <p:sldId id="278"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71" d="100"/>
          <a:sy n="171" d="100"/>
        </p:scale>
        <p:origin x="4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384838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여러분! 지난 주에 드론 부품을 하나하나 배웠죠? 오늘은 그 부품들이 어떻게 협력해서 드론을 하늘에 띄우고 자유롭게 움직이게 하는지 배울 거예요.
먼저 드론에 작용하는 네 가지 힘을 알아보고, 그다음에 스로틀, 롤, 피치, 요라는 멋진 이름의 네 가지 조종법을 배울 거예요. 오늘 수업이 끝나면 이 단어들을 친구한테 설명할 수 있을 거예요!</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오늘의 목표를 같이 읽어볼까요? 먼저 드론을 하늘에 띄우는 네 가지 힘을 배우고, 그다음에 스로틀, 롤, 피치, 요라는 네 가지 조종법을 배울 거예요.
이름이 좀 어렵게 들리겠지만 선생님이 쉬운 비유로 하나씩 설명해줄 테니 걱정 마세요. 수업 끝에는 몸으로 직접 표현도 해볼 거예요!</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드론에는 네 가지 힘이 작용해요. 양력은 프로펠러가 공기를 아래로 밀면서 드론을 위로 띄우는 힘이에요. 수영장에서 물을 아래로 차면 몸이 올라오는 것처럼요!
중력은 지구가 모든 걸 아래로 끌어당기는 힘이에요. 추력은 드론을 앞으로 밀어주고, 항력은 공기가 움직임을 방해해요. 자전거를 빠르게 타면 얼굴에 바람이 세게 부는 거, 그게 항력이에요!</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드론이 공중에서 가만히 멈춰있는 걸 호버링이라고 해요. 저울 양쪽 무게가 같을 때 수평이 되듯, 양력과 중력이 같아지면 드론이 그 자리에 떠있어요.
그런데 네 개의 프로펠러 속도를 다르게 하면 어떻게 될까요? 한쪽만 빠르게 돌리면 그쪽이 올라가고 반대쪽은 내려가면서 드론이 기울어져요. 이 원리가 바로 지금부터 배울 스로틀, 롤, 피치, 요와 연결돼요!</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조종법, 스로틀이에요! 스로틀은 프로펠러 네 개의 속도를 한꺼번에 올리거나 내리는 거예요. 엘리베이터 버튼을 누르면 위아래로 가는 것처럼, 스로틀을 올리면 양력이 커져서 드론이 올라가고 내리면 양력이 줄어서 드론이 내려와요.
조종기에서는 왼쪽 스틱을 위아래로 움직여서 조절해요. 제일 기본적이면서도 가장 중요한 조종이에요!</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B92DB-9CDE-AAF4-4B0A-1F3EC223B7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B5DFB2-1FF5-D322-BBE9-25440946CA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A0D6AB-4463-A38A-FF57-62B04668DA5F}"/>
              </a:ext>
            </a:extLst>
          </p:cNvPr>
          <p:cNvSpPr>
            <a:spLocks noGrp="1"/>
          </p:cNvSpPr>
          <p:nvPr>
            <p:ph type="body" idx="1"/>
          </p:nvPr>
        </p:nvSpPr>
        <p:spPr/>
        <p:txBody>
          <a:bodyPr/>
          <a:lstStyle/>
          <a:p>
            <a:r>
              <a:rPr lang="en-US" dirty="0"/>
              <a:t>두 번째 조종법, 롤이에요! 드론이 옆으로 기울어지는 움직임이에요. 비행기가 방향을 바꿀 때 날개가 한쪽으로 기울어지는 것 본 적 있죠? 그게 롤이에요!
오른쪽으로 롤하면 오른쪽 프로펠러가 느려져서 오른쪽이 내려가고, 드론이 오른쪽으로 미끄러져요. 다 같이 두 팔을 양옆으로 펴보세요. 오른쪽 팔을 내리면 오른쪽 롤, 왼쪽 팔을 내리면 왼쪽 롤이에요!</a:t>
            </a:r>
          </a:p>
        </p:txBody>
      </p:sp>
      <p:sp>
        <p:nvSpPr>
          <p:cNvPr id="4" name="Slide Number Placeholder 3">
            <a:extLst>
              <a:ext uri="{FF2B5EF4-FFF2-40B4-BE49-F238E27FC236}">
                <a16:creationId xmlns:a16="http://schemas.microsoft.com/office/drawing/2014/main" id="{75969EAE-FCCB-3F49-A81F-388B6212671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1742925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DDC1F-2FC1-7CD6-E069-18B9E2ED58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FA8808-1E37-97CA-6CA8-7547752DBE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51C150-3AF7-A88E-4FD4-4248872023B6}"/>
              </a:ext>
            </a:extLst>
          </p:cNvPr>
          <p:cNvSpPr>
            <a:spLocks noGrp="1"/>
          </p:cNvSpPr>
          <p:nvPr>
            <p:ph type="body" idx="1"/>
          </p:nvPr>
        </p:nvSpPr>
        <p:spPr/>
        <p:txBody>
          <a:bodyPr/>
          <a:lstStyle/>
          <a:p>
            <a:r>
              <a:rPr lang="en-US" dirty="0"/>
              <a:t>두 번째 조종법, 롤이에요! 드론이 옆으로 기울어지는 움직임이에요. 비행기가 방향을 바꿀 때 날개가 한쪽으로 기울어지는 것 본 적 있죠? 그게 롤이에요!
오른쪽으로 롤하면 오른쪽 프로펠러가 느려져서 오른쪽이 내려가고, 드론이 오른쪽으로 미끄러져요. 다 같이 두 팔을 양옆으로 펴보세요. 오른쪽 팔을 내리면 오른쪽 롤, 왼쪽 팔을 내리면 왼쪽 롤이에요!</a:t>
            </a:r>
          </a:p>
        </p:txBody>
      </p:sp>
      <p:sp>
        <p:nvSpPr>
          <p:cNvPr id="4" name="Slide Number Placeholder 3">
            <a:extLst>
              <a:ext uri="{FF2B5EF4-FFF2-40B4-BE49-F238E27FC236}">
                <a16:creationId xmlns:a16="http://schemas.microsoft.com/office/drawing/2014/main" id="{8C68EB93-AAC0-EB77-F5B5-F90E15A62F8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931462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E0478-3457-E26B-3876-EA6A374408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34DE5-AC07-E79A-013E-976A54387A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FDDFFC-31CB-8B0A-05E5-B016A39BA454}"/>
              </a:ext>
            </a:extLst>
          </p:cNvPr>
          <p:cNvSpPr>
            <a:spLocks noGrp="1"/>
          </p:cNvSpPr>
          <p:nvPr>
            <p:ph type="body" idx="1"/>
          </p:nvPr>
        </p:nvSpPr>
        <p:spPr/>
        <p:txBody>
          <a:bodyPr/>
          <a:lstStyle/>
          <a:p>
            <a:r>
              <a:rPr lang="en-US" dirty="0"/>
              <a:t>두 번째 조종법, 롤이에요! 드론이 옆으로 기울어지는 움직임이에요. 비행기가 방향을 바꿀 때 날개가 한쪽으로 기울어지는 것 본 적 있죠? 그게 롤이에요!
오른쪽으로 롤하면 오른쪽 프로펠러가 느려져서 오른쪽이 내려가고, 드론이 오른쪽으로 미끄러져요. 다 같이 두 팔을 양옆으로 펴보세요. 오른쪽 팔을 내리면 오른쪽 롤, 왼쪽 팔을 내리면 왼쪽 롤이에요!</a:t>
            </a:r>
          </a:p>
        </p:txBody>
      </p:sp>
      <p:sp>
        <p:nvSpPr>
          <p:cNvPr id="4" name="Slide Number Placeholder 3">
            <a:extLst>
              <a:ext uri="{FF2B5EF4-FFF2-40B4-BE49-F238E27FC236}">
                <a16:creationId xmlns:a16="http://schemas.microsoft.com/office/drawing/2014/main" id="{EEC18823-41AE-46FB-EF1B-EA587E7990B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2683062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조종법, 피치예요! 시소를 생각해봐요. 앞이 내려가면 뒤가 올라가죠? 드론도 앞쪽 프로펠러를 느리게 하면 앞이 기울어져서 앞으로 달려나가요.
반대로 뒤쪽을 느리게 하면 뒤로 물러나요. 지금 몸을 앞으로 살짝 숙여봐요. 그게 앞으로 피치한 상태예요! 뒤로 젖히면 뒤로 피치예요. 어때요, 생각보다 간단하죠?</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조종법, 요예요! 팽이가 한 자리에서 빙글빙글 도는 것처럼, 드론도 위치는 바꾸지 않고 바라보는 방향만 바꿀 수 있어요. 제자리에서 한 바퀴 돌아봐요! 그게 요 운동이에요.
드론 카메라로 주변을 둘러보게 하거나 원하는 방향을 향하게 할 때 요를 써요. 조종기에서는 왼쪽 스틱을 좌우로 움직이면 요를 조절해요!</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배운 내용을 정리해봐요. 드론에는 양력, 중력, 추력, 항력 네 가지 힘이 작용하고, 이 힘의 균형이 비행을 결정해요.
드론을 조종하는 네 가지 방법은 스로틀, 롤, 피치, 요예요. 스로틀로 위아래, 롤로 좌우, 피치로 앞뒤, 요로 방향을 바꿔요. 조종기 왼쪽 스틱이 스로틀과 요, 오른쪽 스틱이 롤과 피치를 담당해요!</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퀴즈 시간이에요! 첫 번째, 공중에서 제자리에 멈추는 걸 뭐라고 했죠? 맞아요, 호버링! 양력과 중력이 같을 때예요. 두 번째, 위아래로 움직이는 건? 스로틀! 엘리베이터 버튼처럼요.
세 번째, 좌우로 기울어지는 건? 롤! 비행기 날개처럼요. 네 번째, 제자리에서 방향 바꾸는 건? 요! 팽이처럼요. 다 맞혔나요? 대단해요!</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D7094-CBCC-997B-31C4-0DD715F2A7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0FF25D-7E37-60A9-AA2C-D9323CDC7C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D00069-79E1-4F59-FD11-6F41BF03F2E9}"/>
              </a:ext>
            </a:extLst>
          </p:cNvPr>
          <p:cNvSpPr>
            <a:spLocks noGrp="1"/>
          </p:cNvSpPr>
          <p:nvPr>
            <p:ph type="body" idx="1"/>
          </p:nvPr>
        </p:nvSpPr>
        <p:spPr/>
        <p:txBody>
          <a:bodyPr/>
          <a:lstStyle/>
          <a:p>
            <a:r>
              <a:rPr lang="en-US" dirty="0"/>
              <a:t>퀴즈 시간이에요! 첫 번째, 공중에서 제자리에 멈추는 걸 뭐라고 했죠? 맞아요, 호버링! 양력과 중력이 같을 때예요. 두 번째, 위아래로 움직이는 건? 스로틀! 엘리베이터 버튼처럼요.
세 번째, 좌우로 기울어지는 건? 롤! 비행기 날개처럼요. 네 번째, 제자리에서 방향 바꾸는 건? 요! 팽이처럼요. 다 맞혔나요? 대단해요!</a:t>
            </a:r>
          </a:p>
        </p:txBody>
      </p:sp>
      <p:sp>
        <p:nvSpPr>
          <p:cNvPr id="4" name="Slide Number Placeholder 3">
            <a:extLst>
              <a:ext uri="{FF2B5EF4-FFF2-40B4-BE49-F238E27FC236}">
                <a16:creationId xmlns:a16="http://schemas.microsoft.com/office/drawing/2014/main" id="{D5B13E91-1BB9-A1F2-9B5D-013DB788E98F}"/>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3764229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정말 많이 배웠어요, 수고했어요! 다음 주엔 드론의 위치를 숫자로 나타내는 방법을 배울 거예요. X, Y, Z 세 개의 축으로 3차원 공간 어디든 표현할 수 있어요.
그리고 오늘 배운 스로틀, 롤, 피치가 좌표를 어떻게 바꾸는지도 연결해볼 거예요. 집에 가서 스로틀, 롤, 피치, 요를 가족한테 몸으로 보여주며 설명해보세요!</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보너스 코딩 타임이에요! 지난 주에 C++에서 변수를 만들 때 타입을 써야 한다고 배웠죠? 오늘은 그 타입, 즉 자료형이 어떤 것들이 있는지 자세히 알아볼 거예요.
드론 코드에서도 고도는 소수점 숫자, 모터 상태는 참거짓으로 저장해요. 자료형을 알면 코드를 훨씬 잘 이해할 수 있어요!</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C++의 기본 자료형 네 가지를 알아봐요. int는 1, 10, 100처럼 소수점 없는 정수를 저장해요. double은 1.5, 3.14처럼 소수점 있는 숫자를 저장해요.
string은 글자나 문장을 저장하고, bool은 참이냐 거짓이냐 두 가지만 저장해요. 드론 코드에서 '현재 고도'는 소수점이 있으니 double, '모터가 켜졌나요?'는 참거짓이니 bool을 쓰겠죠?</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파이썬과 C++의 가장 큰 차이가 바로 자료형이에요. 파이썬은 age = 10이라고 쓰면 '아, 이건 정수구나'하고 알아서 결정해요. C++은 int age = 10;처럼 int라고 직접 써줘야 해요.
번거롭게 느껴지지만 덕분에 컴퓨터가 더 빠르고 정확하게 실행할 수 있어요. 의사가 처방전에 약 이름을 정확히 쓰는 것처럼, C++은 정확하게 타입을 명시해줘요!</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자료형 퀴즈예요! 네 가지 상황에서 어떤 자료형을 써야 할지 골라봐요. 첫 번째, 배터리 잔량은 80% 같은 정수니까 int예요. 두 번째, 고도 2.35m처럼 소수점이 있으면 double이에요.
세 번째, 드론 이름은 글자니까 string이에요. 네 번째, 날고 있냐 없냐는 두 가지뿐이니 bool이에요. 모두 맞혔나요?</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F116A-68BF-AD06-E95D-845DCA5AA5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6B161-10A5-2732-4859-E498F486BB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79ADB2-0E33-8505-BCC7-98411CF3DC64}"/>
              </a:ext>
            </a:extLst>
          </p:cNvPr>
          <p:cNvSpPr>
            <a:spLocks noGrp="1"/>
          </p:cNvSpPr>
          <p:nvPr>
            <p:ph type="body" idx="1"/>
          </p:nvPr>
        </p:nvSpPr>
        <p:spPr/>
        <p:txBody>
          <a:bodyPr/>
          <a:lstStyle/>
          <a:p>
            <a:r>
              <a:rPr lang="en-US" dirty="0"/>
              <a:t>자료형 퀴즈예요! 네 가지 상황에서 어떤 자료형을 써야 할지 골라봐요. 첫 번째, 배터리 잔량은 80% 같은 정수니까 int예요. 두 번째, 고도 2.35m처럼 소수점이 있으면 double이에요.
세 번째, 드론 이름은 글자니까 string이에요. 네 번째, 날고 있냐 없냐는 두 가지뿐이니 bool이에요. 모두 맞혔나요?</a:t>
            </a:r>
          </a:p>
        </p:txBody>
      </p:sp>
      <p:sp>
        <p:nvSpPr>
          <p:cNvPr id="4" name="Slide Number Placeholder 3">
            <a:extLst>
              <a:ext uri="{FF2B5EF4-FFF2-40B4-BE49-F238E27FC236}">
                <a16:creationId xmlns:a16="http://schemas.microsoft.com/office/drawing/2014/main" id="{DAC49D1F-6AA5-8133-AC0F-5978BE0441B9}"/>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5769344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BDD72-F56A-1FA6-8C64-FA01D4F21A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4F0816-BF8D-0228-8432-367825E90E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78AD5F-58BB-259A-9F7C-41F403C566A9}"/>
              </a:ext>
            </a:extLst>
          </p:cNvPr>
          <p:cNvSpPr>
            <a:spLocks noGrp="1"/>
          </p:cNvSpPr>
          <p:nvPr>
            <p:ph type="body" idx="1"/>
          </p:nvPr>
        </p:nvSpPr>
        <p:spPr/>
        <p:txBody>
          <a:bodyPr/>
          <a:lstStyle/>
          <a:p>
            <a:r>
              <a:rPr lang="en-US" dirty="0"/>
              <a:t>자료형 퀴즈예요! 네 가지 상황에서 어떤 자료형을 써야 할지 골라봐요. 첫 번째, 배터리 잔량은 80% 같은 정수니까 int예요. 두 번째, 고도 2.35m처럼 소수점이 있으면 double이에요.
세 번째, 드론 이름은 글자니까 string이에요. 네 번째, 날고 있냐 없냐는 두 가지뿐이니 bool이에요. 모두 맞혔나요?</a:t>
            </a:r>
          </a:p>
        </p:txBody>
      </p:sp>
      <p:sp>
        <p:nvSpPr>
          <p:cNvPr id="4" name="Slide Number Placeholder 3">
            <a:extLst>
              <a:ext uri="{FF2B5EF4-FFF2-40B4-BE49-F238E27FC236}">
                <a16:creationId xmlns:a16="http://schemas.microsoft.com/office/drawing/2014/main" id="{1EBD0340-5D6C-07F9-BA31-CFCDB7B94AA8}"/>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237885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admin/Desktop/codrone/materials/PPT/.ppt-work/images/week03/slide01.jp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2286000"/>
            <a:ext cx="9144000" cy="2857500"/>
          </a:xfrm>
          <a:prstGeom prst="rect">
            <a:avLst/>
          </a:prstGeom>
          <a:solidFill>
            <a:srgbClr val="3B0764">
              <a:alpha val="80000"/>
            </a:srgbClr>
          </a:solidFill>
          <a:ln w="12700">
            <a:solidFill>
              <a:srgbClr val="3B0764"/>
            </a:solidFill>
            <a:prstDash val="solid"/>
          </a:ln>
        </p:spPr>
        <p:txBody>
          <a:bodyPr/>
          <a:lstStyle/>
          <a:p>
            <a:endParaRPr lang="ko-KR" altLang="en-US"/>
          </a:p>
        </p:txBody>
      </p:sp>
      <p:sp>
        <p:nvSpPr>
          <p:cNvPr id="4" name="Shape 1"/>
          <p:cNvSpPr/>
          <p:nvPr/>
        </p:nvSpPr>
        <p:spPr>
          <a:xfrm>
            <a:off x="0" y="3200400"/>
            <a:ext cx="9144000" cy="1943100"/>
          </a:xfrm>
          <a:prstGeom prst="rect">
            <a:avLst/>
          </a:prstGeom>
          <a:solidFill>
            <a:srgbClr val="3B0764">
              <a:alpha val="90000"/>
            </a:srgbClr>
          </a:solidFill>
          <a:ln w="12700">
            <a:solidFill>
              <a:srgbClr val="3B0764"/>
            </a:solidFill>
            <a:prstDash val="solid"/>
          </a:ln>
        </p:spPr>
        <p:txBody>
          <a:bodyPr/>
          <a:lstStyle/>
          <a:p>
            <a:endParaRPr lang="ko-KR" altLang="en-US"/>
          </a:p>
        </p:txBody>
      </p:sp>
      <p:sp>
        <p:nvSpPr>
          <p:cNvPr id="5" name="Shape 2"/>
          <p:cNvSpPr/>
          <p:nvPr/>
        </p:nvSpPr>
        <p:spPr>
          <a:xfrm>
            <a:off x="0" y="0"/>
            <a:ext cx="9144000" cy="54864"/>
          </a:xfrm>
          <a:prstGeom prst="rect">
            <a:avLst/>
          </a:prstGeom>
          <a:solidFill>
            <a:srgbClr val="A78BFA"/>
          </a:solidFill>
          <a:ln w="12700">
            <a:solidFill>
              <a:srgbClr val="A78BFA"/>
            </a:solidFill>
            <a:prstDash val="solid"/>
          </a:ln>
        </p:spPr>
        <p:txBody>
          <a:bodyPr/>
          <a:lstStyle/>
          <a:p>
            <a:endParaRPr lang="ko-KR" altLang="en-US"/>
          </a:p>
        </p:txBody>
      </p:sp>
      <p:sp>
        <p:nvSpPr>
          <p:cNvPr id="6" name="Text 3"/>
          <p:cNvSpPr/>
          <p:nvPr/>
        </p:nvSpPr>
        <p:spPr>
          <a:xfrm>
            <a:off x="457200" y="640080"/>
            <a:ext cx="8229600" cy="411480"/>
          </a:xfrm>
          <a:prstGeom prst="rect">
            <a:avLst/>
          </a:prstGeom>
          <a:noFill/>
          <a:ln/>
        </p:spPr>
        <p:txBody>
          <a:bodyPr wrap="square" rtlCol="0" anchor="ctr"/>
          <a:lstStyle/>
          <a:p>
            <a:pPr marL="0" indent="0" algn="ctr">
              <a:buNone/>
            </a:pPr>
            <a:r>
              <a:rPr lang="en-US" sz="2200" b="1" dirty="0">
                <a:solidFill>
                  <a:srgbClr val="FFFFFF"/>
                </a:solidFill>
                <a:latin typeface="맑은 고딕" pitchFamily="34" charset="0"/>
                <a:ea typeface="맑은 고딕" pitchFamily="34" charset="-122"/>
                <a:cs typeface="맑은 고딕" pitchFamily="34" charset="-120"/>
              </a:rPr>
              <a:t>드론 코딩 3주차</a:t>
            </a:r>
            <a:endParaRPr lang="en-US" sz="2200" dirty="0"/>
          </a:p>
        </p:txBody>
      </p:sp>
      <p:sp>
        <p:nvSpPr>
          <p:cNvPr id="7" name="Text 4"/>
          <p:cNvSpPr/>
          <p:nvPr/>
        </p:nvSpPr>
        <p:spPr>
          <a:xfrm>
            <a:off x="457200" y="1463040"/>
            <a:ext cx="8229600" cy="1005840"/>
          </a:xfrm>
          <a:prstGeom prst="rect">
            <a:avLst/>
          </a:prstGeom>
          <a:noFill/>
          <a:ln/>
        </p:spPr>
        <p:txBody>
          <a:bodyPr wrap="square" rtlCol="0" anchor="ctr"/>
          <a:lstStyle/>
          <a:p>
            <a:pPr marL="0" indent="0" algn="ctr">
              <a:buNone/>
            </a:pPr>
            <a:r>
              <a:rPr lang="en-US" sz="3600" b="1" dirty="0">
                <a:solidFill>
                  <a:srgbClr val="FFFFFF"/>
                </a:solidFill>
                <a:latin typeface="맑은 고딕" pitchFamily="34" charset="0"/>
                <a:ea typeface="맑은 고딕" pitchFamily="34" charset="-122"/>
                <a:cs typeface="맑은 고딕" pitchFamily="34" charset="-120"/>
              </a:rPr>
              <a:t>비행의 원리</a:t>
            </a:r>
            <a:endParaRPr lang="en-US" sz="3600" dirty="0"/>
          </a:p>
        </p:txBody>
      </p:sp>
      <p:sp>
        <p:nvSpPr>
          <p:cNvPr id="8" name="Text 5"/>
          <p:cNvSpPr/>
          <p:nvPr/>
        </p:nvSpPr>
        <p:spPr>
          <a:xfrm>
            <a:off x="914400" y="2651760"/>
            <a:ext cx="7315200" cy="731520"/>
          </a:xfrm>
          <a:prstGeom prst="rect">
            <a:avLst/>
          </a:prstGeom>
          <a:noFill/>
          <a:ln/>
        </p:spPr>
        <p:txBody>
          <a:bodyPr wrap="square" rtlCol="0" anchor="ctr"/>
          <a:lstStyle/>
          <a:p>
            <a:pPr marL="0" indent="0" algn="ctr">
              <a:lnSpc>
                <a:spcPct val="130000"/>
              </a:lnSpc>
              <a:buNone/>
            </a:pPr>
            <a:r>
              <a:rPr lang="en-US" sz="2000" dirty="0">
                <a:solidFill>
                  <a:srgbClr val="FFFFFF"/>
                </a:solidFill>
                <a:latin typeface="맑은 고딕" pitchFamily="34" charset="0"/>
                <a:ea typeface="맑은 고딕" pitchFamily="34" charset="-122"/>
                <a:cs typeface="맑은 고딕" pitchFamily="34" charset="-120"/>
              </a:rPr>
              <a:t>드론은 어떻게 뜨고 움직일까?</a:t>
            </a:r>
            <a:endParaRPr lang="en-US" sz="2000" dirty="0"/>
          </a:p>
        </p:txBody>
      </p:sp>
      <p:sp>
        <p:nvSpPr>
          <p:cNvPr id="9" name="Text 6"/>
          <p:cNvSpPr/>
          <p:nvPr/>
        </p:nvSpPr>
        <p:spPr>
          <a:xfrm>
            <a:off x="457200" y="4389120"/>
            <a:ext cx="8229600" cy="320040"/>
          </a:xfrm>
          <a:prstGeom prst="rect">
            <a:avLst/>
          </a:prstGeom>
          <a:noFill/>
          <a:ln/>
        </p:spPr>
        <p:txBody>
          <a:bodyPr wrap="square" rtlCol="0" anchor="ctr"/>
          <a:lstStyle/>
          <a:p>
            <a:pPr marL="0" indent="0" algn="ctr">
              <a:buNone/>
            </a:pPr>
            <a:r>
              <a:rPr lang="en-US" sz="1400" dirty="0">
                <a:solidFill>
                  <a:srgbClr val="FFFFFF"/>
                </a:solidFill>
                <a:latin typeface="맑은 고딕" pitchFamily="34" charset="0"/>
                <a:ea typeface="맑은 고딕" pitchFamily="34" charset="-122"/>
                <a:cs typeface="맑은 고딕" pitchFamily="34" charset="-120"/>
              </a:rPr>
              <a:t>양력·중력·추력·항력 그리고 스로틀·롤·피치·요</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8B5CF6"/>
          </a:solidFill>
          <a:ln w="12700">
            <a:solidFill>
              <a:srgbClr val="8B5CF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학습 목표</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Text 7"/>
          <p:cNvSpPr/>
          <p:nvPr/>
        </p:nvSpPr>
        <p:spPr>
          <a:xfrm>
            <a:off x="640080" y="804672"/>
            <a:ext cx="7863840" cy="365760"/>
          </a:xfrm>
          <a:prstGeom prst="rect">
            <a:avLst/>
          </a:prstGeom>
          <a:noFill/>
          <a:ln/>
        </p:spPr>
        <p:txBody>
          <a:bodyPr wrap="square" rtlCol="0" anchor="ctr"/>
          <a:lstStyle/>
          <a:p>
            <a:pPr marL="0" indent="0">
              <a:buNone/>
            </a:pPr>
            <a:r>
              <a:rPr lang="en-US" sz="1800" b="1" dirty="0">
                <a:solidFill>
                  <a:srgbClr val="7C3AED"/>
                </a:solidFill>
                <a:latin typeface="맑은 고딕" pitchFamily="34" charset="0"/>
                <a:ea typeface="맑은 고딕" pitchFamily="34" charset="-122"/>
                <a:cs typeface="맑은 고딕" pitchFamily="34" charset="-120"/>
              </a:rPr>
              <a:t>오늘 수업이 끝나면 네 가지 힘과 네 가지 조종법을 설명할 수 있다</a:t>
            </a:r>
            <a:endParaRPr lang="en-US" sz="1800" dirty="0"/>
          </a:p>
        </p:txBody>
      </p:sp>
      <p:sp>
        <p:nvSpPr>
          <p:cNvPr id="10" name="Shape 8"/>
          <p:cNvSpPr/>
          <p:nvPr/>
        </p:nvSpPr>
        <p:spPr>
          <a:xfrm>
            <a:off x="640080" y="1280160"/>
            <a:ext cx="502920" cy="502920"/>
          </a:xfrm>
          <a:prstGeom prst="ellipse">
            <a:avLst/>
          </a:prstGeom>
          <a:solidFill>
            <a:srgbClr val="8B5CF6"/>
          </a:solidFill>
          <a:ln w="12700">
            <a:solidFill>
              <a:srgbClr val="8B5CF6"/>
            </a:solidFill>
            <a:prstDash val="solid"/>
          </a:ln>
        </p:spPr>
        <p:txBody>
          <a:bodyPr/>
          <a:lstStyle/>
          <a:p>
            <a:endParaRPr lang="ko-KR" altLang="en-US"/>
          </a:p>
        </p:txBody>
      </p:sp>
      <p:sp>
        <p:nvSpPr>
          <p:cNvPr id="11" name="Text 9"/>
          <p:cNvSpPr/>
          <p:nvPr/>
        </p:nvSpPr>
        <p:spPr>
          <a:xfrm>
            <a:off x="640080" y="1399032"/>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01</a:t>
            </a:r>
            <a:endParaRPr lang="en-US" sz="1400" dirty="0"/>
          </a:p>
        </p:txBody>
      </p:sp>
      <p:sp>
        <p:nvSpPr>
          <p:cNvPr id="12" name="Text 10"/>
          <p:cNvSpPr/>
          <p:nvPr/>
        </p:nvSpPr>
        <p:spPr>
          <a:xfrm>
            <a:off x="1280160" y="1298448"/>
            <a:ext cx="7223760" cy="420624"/>
          </a:xfrm>
          <a:prstGeom prst="rect">
            <a:avLst/>
          </a:prstGeom>
          <a:noFill/>
          <a:ln/>
        </p:spPr>
        <p:txBody>
          <a:bodyPr wrap="square" rtlCol="0" anchor="ctr"/>
          <a:lstStyle/>
          <a:p>
            <a:pPr marL="0" indent="0">
              <a:lnSpc>
                <a:spcPct val="130000"/>
              </a:lnSpc>
              <a:buNone/>
            </a:pPr>
            <a:r>
              <a:rPr lang="en-US" sz="1600" dirty="0">
                <a:solidFill>
                  <a:srgbClr val="3B0764"/>
                </a:solidFill>
                <a:latin typeface="맑은 고딕" pitchFamily="34" charset="0"/>
                <a:ea typeface="맑은 고딕" pitchFamily="34" charset="-122"/>
                <a:cs typeface="맑은 고딕" pitchFamily="34" charset="-120"/>
              </a:rPr>
              <a:t>1. 양력·중력·추력·항력 네 가지 힘의 역할을 설명할 수 있다</a:t>
            </a:r>
            <a:endParaRPr lang="en-US" sz="1600" dirty="0"/>
          </a:p>
        </p:txBody>
      </p:sp>
      <p:sp>
        <p:nvSpPr>
          <p:cNvPr id="13" name="Shape 11"/>
          <p:cNvSpPr/>
          <p:nvPr/>
        </p:nvSpPr>
        <p:spPr>
          <a:xfrm>
            <a:off x="640080" y="1938528"/>
            <a:ext cx="502920" cy="502920"/>
          </a:xfrm>
          <a:prstGeom prst="ellipse">
            <a:avLst/>
          </a:prstGeom>
          <a:solidFill>
            <a:srgbClr val="7C3AED"/>
          </a:solidFill>
          <a:ln w="12700">
            <a:solidFill>
              <a:srgbClr val="7C3AED"/>
            </a:solidFill>
            <a:prstDash val="solid"/>
          </a:ln>
        </p:spPr>
        <p:txBody>
          <a:bodyPr/>
          <a:lstStyle/>
          <a:p>
            <a:endParaRPr lang="ko-KR" altLang="en-US"/>
          </a:p>
        </p:txBody>
      </p:sp>
      <p:sp>
        <p:nvSpPr>
          <p:cNvPr id="14" name="Text 12"/>
          <p:cNvSpPr/>
          <p:nvPr/>
        </p:nvSpPr>
        <p:spPr>
          <a:xfrm>
            <a:off x="640080" y="2057400"/>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02</a:t>
            </a:r>
            <a:endParaRPr lang="en-US" sz="1400" dirty="0"/>
          </a:p>
        </p:txBody>
      </p:sp>
      <p:sp>
        <p:nvSpPr>
          <p:cNvPr id="15" name="Text 13"/>
          <p:cNvSpPr/>
          <p:nvPr/>
        </p:nvSpPr>
        <p:spPr>
          <a:xfrm>
            <a:off x="1280160" y="1956816"/>
            <a:ext cx="7223760" cy="420624"/>
          </a:xfrm>
          <a:prstGeom prst="rect">
            <a:avLst/>
          </a:prstGeom>
          <a:noFill/>
          <a:ln/>
        </p:spPr>
        <p:txBody>
          <a:bodyPr wrap="square" rtlCol="0" anchor="ctr"/>
          <a:lstStyle/>
          <a:p>
            <a:pPr marL="0" indent="0">
              <a:lnSpc>
                <a:spcPct val="130000"/>
              </a:lnSpc>
              <a:buNone/>
            </a:pPr>
            <a:r>
              <a:rPr lang="en-US" sz="1600" dirty="0">
                <a:solidFill>
                  <a:srgbClr val="3B0764"/>
                </a:solidFill>
                <a:latin typeface="맑은 고딕" pitchFamily="34" charset="0"/>
                <a:ea typeface="맑은 고딕" pitchFamily="34" charset="-122"/>
                <a:cs typeface="맑은 고딕" pitchFamily="34" charset="-120"/>
              </a:rPr>
              <a:t>2. 호버링이 가능한 조건(양력 = 중력)을 말할 수 있다</a:t>
            </a:r>
            <a:endParaRPr lang="en-US" sz="1600" dirty="0"/>
          </a:p>
        </p:txBody>
      </p:sp>
      <p:sp>
        <p:nvSpPr>
          <p:cNvPr id="16" name="Shape 14"/>
          <p:cNvSpPr/>
          <p:nvPr/>
        </p:nvSpPr>
        <p:spPr>
          <a:xfrm>
            <a:off x="640080" y="2596896"/>
            <a:ext cx="502920" cy="502920"/>
          </a:xfrm>
          <a:prstGeom prst="ellipse">
            <a:avLst/>
          </a:prstGeom>
          <a:solidFill>
            <a:srgbClr val="A78BFA"/>
          </a:solidFill>
          <a:ln w="12700">
            <a:solidFill>
              <a:srgbClr val="A78BFA"/>
            </a:solidFill>
            <a:prstDash val="solid"/>
          </a:ln>
        </p:spPr>
        <p:txBody>
          <a:bodyPr/>
          <a:lstStyle/>
          <a:p>
            <a:endParaRPr lang="ko-KR" altLang="en-US"/>
          </a:p>
        </p:txBody>
      </p:sp>
      <p:sp>
        <p:nvSpPr>
          <p:cNvPr id="17" name="Text 15"/>
          <p:cNvSpPr/>
          <p:nvPr/>
        </p:nvSpPr>
        <p:spPr>
          <a:xfrm>
            <a:off x="640080" y="2715768"/>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03</a:t>
            </a:r>
            <a:endParaRPr lang="en-US" sz="1400" dirty="0"/>
          </a:p>
        </p:txBody>
      </p:sp>
      <p:sp>
        <p:nvSpPr>
          <p:cNvPr id="18" name="Text 16"/>
          <p:cNvSpPr/>
          <p:nvPr/>
        </p:nvSpPr>
        <p:spPr>
          <a:xfrm>
            <a:off x="1280160" y="2615184"/>
            <a:ext cx="7223760" cy="420624"/>
          </a:xfrm>
          <a:prstGeom prst="rect">
            <a:avLst/>
          </a:prstGeom>
          <a:noFill/>
          <a:ln/>
        </p:spPr>
        <p:txBody>
          <a:bodyPr wrap="square" rtlCol="0" anchor="ctr"/>
          <a:lstStyle/>
          <a:p>
            <a:pPr marL="0" indent="0">
              <a:lnSpc>
                <a:spcPct val="130000"/>
              </a:lnSpc>
              <a:buNone/>
            </a:pPr>
            <a:r>
              <a:rPr lang="en-US" sz="1600" dirty="0">
                <a:solidFill>
                  <a:srgbClr val="3B0764"/>
                </a:solidFill>
                <a:latin typeface="맑은 고딕" pitchFamily="34" charset="0"/>
                <a:ea typeface="맑은 고딕" pitchFamily="34" charset="-122"/>
                <a:cs typeface="맑은 고딕" pitchFamily="34" charset="-120"/>
              </a:rPr>
              <a:t>3. 스로틀·롤·피치·요 네 가지 조종법을 구분할 수 있다</a:t>
            </a:r>
            <a:endParaRPr lang="en-US" sz="1600" dirty="0"/>
          </a:p>
        </p:txBody>
      </p:sp>
      <p:sp>
        <p:nvSpPr>
          <p:cNvPr id="19" name="Shape 17"/>
          <p:cNvSpPr/>
          <p:nvPr/>
        </p:nvSpPr>
        <p:spPr>
          <a:xfrm>
            <a:off x="640080" y="3255264"/>
            <a:ext cx="502920" cy="502920"/>
          </a:xfrm>
          <a:prstGeom prst="ellipse">
            <a:avLst/>
          </a:prstGeom>
          <a:solidFill>
            <a:srgbClr val="8B5CF6"/>
          </a:solidFill>
          <a:ln w="12700">
            <a:solidFill>
              <a:srgbClr val="8B5CF6"/>
            </a:solidFill>
            <a:prstDash val="solid"/>
          </a:ln>
        </p:spPr>
        <p:txBody>
          <a:bodyPr/>
          <a:lstStyle/>
          <a:p>
            <a:endParaRPr lang="ko-KR" altLang="en-US"/>
          </a:p>
        </p:txBody>
      </p:sp>
      <p:sp>
        <p:nvSpPr>
          <p:cNvPr id="20" name="Text 18"/>
          <p:cNvSpPr/>
          <p:nvPr/>
        </p:nvSpPr>
        <p:spPr>
          <a:xfrm>
            <a:off x="640080" y="3374136"/>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04</a:t>
            </a:r>
            <a:endParaRPr lang="en-US" sz="1400" dirty="0"/>
          </a:p>
        </p:txBody>
      </p:sp>
      <p:sp>
        <p:nvSpPr>
          <p:cNvPr id="21" name="Text 19"/>
          <p:cNvSpPr/>
          <p:nvPr/>
        </p:nvSpPr>
        <p:spPr>
          <a:xfrm>
            <a:off x="1280160" y="3273552"/>
            <a:ext cx="7223760" cy="420624"/>
          </a:xfrm>
          <a:prstGeom prst="rect">
            <a:avLst/>
          </a:prstGeom>
          <a:noFill/>
          <a:ln/>
        </p:spPr>
        <p:txBody>
          <a:bodyPr wrap="square" rtlCol="0" anchor="ctr"/>
          <a:lstStyle/>
          <a:p>
            <a:pPr marL="0" indent="0">
              <a:lnSpc>
                <a:spcPct val="130000"/>
              </a:lnSpc>
              <a:buNone/>
            </a:pPr>
            <a:r>
              <a:rPr lang="en-US" sz="1600" dirty="0">
                <a:solidFill>
                  <a:srgbClr val="3B0764"/>
                </a:solidFill>
                <a:latin typeface="맑은 고딕" pitchFamily="34" charset="0"/>
                <a:ea typeface="맑은 고딕" pitchFamily="34" charset="-122"/>
                <a:cs typeface="맑은 고딕" pitchFamily="34" charset="-120"/>
              </a:rPr>
              <a:t>4. 각 조종이 드론을 어떻게 움직이는지 몸으로 표현할 수 있다</a:t>
            </a:r>
            <a:endParaRPr lang="en-US" sz="1600" dirty="0"/>
          </a:p>
        </p:txBody>
      </p:sp>
      <p:sp>
        <p:nvSpPr>
          <p:cNvPr id="23" name="Text 20"/>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24" name="Text 21"/>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3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8B5CF6"/>
          </a:solidFill>
          <a:ln w="12700">
            <a:solidFill>
              <a:srgbClr val="8B5CF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네 가지 힘</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p:cNvSpPr/>
          <p:nvPr/>
        </p:nvSpPr>
        <p:spPr>
          <a:xfrm>
            <a:off x="457200" y="868680"/>
            <a:ext cx="3840480" cy="3520440"/>
          </a:xfrm>
          <a:prstGeom prst="roundRect">
            <a:avLst>
              <a:gd name="adj" fmla="val 3117"/>
            </a:avLst>
          </a:prstGeom>
          <a:solidFill>
            <a:srgbClr val="F5F3FF"/>
          </a:solidFill>
          <a:ln w="12700">
            <a:solidFill>
              <a:srgbClr val="E2E8F0"/>
            </a:solidFill>
            <a:prstDash val="solid"/>
          </a:ln>
        </p:spPr>
        <p:txBody>
          <a:bodyPr/>
          <a:lstStyle/>
          <a:p>
            <a:endParaRPr lang="ko-KR" altLang="en-US"/>
          </a:p>
        </p:txBody>
      </p:sp>
      <p:pic>
        <p:nvPicPr>
          <p:cNvPr id="10" name="Image 0" descr="/Users/admin/Desktop/codrone/materials/PPT/.ppt-work/images/week03/slide04.jpg"/>
          <p:cNvPicPr>
            <a:picLocks noChangeAspect="1"/>
          </p:cNvPicPr>
          <p:nvPr/>
        </p:nvPicPr>
        <p:blipFill>
          <a:blip r:embed="rId3"/>
          <a:srcRect/>
          <a:stretch/>
        </p:blipFill>
        <p:spPr>
          <a:xfrm>
            <a:off x="502920" y="914400"/>
            <a:ext cx="3749040" cy="3429000"/>
          </a:xfrm>
          <a:prstGeom prst="rect">
            <a:avLst/>
          </a:prstGeom>
        </p:spPr>
      </p:pic>
      <p:sp>
        <p:nvSpPr>
          <p:cNvPr id="11" name="Text 8"/>
          <p:cNvSpPr/>
          <p:nvPr/>
        </p:nvSpPr>
        <p:spPr>
          <a:xfrm>
            <a:off x="4526280" y="960120"/>
            <a:ext cx="4206240" cy="3474720"/>
          </a:xfrm>
          <a:prstGeom prst="rect">
            <a:avLst/>
          </a:prstGeom>
          <a:noFill/>
          <a:ln/>
        </p:spPr>
        <p:txBody>
          <a:bodyPr wrap="square" lIns="254" tIns="254" rIns="254" bIns="254" rtlCol="0" anchor="t">
            <a:noAutofit/>
          </a:bodyPr>
          <a:lstStyle/>
          <a:p>
            <a:pPr marL="203200" indent="-203200">
              <a:lnSpc>
                <a:spcPct val="130000"/>
              </a:lnSpc>
              <a:spcAft>
                <a:spcPts val="1000"/>
              </a:spcAft>
              <a:buSzPct val="100000"/>
              <a:buChar char="•"/>
            </a:pPr>
            <a:r>
              <a:rPr lang="en-US" sz="1400" dirty="0">
                <a:solidFill>
                  <a:srgbClr val="3B0764"/>
                </a:solidFill>
                <a:latin typeface="맑은 고딕" pitchFamily="34" charset="0"/>
                <a:ea typeface="맑은 고딕" pitchFamily="34" charset="-122"/>
                <a:cs typeface="맑은 고딕" pitchFamily="34" charset="-120"/>
              </a:rPr>
              <a:t>[위아래 힘]</a:t>
            </a:r>
            <a:endParaRPr lang="en-US" sz="1400" dirty="0"/>
          </a:p>
          <a:p>
            <a:pPr marL="203200" indent="-203200">
              <a:lnSpc>
                <a:spcPct val="130000"/>
              </a:lnSpc>
              <a:spcAft>
                <a:spcPts val="1000"/>
              </a:spcAft>
              <a:buSzPct val="100000"/>
              <a:buChar char="•"/>
            </a:pPr>
            <a:r>
              <a:rPr lang="en-US" sz="1400" dirty="0">
                <a:solidFill>
                  <a:srgbClr val="3B0764"/>
                </a:solidFill>
                <a:latin typeface="맑은 고딕" pitchFamily="34" charset="0"/>
                <a:ea typeface="맑은 고딕" pitchFamily="34" charset="-122"/>
                <a:cs typeface="맑은 고딕" pitchFamily="34" charset="-120"/>
              </a:rPr>
              <a:t>양력(Lift): 프로펠러가 공기를 밀어 드론을 위로 띄우는 힘</a:t>
            </a:r>
            <a:endParaRPr lang="en-US" sz="1400" dirty="0"/>
          </a:p>
          <a:p>
            <a:pPr marL="203200" indent="-203200">
              <a:lnSpc>
                <a:spcPct val="130000"/>
              </a:lnSpc>
              <a:spcAft>
                <a:spcPts val="1000"/>
              </a:spcAft>
              <a:buSzPct val="100000"/>
              <a:buChar char="•"/>
            </a:pPr>
            <a:r>
              <a:rPr lang="en-US" sz="1400" dirty="0">
                <a:solidFill>
                  <a:srgbClr val="3B0764"/>
                </a:solidFill>
                <a:latin typeface="맑은 고딕" pitchFamily="34" charset="0"/>
                <a:ea typeface="맑은 고딕" pitchFamily="34" charset="-122"/>
                <a:cs typeface="맑은 고딕" pitchFamily="34" charset="-120"/>
              </a:rPr>
              <a:t>중력(Gravity): 지구가 드론을 아래로 잡아당기는 힘</a:t>
            </a:r>
            <a:endParaRPr lang="en-US" sz="1400" dirty="0"/>
          </a:p>
          <a:p>
            <a:pPr marL="203200" indent="-203200">
              <a:lnSpc>
                <a:spcPct val="130000"/>
              </a:lnSpc>
              <a:spcAft>
                <a:spcPts val="1000"/>
              </a:spcAft>
              <a:buSzPct val="100000"/>
              <a:buChar char="•"/>
            </a:pPr>
            <a:r>
              <a:rPr lang="en-US" sz="1400" dirty="0">
                <a:solidFill>
                  <a:srgbClr val="3B0764"/>
                </a:solidFill>
                <a:latin typeface="맑은 고딕" pitchFamily="34" charset="0"/>
                <a:ea typeface="맑은 고딕" pitchFamily="34" charset="-122"/>
                <a:cs typeface="맑은 고딕" pitchFamily="34" charset="-120"/>
              </a:rPr>
              <a:t>수영장에서 물을 아래로 차면 몸이 올라오는 원리!</a:t>
            </a:r>
            <a:endParaRPr lang="en-US" sz="1400" dirty="0"/>
          </a:p>
          <a:p>
            <a:pPr marL="203200" indent="-203200">
              <a:lnSpc>
                <a:spcPct val="130000"/>
              </a:lnSpc>
              <a:spcAft>
                <a:spcPts val="1000"/>
              </a:spcAft>
              <a:buSzPct val="100000"/>
              <a:buChar char="•"/>
            </a:pPr>
            <a:r>
              <a:rPr lang="en-US" sz="1400" dirty="0">
                <a:solidFill>
                  <a:srgbClr val="3B0764"/>
                </a:solidFill>
                <a:latin typeface="맑은 고딕" pitchFamily="34" charset="0"/>
                <a:ea typeface="맑은 고딕" pitchFamily="34" charset="-122"/>
                <a:cs typeface="맑은 고딕" pitchFamily="34" charset="-120"/>
              </a:rPr>
              <a:t>양력 &gt; 중력 → 상승 / 양력 = 중력 → 호버링</a:t>
            </a:r>
            <a:endParaRPr lang="en-US" sz="1400" dirty="0"/>
          </a:p>
          <a:p>
            <a:pPr marL="203200" indent="-203200">
              <a:lnSpc>
                <a:spcPct val="130000"/>
              </a:lnSpc>
              <a:spcAft>
                <a:spcPts val="1000"/>
              </a:spcAft>
              <a:buSzPct val="100000"/>
              <a:buChar char="•"/>
            </a:pPr>
            <a:r>
              <a:rPr lang="en-US" sz="1400" dirty="0">
                <a:solidFill>
                  <a:srgbClr val="3B0764"/>
                </a:solidFill>
                <a:latin typeface="맑은 고딕" pitchFamily="34" charset="0"/>
                <a:ea typeface="맑은 고딕" pitchFamily="34" charset="-122"/>
                <a:cs typeface="맑은 고딕" pitchFamily="34" charset="-120"/>
              </a:rPr>
              <a:t>[앞뒤 힘]</a:t>
            </a:r>
            <a:endParaRPr lang="en-US" sz="1400" dirty="0"/>
          </a:p>
          <a:p>
            <a:pPr marL="203200" indent="-203200">
              <a:lnSpc>
                <a:spcPct val="130000"/>
              </a:lnSpc>
              <a:spcAft>
                <a:spcPts val="1000"/>
              </a:spcAft>
              <a:buSzPct val="100000"/>
              <a:buChar char="•"/>
            </a:pPr>
            <a:r>
              <a:rPr lang="en-US" sz="1400" dirty="0">
                <a:solidFill>
                  <a:srgbClr val="3B0764"/>
                </a:solidFill>
                <a:latin typeface="맑은 고딕" pitchFamily="34" charset="0"/>
                <a:ea typeface="맑은 고딕" pitchFamily="34" charset="-122"/>
                <a:cs typeface="맑은 고딕" pitchFamily="34" charset="-120"/>
              </a:rPr>
              <a:t>추력(Thrust): 드론을 앞으로 나아가게 하는 힘</a:t>
            </a:r>
            <a:endParaRPr lang="en-US" sz="1400" dirty="0"/>
          </a:p>
          <a:p>
            <a:pPr marL="203200" indent="-203200">
              <a:lnSpc>
                <a:spcPct val="130000"/>
              </a:lnSpc>
              <a:spcAft>
                <a:spcPts val="1000"/>
              </a:spcAft>
              <a:buSzPct val="100000"/>
              <a:buChar char="•"/>
            </a:pPr>
            <a:r>
              <a:rPr lang="en-US" sz="1400" dirty="0">
                <a:solidFill>
                  <a:srgbClr val="3B0764"/>
                </a:solidFill>
                <a:latin typeface="맑은 고딕" pitchFamily="34" charset="0"/>
                <a:ea typeface="맑은 고딕" pitchFamily="34" charset="-122"/>
                <a:cs typeface="맑은 고딕" pitchFamily="34" charset="-120"/>
              </a:rPr>
              <a:t>항력(Drag): 공기가 움직임을 방해하는 저항</a:t>
            </a:r>
            <a:endParaRPr lang="en-US" sz="1400" dirty="0"/>
          </a:p>
          <a:p>
            <a:pPr marL="203200" indent="-203200">
              <a:lnSpc>
                <a:spcPct val="130000"/>
              </a:lnSpc>
              <a:spcAft>
                <a:spcPts val="1000"/>
              </a:spcAft>
              <a:buSzPct val="100000"/>
              <a:buChar char="•"/>
            </a:pPr>
            <a:r>
              <a:rPr lang="en-US" sz="1400" dirty="0">
                <a:solidFill>
                  <a:srgbClr val="3B0764"/>
                </a:solidFill>
                <a:latin typeface="맑은 고딕" pitchFamily="34" charset="0"/>
                <a:ea typeface="맑은 고딕" pitchFamily="34" charset="-122"/>
                <a:cs typeface="맑은 고딕" pitchFamily="34" charset="-120"/>
              </a:rPr>
              <a:t>자전거 빠르게 타면 바람이 세게 느껴지는 게 </a:t>
            </a:r>
            <a:r>
              <a:rPr lang="en-US" sz="1400" dirty="0" err="1">
                <a:solidFill>
                  <a:srgbClr val="3B0764"/>
                </a:solidFill>
                <a:latin typeface="맑은 고딕" pitchFamily="34" charset="0"/>
                <a:ea typeface="맑은 고딕" pitchFamily="34" charset="-122"/>
                <a:cs typeface="맑은 고딕" pitchFamily="34" charset="-120"/>
              </a:rPr>
              <a:t>항력</a:t>
            </a:r>
            <a:endParaRPr lang="en-US" sz="1400" dirty="0"/>
          </a:p>
        </p:txBody>
      </p:sp>
      <p:sp>
        <p:nvSpPr>
          <p:cNvPr id="13" name="Text 9"/>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0"/>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4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8B5CF6"/>
          </a:solidFill>
          <a:ln w="12700">
            <a:solidFill>
              <a:srgbClr val="8B5CF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호버링과 프로펠러</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Text 7"/>
          <p:cNvSpPr/>
          <p:nvPr/>
        </p:nvSpPr>
        <p:spPr>
          <a:xfrm>
            <a:off x="640080" y="804672"/>
            <a:ext cx="7863840" cy="365760"/>
          </a:xfrm>
          <a:prstGeom prst="rect">
            <a:avLst/>
          </a:prstGeom>
          <a:noFill/>
          <a:ln/>
        </p:spPr>
        <p:txBody>
          <a:bodyPr wrap="square" rtlCol="0" anchor="ctr"/>
          <a:lstStyle/>
          <a:p>
            <a:pPr marL="0" indent="0">
              <a:buNone/>
            </a:pPr>
            <a:r>
              <a:rPr lang="en-US" sz="1800" b="1" dirty="0">
                <a:solidFill>
                  <a:srgbClr val="7C3AED"/>
                </a:solidFill>
                <a:latin typeface="맑은 고딕" pitchFamily="34" charset="0"/>
                <a:ea typeface="맑은 고딕" pitchFamily="34" charset="-122"/>
                <a:cs typeface="맑은 고딕" pitchFamily="34" charset="-120"/>
              </a:rPr>
              <a:t>양력과 중력이 같아지면 드론이 공중에 멈춘다</a:t>
            </a:r>
            <a:endParaRPr lang="en-US" sz="1800" dirty="0"/>
          </a:p>
        </p:txBody>
      </p:sp>
      <p:sp>
        <p:nvSpPr>
          <p:cNvPr id="10" name="Shape 8"/>
          <p:cNvSpPr/>
          <p:nvPr/>
        </p:nvSpPr>
        <p:spPr>
          <a:xfrm>
            <a:off x="640080" y="1280160"/>
            <a:ext cx="502920" cy="502920"/>
          </a:xfrm>
          <a:prstGeom prst="ellipse">
            <a:avLst/>
          </a:prstGeom>
          <a:solidFill>
            <a:srgbClr val="8B5CF6"/>
          </a:solidFill>
          <a:ln w="12700">
            <a:solidFill>
              <a:srgbClr val="8B5CF6"/>
            </a:solidFill>
            <a:prstDash val="solid"/>
          </a:ln>
        </p:spPr>
        <p:txBody>
          <a:bodyPr/>
          <a:lstStyle/>
          <a:p>
            <a:endParaRPr lang="ko-KR" altLang="en-US"/>
          </a:p>
        </p:txBody>
      </p:sp>
      <p:sp>
        <p:nvSpPr>
          <p:cNvPr id="11" name="Text 9"/>
          <p:cNvSpPr/>
          <p:nvPr/>
        </p:nvSpPr>
        <p:spPr>
          <a:xfrm>
            <a:off x="640080" y="1399032"/>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01</a:t>
            </a:r>
            <a:endParaRPr lang="en-US" sz="1400" dirty="0"/>
          </a:p>
        </p:txBody>
      </p:sp>
      <p:sp>
        <p:nvSpPr>
          <p:cNvPr id="12" name="Text 10"/>
          <p:cNvSpPr/>
          <p:nvPr/>
        </p:nvSpPr>
        <p:spPr>
          <a:xfrm>
            <a:off x="1280160" y="1298448"/>
            <a:ext cx="7223760" cy="420624"/>
          </a:xfrm>
          <a:prstGeom prst="rect">
            <a:avLst/>
          </a:prstGeom>
          <a:noFill/>
          <a:ln/>
        </p:spPr>
        <p:txBody>
          <a:bodyPr wrap="square" rtlCol="0" anchor="ctr"/>
          <a:lstStyle/>
          <a:p>
            <a:pPr marL="0" indent="0">
              <a:lnSpc>
                <a:spcPct val="130000"/>
              </a:lnSpc>
              <a:buNone/>
            </a:pPr>
            <a:r>
              <a:rPr lang="en-US" sz="1600" dirty="0">
                <a:solidFill>
                  <a:srgbClr val="3B0764"/>
                </a:solidFill>
                <a:latin typeface="맑은 고딕" pitchFamily="34" charset="0"/>
                <a:ea typeface="맑은 고딕" pitchFamily="34" charset="-122"/>
                <a:cs typeface="맑은 고딕" pitchFamily="34" charset="-120"/>
              </a:rPr>
              <a:t>호버링(Hovering) = 공중에서 제자리 정지</a:t>
            </a:r>
            <a:endParaRPr lang="en-US" sz="1600" dirty="0"/>
          </a:p>
        </p:txBody>
      </p:sp>
      <p:sp>
        <p:nvSpPr>
          <p:cNvPr id="13" name="Shape 11"/>
          <p:cNvSpPr/>
          <p:nvPr/>
        </p:nvSpPr>
        <p:spPr>
          <a:xfrm>
            <a:off x="640080" y="1938528"/>
            <a:ext cx="502920" cy="502920"/>
          </a:xfrm>
          <a:prstGeom prst="ellipse">
            <a:avLst/>
          </a:prstGeom>
          <a:solidFill>
            <a:srgbClr val="7C3AED"/>
          </a:solidFill>
          <a:ln w="12700">
            <a:solidFill>
              <a:srgbClr val="7C3AED"/>
            </a:solidFill>
            <a:prstDash val="solid"/>
          </a:ln>
        </p:spPr>
        <p:txBody>
          <a:bodyPr/>
          <a:lstStyle/>
          <a:p>
            <a:endParaRPr lang="ko-KR" altLang="en-US"/>
          </a:p>
        </p:txBody>
      </p:sp>
      <p:sp>
        <p:nvSpPr>
          <p:cNvPr id="14" name="Text 12"/>
          <p:cNvSpPr/>
          <p:nvPr/>
        </p:nvSpPr>
        <p:spPr>
          <a:xfrm>
            <a:off x="640080" y="2057400"/>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02</a:t>
            </a:r>
            <a:endParaRPr lang="en-US" sz="1400" dirty="0"/>
          </a:p>
        </p:txBody>
      </p:sp>
      <p:sp>
        <p:nvSpPr>
          <p:cNvPr id="15" name="Text 13"/>
          <p:cNvSpPr/>
          <p:nvPr/>
        </p:nvSpPr>
        <p:spPr>
          <a:xfrm>
            <a:off x="1280160" y="1956816"/>
            <a:ext cx="7223760" cy="420624"/>
          </a:xfrm>
          <a:prstGeom prst="rect">
            <a:avLst/>
          </a:prstGeom>
          <a:noFill/>
          <a:ln/>
        </p:spPr>
        <p:txBody>
          <a:bodyPr wrap="square" rtlCol="0" anchor="ctr"/>
          <a:lstStyle/>
          <a:p>
            <a:pPr marL="0" indent="0">
              <a:lnSpc>
                <a:spcPct val="130000"/>
              </a:lnSpc>
              <a:buNone/>
            </a:pPr>
            <a:r>
              <a:rPr lang="en-US" sz="1600" dirty="0">
                <a:solidFill>
                  <a:srgbClr val="3B0764"/>
                </a:solidFill>
                <a:latin typeface="맑은 고딕" pitchFamily="34" charset="0"/>
                <a:ea typeface="맑은 고딕" pitchFamily="34" charset="-122"/>
                <a:cs typeface="맑은 고딕" pitchFamily="34" charset="-120"/>
              </a:rPr>
              <a:t>조건: 양력 = 중력 (저울 양쪽이 같은 것처럼)</a:t>
            </a:r>
            <a:endParaRPr lang="en-US" sz="1600" dirty="0"/>
          </a:p>
        </p:txBody>
      </p:sp>
      <p:sp>
        <p:nvSpPr>
          <p:cNvPr id="16" name="Shape 14"/>
          <p:cNvSpPr/>
          <p:nvPr/>
        </p:nvSpPr>
        <p:spPr>
          <a:xfrm>
            <a:off x="640080" y="2596896"/>
            <a:ext cx="502920" cy="502920"/>
          </a:xfrm>
          <a:prstGeom prst="ellipse">
            <a:avLst/>
          </a:prstGeom>
          <a:solidFill>
            <a:srgbClr val="A78BFA"/>
          </a:solidFill>
          <a:ln w="12700">
            <a:solidFill>
              <a:srgbClr val="A78BFA"/>
            </a:solidFill>
            <a:prstDash val="solid"/>
          </a:ln>
        </p:spPr>
        <p:txBody>
          <a:bodyPr/>
          <a:lstStyle/>
          <a:p>
            <a:endParaRPr lang="ko-KR" altLang="en-US"/>
          </a:p>
        </p:txBody>
      </p:sp>
      <p:sp>
        <p:nvSpPr>
          <p:cNvPr id="17" name="Text 15"/>
          <p:cNvSpPr/>
          <p:nvPr/>
        </p:nvSpPr>
        <p:spPr>
          <a:xfrm>
            <a:off x="640080" y="2715768"/>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03</a:t>
            </a:r>
            <a:endParaRPr lang="en-US" sz="1400" dirty="0"/>
          </a:p>
        </p:txBody>
      </p:sp>
      <p:sp>
        <p:nvSpPr>
          <p:cNvPr id="18" name="Text 16"/>
          <p:cNvSpPr/>
          <p:nvPr/>
        </p:nvSpPr>
        <p:spPr>
          <a:xfrm>
            <a:off x="1280160" y="2615184"/>
            <a:ext cx="7223760" cy="420624"/>
          </a:xfrm>
          <a:prstGeom prst="rect">
            <a:avLst/>
          </a:prstGeom>
          <a:noFill/>
          <a:ln/>
        </p:spPr>
        <p:txBody>
          <a:bodyPr wrap="square" rtlCol="0" anchor="ctr"/>
          <a:lstStyle/>
          <a:p>
            <a:pPr marL="0" indent="0">
              <a:lnSpc>
                <a:spcPct val="130000"/>
              </a:lnSpc>
              <a:buNone/>
            </a:pPr>
            <a:r>
              <a:rPr lang="en-US" sz="1600" dirty="0">
                <a:solidFill>
                  <a:srgbClr val="3B0764"/>
                </a:solidFill>
                <a:latin typeface="맑은 고딕" pitchFamily="34" charset="0"/>
                <a:ea typeface="맑은 고딕" pitchFamily="34" charset="-122"/>
                <a:cs typeface="맑은 고딕" pitchFamily="34" charset="-120"/>
              </a:rPr>
              <a:t>비행 컨트롤러(FC)가 자동으로 균형 조절</a:t>
            </a:r>
            <a:endParaRPr lang="en-US" sz="1600" dirty="0"/>
          </a:p>
        </p:txBody>
      </p:sp>
      <p:sp>
        <p:nvSpPr>
          <p:cNvPr id="19" name="Shape 17"/>
          <p:cNvSpPr/>
          <p:nvPr/>
        </p:nvSpPr>
        <p:spPr>
          <a:xfrm>
            <a:off x="640080" y="3255264"/>
            <a:ext cx="502920" cy="502920"/>
          </a:xfrm>
          <a:prstGeom prst="ellipse">
            <a:avLst/>
          </a:prstGeom>
          <a:solidFill>
            <a:srgbClr val="8B5CF6"/>
          </a:solidFill>
          <a:ln w="12700">
            <a:solidFill>
              <a:srgbClr val="8B5CF6"/>
            </a:solidFill>
            <a:prstDash val="solid"/>
          </a:ln>
        </p:spPr>
        <p:txBody>
          <a:bodyPr/>
          <a:lstStyle/>
          <a:p>
            <a:endParaRPr lang="ko-KR" altLang="en-US"/>
          </a:p>
        </p:txBody>
      </p:sp>
      <p:sp>
        <p:nvSpPr>
          <p:cNvPr id="20" name="Text 18"/>
          <p:cNvSpPr/>
          <p:nvPr/>
        </p:nvSpPr>
        <p:spPr>
          <a:xfrm>
            <a:off x="640080" y="3374136"/>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04</a:t>
            </a:r>
            <a:endParaRPr lang="en-US" sz="1400" dirty="0"/>
          </a:p>
        </p:txBody>
      </p:sp>
      <p:sp>
        <p:nvSpPr>
          <p:cNvPr id="21" name="Text 19"/>
          <p:cNvSpPr/>
          <p:nvPr/>
        </p:nvSpPr>
        <p:spPr>
          <a:xfrm>
            <a:off x="1280160" y="3273552"/>
            <a:ext cx="7223760" cy="420624"/>
          </a:xfrm>
          <a:prstGeom prst="rect">
            <a:avLst/>
          </a:prstGeom>
          <a:noFill/>
          <a:ln/>
        </p:spPr>
        <p:txBody>
          <a:bodyPr wrap="square" rtlCol="0" anchor="ctr"/>
          <a:lstStyle/>
          <a:p>
            <a:pPr marL="0" indent="0">
              <a:lnSpc>
                <a:spcPct val="130000"/>
              </a:lnSpc>
              <a:buNone/>
            </a:pPr>
            <a:r>
              <a:rPr lang="en-US" sz="1600" dirty="0">
                <a:solidFill>
                  <a:srgbClr val="3B0764"/>
                </a:solidFill>
                <a:latin typeface="맑은 고딕" pitchFamily="34" charset="0"/>
                <a:ea typeface="맑은 고딕" pitchFamily="34" charset="-122"/>
                <a:cs typeface="맑은 고딕" pitchFamily="34" charset="-120"/>
              </a:rPr>
              <a:t>프로펠러 4개가 모두 빠르면 → 상승</a:t>
            </a:r>
            <a:endParaRPr lang="en-US" sz="1600" dirty="0"/>
          </a:p>
        </p:txBody>
      </p:sp>
      <p:sp>
        <p:nvSpPr>
          <p:cNvPr id="22" name="Shape 20"/>
          <p:cNvSpPr/>
          <p:nvPr/>
        </p:nvSpPr>
        <p:spPr>
          <a:xfrm>
            <a:off x="640080" y="3913632"/>
            <a:ext cx="502920" cy="502920"/>
          </a:xfrm>
          <a:prstGeom prst="ellipse">
            <a:avLst/>
          </a:prstGeom>
          <a:solidFill>
            <a:srgbClr val="7C3AED"/>
          </a:solidFill>
          <a:ln w="12700">
            <a:solidFill>
              <a:srgbClr val="7C3AED"/>
            </a:solidFill>
            <a:prstDash val="solid"/>
          </a:ln>
        </p:spPr>
        <p:txBody>
          <a:bodyPr/>
          <a:lstStyle/>
          <a:p>
            <a:endParaRPr lang="ko-KR" altLang="en-US"/>
          </a:p>
        </p:txBody>
      </p:sp>
      <p:sp>
        <p:nvSpPr>
          <p:cNvPr id="23" name="Text 21"/>
          <p:cNvSpPr/>
          <p:nvPr/>
        </p:nvSpPr>
        <p:spPr>
          <a:xfrm>
            <a:off x="640080" y="4032504"/>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05</a:t>
            </a:r>
            <a:endParaRPr lang="en-US" sz="1400" dirty="0"/>
          </a:p>
        </p:txBody>
      </p:sp>
      <p:sp>
        <p:nvSpPr>
          <p:cNvPr id="24" name="Text 22"/>
          <p:cNvSpPr/>
          <p:nvPr/>
        </p:nvSpPr>
        <p:spPr>
          <a:xfrm>
            <a:off x="1280160" y="3931920"/>
            <a:ext cx="7223760" cy="420624"/>
          </a:xfrm>
          <a:prstGeom prst="rect">
            <a:avLst/>
          </a:prstGeom>
          <a:noFill/>
          <a:ln/>
        </p:spPr>
        <p:txBody>
          <a:bodyPr wrap="square" rtlCol="0" anchor="ctr"/>
          <a:lstStyle/>
          <a:p>
            <a:pPr marL="0" indent="0">
              <a:lnSpc>
                <a:spcPct val="130000"/>
              </a:lnSpc>
              <a:buNone/>
            </a:pPr>
            <a:r>
              <a:rPr lang="en-US" sz="1600" dirty="0">
                <a:solidFill>
                  <a:srgbClr val="3B0764"/>
                </a:solidFill>
                <a:latin typeface="맑은 고딕" pitchFamily="34" charset="0"/>
                <a:ea typeface="맑은 고딕" pitchFamily="34" charset="-122"/>
                <a:cs typeface="맑은 고딕" pitchFamily="34" charset="-120"/>
              </a:rPr>
              <a:t>프로펠러 4개가 모두 느리면 → 하강</a:t>
            </a:r>
            <a:endParaRPr lang="en-US" sz="1600" dirty="0"/>
          </a:p>
        </p:txBody>
      </p:sp>
      <p:sp>
        <p:nvSpPr>
          <p:cNvPr id="25" name="Shape 23"/>
          <p:cNvSpPr/>
          <p:nvPr/>
        </p:nvSpPr>
        <p:spPr>
          <a:xfrm>
            <a:off x="640080" y="4572000"/>
            <a:ext cx="502920" cy="502920"/>
          </a:xfrm>
          <a:prstGeom prst="ellipse">
            <a:avLst/>
          </a:prstGeom>
          <a:solidFill>
            <a:srgbClr val="8B5CF6"/>
          </a:solidFill>
          <a:ln w="12700">
            <a:solidFill>
              <a:srgbClr val="8B5CF6"/>
            </a:solidFill>
            <a:prstDash val="solid"/>
          </a:ln>
        </p:spPr>
        <p:txBody>
          <a:bodyPr/>
          <a:lstStyle/>
          <a:p>
            <a:endParaRPr lang="ko-KR" altLang="en-US"/>
          </a:p>
        </p:txBody>
      </p:sp>
      <p:sp>
        <p:nvSpPr>
          <p:cNvPr id="26" name="Text 24"/>
          <p:cNvSpPr/>
          <p:nvPr/>
        </p:nvSpPr>
        <p:spPr>
          <a:xfrm>
            <a:off x="640080" y="4690872"/>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06</a:t>
            </a:r>
            <a:endParaRPr lang="en-US" sz="1400" dirty="0"/>
          </a:p>
        </p:txBody>
      </p:sp>
      <p:sp>
        <p:nvSpPr>
          <p:cNvPr id="27" name="Text 25"/>
          <p:cNvSpPr/>
          <p:nvPr/>
        </p:nvSpPr>
        <p:spPr>
          <a:xfrm>
            <a:off x="1280160" y="4590288"/>
            <a:ext cx="7223760" cy="420624"/>
          </a:xfrm>
          <a:prstGeom prst="rect">
            <a:avLst/>
          </a:prstGeom>
          <a:noFill/>
          <a:ln/>
        </p:spPr>
        <p:txBody>
          <a:bodyPr wrap="square" rtlCol="0" anchor="ctr"/>
          <a:lstStyle/>
          <a:p>
            <a:pPr marL="0" indent="0">
              <a:lnSpc>
                <a:spcPct val="130000"/>
              </a:lnSpc>
              <a:buNone/>
            </a:pPr>
            <a:r>
              <a:rPr lang="en-US" sz="1600" dirty="0">
                <a:solidFill>
                  <a:srgbClr val="3B0764"/>
                </a:solidFill>
                <a:latin typeface="맑은 고딕" pitchFamily="34" charset="0"/>
                <a:ea typeface="맑은 고딕" pitchFamily="34" charset="-122"/>
                <a:cs typeface="맑은 고딕" pitchFamily="34" charset="-120"/>
              </a:rPr>
              <a:t>한쪽만 빠르게 하면 → 기울어져서 그 반대 방향으로 이동!</a:t>
            </a:r>
            <a:endParaRPr lang="en-US" sz="1600" dirty="0"/>
          </a:p>
        </p:txBody>
      </p:sp>
      <p:sp>
        <p:nvSpPr>
          <p:cNvPr id="29" name="Text 26"/>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30" name="Text 27"/>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5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8B5CF6"/>
          </a:solidFill>
          <a:ln w="12700">
            <a:solidFill>
              <a:srgbClr val="8B5CF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스로틀(Throttle)</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p:cNvSpPr/>
          <p:nvPr/>
        </p:nvSpPr>
        <p:spPr>
          <a:xfrm>
            <a:off x="960120" y="868680"/>
            <a:ext cx="7132320" cy="475488"/>
          </a:xfrm>
          <a:prstGeom prst="roundRect">
            <a:avLst>
              <a:gd name="adj" fmla="val 19231"/>
            </a:avLst>
          </a:prstGeom>
          <a:solidFill>
            <a:srgbClr val="8B5CF6"/>
          </a:solidFill>
          <a:ln w="12700">
            <a:solidFill>
              <a:srgbClr val="8B5CF6"/>
            </a:solidFill>
            <a:prstDash val="solid"/>
          </a:ln>
        </p:spPr>
        <p:txBody>
          <a:bodyPr/>
          <a:lstStyle/>
          <a:p>
            <a:endParaRPr lang="ko-KR" altLang="en-US"/>
          </a:p>
        </p:txBody>
      </p:sp>
      <p:sp>
        <p:nvSpPr>
          <p:cNvPr id="10" name="Text 8"/>
          <p:cNvSpPr/>
          <p:nvPr/>
        </p:nvSpPr>
        <p:spPr>
          <a:xfrm>
            <a:off x="1097280" y="969264"/>
            <a:ext cx="320040" cy="228600"/>
          </a:xfrm>
          <a:prstGeom prst="rect">
            <a:avLst/>
          </a:prstGeom>
          <a:noFill/>
          <a:ln/>
        </p:spPr>
        <p:txBody>
          <a:bodyPr wrap="square" rtlCol="0" anchor="ctr"/>
          <a:lstStyle/>
          <a:p>
            <a:pPr marL="0" indent="0">
              <a:buNone/>
            </a:pPr>
            <a:r>
              <a:rPr lang="en-US" sz="1600" dirty="0">
                <a:solidFill>
                  <a:srgbClr val="FFFFFF"/>
                </a:solidFill>
                <a:latin typeface="Arial" pitchFamily="34" charset="0"/>
                <a:ea typeface="Arial" pitchFamily="34" charset="-122"/>
                <a:cs typeface="Arial" pitchFamily="34" charset="-120"/>
              </a:rPr>
              <a:t>1️⃣</a:t>
            </a:r>
            <a:endParaRPr lang="en-US" sz="1600" dirty="0"/>
          </a:p>
        </p:txBody>
      </p:sp>
      <p:sp>
        <p:nvSpPr>
          <p:cNvPr id="11" name="Text 9"/>
          <p:cNvSpPr/>
          <p:nvPr/>
        </p:nvSpPr>
        <p:spPr>
          <a:xfrm>
            <a:off x="1508760" y="960120"/>
            <a:ext cx="6400800" cy="237744"/>
          </a:xfrm>
          <a:prstGeom prst="rect">
            <a:avLst/>
          </a:prstGeom>
          <a:noFill/>
          <a:ln/>
        </p:spPr>
        <p:txBody>
          <a:bodyPr wrap="square" rtlCol="0" anchor="ctr"/>
          <a:lstStyle/>
          <a:p>
            <a:pPr marL="0" indent="0">
              <a:lnSpc>
                <a:spcPct val="130000"/>
              </a:lnSpc>
              <a:buNone/>
            </a:pPr>
            <a:r>
              <a:rPr lang="en-US" sz="1500" dirty="0">
                <a:solidFill>
                  <a:srgbClr val="FFFFFF"/>
                </a:solidFill>
                <a:latin typeface="맑은 고딕" pitchFamily="34" charset="0"/>
                <a:ea typeface="맑은 고딕" pitchFamily="34" charset="-122"/>
                <a:cs typeface="맑은 고딕" pitchFamily="34" charset="-120"/>
              </a:rPr>
              <a:t>스로틀(Throttle) = 프로펠러 전체 속도 조절</a:t>
            </a:r>
            <a:endParaRPr lang="en-US" sz="1500" dirty="0"/>
          </a:p>
        </p:txBody>
      </p:sp>
      <p:sp>
        <p:nvSpPr>
          <p:cNvPr id="12" name="Shape 10"/>
          <p:cNvSpPr/>
          <p:nvPr/>
        </p:nvSpPr>
        <p:spPr>
          <a:xfrm>
            <a:off x="1325880" y="1344168"/>
            <a:ext cx="0" cy="146304"/>
          </a:xfrm>
          <a:prstGeom prst="line">
            <a:avLst/>
          </a:prstGeom>
          <a:noFill/>
          <a:ln w="12700">
            <a:solidFill>
              <a:srgbClr val="A78BFA"/>
            </a:solidFill>
            <a:prstDash val="solid"/>
          </a:ln>
        </p:spPr>
        <p:txBody>
          <a:bodyPr/>
          <a:lstStyle/>
          <a:p>
            <a:endParaRPr lang="ko-KR" altLang="en-US"/>
          </a:p>
        </p:txBody>
      </p:sp>
      <p:sp>
        <p:nvSpPr>
          <p:cNvPr id="13" name="Shape 11"/>
          <p:cNvSpPr/>
          <p:nvPr/>
        </p:nvSpPr>
        <p:spPr>
          <a:xfrm>
            <a:off x="960120" y="1490472"/>
            <a:ext cx="7132320" cy="475488"/>
          </a:xfrm>
          <a:prstGeom prst="roundRect">
            <a:avLst>
              <a:gd name="adj" fmla="val 19231"/>
            </a:avLst>
          </a:prstGeom>
          <a:solidFill>
            <a:srgbClr val="F5F3FF"/>
          </a:solidFill>
          <a:ln w="12700">
            <a:solidFill>
              <a:srgbClr val="E2E8F0"/>
            </a:solidFill>
            <a:prstDash val="solid"/>
          </a:ln>
        </p:spPr>
        <p:txBody>
          <a:bodyPr/>
          <a:lstStyle/>
          <a:p>
            <a:endParaRPr lang="ko-KR" altLang="en-US"/>
          </a:p>
        </p:txBody>
      </p:sp>
      <p:sp>
        <p:nvSpPr>
          <p:cNvPr id="14" name="Text 12"/>
          <p:cNvSpPr/>
          <p:nvPr/>
        </p:nvSpPr>
        <p:spPr>
          <a:xfrm>
            <a:off x="1097280" y="1591056"/>
            <a:ext cx="320040" cy="228600"/>
          </a:xfrm>
          <a:prstGeom prst="rect">
            <a:avLst/>
          </a:prstGeom>
          <a:noFill/>
          <a:ln/>
        </p:spPr>
        <p:txBody>
          <a:bodyPr wrap="square" rtlCol="0" anchor="ctr"/>
          <a:lstStyle/>
          <a:p>
            <a:pPr marL="0" indent="0">
              <a:buNone/>
            </a:pPr>
            <a:r>
              <a:rPr lang="en-US" sz="1600" dirty="0">
                <a:solidFill>
                  <a:srgbClr val="3B0764"/>
                </a:solidFill>
                <a:latin typeface="Arial" pitchFamily="34" charset="0"/>
                <a:ea typeface="Arial" pitchFamily="34" charset="-122"/>
                <a:cs typeface="Arial" pitchFamily="34" charset="-120"/>
              </a:rPr>
              <a:t>2️⃣</a:t>
            </a:r>
            <a:endParaRPr lang="en-US" sz="1600" dirty="0"/>
          </a:p>
        </p:txBody>
      </p:sp>
      <p:sp>
        <p:nvSpPr>
          <p:cNvPr id="15" name="Text 13"/>
          <p:cNvSpPr/>
          <p:nvPr/>
        </p:nvSpPr>
        <p:spPr>
          <a:xfrm>
            <a:off x="1508760" y="1581912"/>
            <a:ext cx="6400800" cy="237744"/>
          </a:xfrm>
          <a:prstGeom prst="rect">
            <a:avLst/>
          </a:prstGeom>
          <a:noFill/>
          <a:ln/>
        </p:spPr>
        <p:txBody>
          <a:bodyPr wrap="square" rtlCol="0" anchor="ctr"/>
          <a:lstStyle/>
          <a:p>
            <a:pPr marL="0" indent="0">
              <a:lnSpc>
                <a:spcPct val="130000"/>
              </a:lnSpc>
              <a:buNone/>
            </a:pPr>
            <a:r>
              <a:rPr lang="en-US" sz="1500" dirty="0">
                <a:solidFill>
                  <a:srgbClr val="3B0764"/>
                </a:solidFill>
                <a:latin typeface="맑은 고딕" pitchFamily="34" charset="0"/>
                <a:ea typeface="맑은 고딕" pitchFamily="34" charset="-122"/>
                <a:cs typeface="맑은 고딕" pitchFamily="34" charset="-120"/>
              </a:rPr>
              <a:t>스로틀 올리기: 4개 프로펠러 모두 빨라짐 → 양력 증가 → 상승</a:t>
            </a:r>
            <a:endParaRPr lang="en-US" sz="1500" dirty="0"/>
          </a:p>
        </p:txBody>
      </p:sp>
      <p:sp>
        <p:nvSpPr>
          <p:cNvPr id="16" name="Shape 14"/>
          <p:cNvSpPr/>
          <p:nvPr/>
        </p:nvSpPr>
        <p:spPr>
          <a:xfrm>
            <a:off x="1325880" y="1965960"/>
            <a:ext cx="0" cy="146304"/>
          </a:xfrm>
          <a:prstGeom prst="line">
            <a:avLst/>
          </a:prstGeom>
          <a:noFill/>
          <a:ln w="12700">
            <a:solidFill>
              <a:srgbClr val="A78BFA"/>
            </a:solidFill>
            <a:prstDash val="solid"/>
          </a:ln>
        </p:spPr>
        <p:txBody>
          <a:bodyPr/>
          <a:lstStyle/>
          <a:p>
            <a:endParaRPr lang="ko-KR" altLang="en-US"/>
          </a:p>
        </p:txBody>
      </p:sp>
      <p:sp>
        <p:nvSpPr>
          <p:cNvPr id="17" name="Shape 15"/>
          <p:cNvSpPr/>
          <p:nvPr/>
        </p:nvSpPr>
        <p:spPr>
          <a:xfrm>
            <a:off x="960120" y="2112264"/>
            <a:ext cx="7132320" cy="475488"/>
          </a:xfrm>
          <a:prstGeom prst="roundRect">
            <a:avLst>
              <a:gd name="adj" fmla="val 19231"/>
            </a:avLst>
          </a:prstGeom>
          <a:solidFill>
            <a:srgbClr val="F5F3FF"/>
          </a:solidFill>
          <a:ln w="12700">
            <a:solidFill>
              <a:srgbClr val="E2E8F0"/>
            </a:solidFill>
            <a:prstDash val="solid"/>
          </a:ln>
        </p:spPr>
        <p:txBody>
          <a:bodyPr/>
          <a:lstStyle/>
          <a:p>
            <a:endParaRPr lang="ko-KR" altLang="en-US"/>
          </a:p>
        </p:txBody>
      </p:sp>
      <p:sp>
        <p:nvSpPr>
          <p:cNvPr id="18" name="Text 16"/>
          <p:cNvSpPr/>
          <p:nvPr/>
        </p:nvSpPr>
        <p:spPr>
          <a:xfrm>
            <a:off x="1097280" y="2212848"/>
            <a:ext cx="320040" cy="228600"/>
          </a:xfrm>
          <a:prstGeom prst="rect">
            <a:avLst/>
          </a:prstGeom>
          <a:noFill/>
          <a:ln/>
        </p:spPr>
        <p:txBody>
          <a:bodyPr wrap="square" rtlCol="0" anchor="ctr"/>
          <a:lstStyle/>
          <a:p>
            <a:pPr marL="0" indent="0">
              <a:buNone/>
            </a:pPr>
            <a:r>
              <a:rPr lang="en-US" sz="1600" dirty="0">
                <a:solidFill>
                  <a:srgbClr val="3B0764"/>
                </a:solidFill>
                <a:latin typeface="Arial" pitchFamily="34" charset="0"/>
                <a:ea typeface="Arial" pitchFamily="34" charset="-122"/>
                <a:cs typeface="Arial" pitchFamily="34" charset="-120"/>
              </a:rPr>
              <a:t>3️⃣</a:t>
            </a:r>
            <a:endParaRPr lang="en-US" sz="1600" dirty="0"/>
          </a:p>
        </p:txBody>
      </p:sp>
      <p:sp>
        <p:nvSpPr>
          <p:cNvPr id="19" name="Text 17"/>
          <p:cNvSpPr/>
          <p:nvPr/>
        </p:nvSpPr>
        <p:spPr>
          <a:xfrm>
            <a:off x="1508760" y="2203704"/>
            <a:ext cx="6400800" cy="237744"/>
          </a:xfrm>
          <a:prstGeom prst="rect">
            <a:avLst/>
          </a:prstGeom>
          <a:noFill/>
          <a:ln/>
        </p:spPr>
        <p:txBody>
          <a:bodyPr wrap="square" rtlCol="0" anchor="ctr"/>
          <a:lstStyle/>
          <a:p>
            <a:pPr marL="0" indent="0">
              <a:lnSpc>
                <a:spcPct val="130000"/>
              </a:lnSpc>
              <a:buNone/>
            </a:pPr>
            <a:r>
              <a:rPr lang="en-US" sz="1500" dirty="0">
                <a:solidFill>
                  <a:srgbClr val="3B0764"/>
                </a:solidFill>
                <a:latin typeface="맑은 고딕" pitchFamily="34" charset="0"/>
                <a:ea typeface="맑은 고딕" pitchFamily="34" charset="-122"/>
                <a:cs typeface="맑은 고딕" pitchFamily="34" charset="-120"/>
              </a:rPr>
              <a:t>스로틀 내리기: 4개 프로펠러 모두 느려짐 → 양력 감소 → 하강</a:t>
            </a:r>
            <a:endParaRPr lang="en-US" sz="1500" dirty="0"/>
          </a:p>
        </p:txBody>
      </p:sp>
      <p:sp>
        <p:nvSpPr>
          <p:cNvPr id="20" name="Shape 18"/>
          <p:cNvSpPr/>
          <p:nvPr/>
        </p:nvSpPr>
        <p:spPr>
          <a:xfrm>
            <a:off x="1325880" y="2587752"/>
            <a:ext cx="0" cy="146304"/>
          </a:xfrm>
          <a:prstGeom prst="line">
            <a:avLst/>
          </a:prstGeom>
          <a:noFill/>
          <a:ln w="12700">
            <a:solidFill>
              <a:srgbClr val="A78BFA"/>
            </a:solidFill>
            <a:prstDash val="solid"/>
          </a:ln>
        </p:spPr>
        <p:txBody>
          <a:bodyPr/>
          <a:lstStyle/>
          <a:p>
            <a:endParaRPr lang="ko-KR" altLang="en-US"/>
          </a:p>
        </p:txBody>
      </p:sp>
      <p:sp>
        <p:nvSpPr>
          <p:cNvPr id="21" name="Shape 19"/>
          <p:cNvSpPr/>
          <p:nvPr/>
        </p:nvSpPr>
        <p:spPr>
          <a:xfrm>
            <a:off x="960120" y="2734056"/>
            <a:ext cx="7132320" cy="475488"/>
          </a:xfrm>
          <a:prstGeom prst="roundRect">
            <a:avLst>
              <a:gd name="adj" fmla="val 19231"/>
            </a:avLst>
          </a:prstGeom>
          <a:solidFill>
            <a:srgbClr val="F5F3FF"/>
          </a:solidFill>
          <a:ln w="12700">
            <a:solidFill>
              <a:srgbClr val="E2E8F0"/>
            </a:solidFill>
            <a:prstDash val="solid"/>
          </a:ln>
        </p:spPr>
        <p:txBody>
          <a:bodyPr/>
          <a:lstStyle/>
          <a:p>
            <a:endParaRPr lang="ko-KR" altLang="en-US"/>
          </a:p>
        </p:txBody>
      </p:sp>
      <p:sp>
        <p:nvSpPr>
          <p:cNvPr id="22" name="Text 20"/>
          <p:cNvSpPr/>
          <p:nvPr/>
        </p:nvSpPr>
        <p:spPr>
          <a:xfrm>
            <a:off x="1097280" y="2834640"/>
            <a:ext cx="320040" cy="228600"/>
          </a:xfrm>
          <a:prstGeom prst="rect">
            <a:avLst/>
          </a:prstGeom>
          <a:noFill/>
          <a:ln/>
        </p:spPr>
        <p:txBody>
          <a:bodyPr wrap="square" rtlCol="0" anchor="ctr"/>
          <a:lstStyle/>
          <a:p>
            <a:pPr marL="0" indent="0">
              <a:buNone/>
            </a:pPr>
            <a:r>
              <a:rPr lang="en-US" sz="1600" dirty="0">
                <a:solidFill>
                  <a:srgbClr val="3B0764"/>
                </a:solidFill>
                <a:latin typeface="Arial" pitchFamily="34" charset="0"/>
                <a:ea typeface="Arial" pitchFamily="34" charset="-122"/>
                <a:cs typeface="Arial" pitchFamily="34" charset="-120"/>
              </a:rPr>
              <a:t>4️⃣</a:t>
            </a:r>
            <a:endParaRPr lang="en-US" sz="1600" dirty="0"/>
          </a:p>
        </p:txBody>
      </p:sp>
      <p:sp>
        <p:nvSpPr>
          <p:cNvPr id="23" name="Text 21"/>
          <p:cNvSpPr/>
          <p:nvPr/>
        </p:nvSpPr>
        <p:spPr>
          <a:xfrm>
            <a:off x="1508760" y="2825496"/>
            <a:ext cx="6400800" cy="237744"/>
          </a:xfrm>
          <a:prstGeom prst="rect">
            <a:avLst/>
          </a:prstGeom>
          <a:noFill/>
          <a:ln/>
        </p:spPr>
        <p:txBody>
          <a:bodyPr wrap="square" rtlCol="0" anchor="ctr"/>
          <a:lstStyle/>
          <a:p>
            <a:pPr marL="0" indent="0">
              <a:lnSpc>
                <a:spcPct val="130000"/>
              </a:lnSpc>
              <a:buNone/>
            </a:pPr>
            <a:r>
              <a:rPr lang="en-US" sz="1500" dirty="0">
                <a:solidFill>
                  <a:srgbClr val="3B0764"/>
                </a:solidFill>
                <a:latin typeface="맑은 고딕" pitchFamily="34" charset="0"/>
                <a:ea typeface="맑은 고딕" pitchFamily="34" charset="-122"/>
                <a:cs typeface="맑은 고딕" pitchFamily="34" charset="-120"/>
              </a:rPr>
              <a:t>엘리베이터 버튼처럼 위아래를 결정해요</a:t>
            </a:r>
            <a:endParaRPr lang="en-US" sz="1500" dirty="0"/>
          </a:p>
        </p:txBody>
      </p:sp>
      <p:sp>
        <p:nvSpPr>
          <p:cNvPr id="24" name="Shape 22"/>
          <p:cNvSpPr/>
          <p:nvPr/>
        </p:nvSpPr>
        <p:spPr>
          <a:xfrm>
            <a:off x="1325880" y="3209544"/>
            <a:ext cx="0" cy="146304"/>
          </a:xfrm>
          <a:prstGeom prst="line">
            <a:avLst/>
          </a:prstGeom>
          <a:noFill/>
          <a:ln w="12700">
            <a:solidFill>
              <a:srgbClr val="A78BFA"/>
            </a:solidFill>
            <a:prstDash val="solid"/>
          </a:ln>
        </p:spPr>
        <p:txBody>
          <a:bodyPr/>
          <a:lstStyle/>
          <a:p>
            <a:endParaRPr lang="ko-KR" altLang="en-US"/>
          </a:p>
        </p:txBody>
      </p:sp>
      <p:sp>
        <p:nvSpPr>
          <p:cNvPr id="25" name="Shape 23"/>
          <p:cNvSpPr/>
          <p:nvPr/>
        </p:nvSpPr>
        <p:spPr>
          <a:xfrm>
            <a:off x="960120" y="3355848"/>
            <a:ext cx="7132320" cy="475488"/>
          </a:xfrm>
          <a:prstGeom prst="roundRect">
            <a:avLst>
              <a:gd name="adj" fmla="val 19231"/>
            </a:avLst>
          </a:prstGeom>
          <a:solidFill>
            <a:srgbClr val="F5F3FF"/>
          </a:solidFill>
          <a:ln w="12700">
            <a:solidFill>
              <a:srgbClr val="E2E8F0"/>
            </a:solidFill>
            <a:prstDash val="solid"/>
          </a:ln>
        </p:spPr>
        <p:txBody>
          <a:bodyPr/>
          <a:lstStyle/>
          <a:p>
            <a:endParaRPr lang="ko-KR" altLang="en-US"/>
          </a:p>
        </p:txBody>
      </p:sp>
      <p:sp>
        <p:nvSpPr>
          <p:cNvPr id="26" name="Text 24"/>
          <p:cNvSpPr/>
          <p:nvPr/>
        </p:nvSpPr>
        <p:spPr>
          <a:xfrm>
            <a:off x="1097280" y="3456432"/>
            <a:ext cx="320040" cy="228600"/>
          </a:xfrm>
          <a:prstGeom prst="rect">
            <a:avLst/>
          </a:prstGeom>
          <a:noFill/>
          <a:ln/>
        </p:spPr>
        <p:txBody>
          <a:bodyPr wrap="square" rtlCol="0" anchor="ctr"/>
          <a:lstStyle/>
          <a:p>
            <a:pPr marL="0" indent="0">
              <a:buNone/>
            </a:pPr>
            <a:r>
              <a:rPr lang="en-US" sz="1600" dirty="0">
                <a:solidFill>
                  <a:srgbClr val="3B0764"/>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1508760" y="3447288"/>
            <a:ext cx="6400800" cy="237744"/>
          </a:xfrm>
          <a:prstGeom prst="rect">
            <a:avLst/>
          </a:prstGeom>
          <a:noFill/>
          <a:ln/>
        </p:spPr>
        <p:txBody>
          <a:bodyPr wrap="square" rtlCol="0" anchor="ctr"/>
          <a:lstStyle/>
          <a:p>
            <a:pPr marL="0" indent="0">
              <a:lnSpc>
                <a:spcPct val="130000"/>
              </a:lnSpc>
              <a:buNone/>
            </a:pPr>
            <a:r>
              <a:rPr lang="en-US" sz="1500" dirty="0">
                <a:solidFill>
                  <a:srgbClr val="3B0764"/>
                </a:solidFill>
                <a:latin typeface="맑은 고딕" pitchFamily="34" charset="0"/>
                <a:ea typeface="맑은 고딕" pitchFamily="34" charset="-122"/>
                <a:cs typeface="맑은 고딕" pitchFamily="34" charset="-120"/>
              </a:rPr>
              <a:t>조종기 왼쪽 스틱 위아래 = 스로틀</a:t>
            </a:r>
            <a:endParaRPr lang="en-US" sz="1500" dirty="0"/>
          </a:p>
        </p:txBody>
      </p:sp>
      <p:sp>
        <p:nvSpPr>
          <p:cNvPr id="29" name="Text 26"/>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30" name="Text 27"/>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6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A9B25-945D-1E61-EAA5-DFC23C022BE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75C85CA-D942-B8B4-44D3-21C588959A22}"/>
              </a:ext>
            </a:extLst>
          </p:cNvPr>
          <p:cNvSpPr/>
          <p:nvPr/>
        </p:nvSpPr>
        <p:spPr>
          <a:xfrm>
            <a:off x="0" y="0"/>
            <a:ext cx="9144000" cy="658368"/>
          </a:xfrm>
          <a:prstGeom prst="rect">
            <a:avLst/>
          </a:prstGeom>
          <a:solidFill>
            <a:srgbClr val="6D28D9"/>
          </a:solidFill>
          <a:ln w="12700">
            <a:solidFill>
              <a:srgbClr val="6D28D9"/>
            </a:solidFill>
            <a:prstDash val="solid"/>
          </a:ln>
        </p:spPr>
        <p:txBody>
          <a:bodyPr/>
          <a:lstStyle/>
          <a:p>
            <a:endParaRPr lang="ko-KR" altLang="en-US"/>
          </a:p>
        </p:txBody>
      </p:sp>
      <p:sp>
        <p:nvSpPr>
          <p:cNvPr id="3" name="Shape 1">
            <a:extLst>
              <a:ext uri="{FF2B5EF4-FFF2-40B4-BE49-F238E27FC236}">
                <a16:creationId xmlns:a16="http://schemas.microsoft.com/office/drawing/2014/main" id="{B9C422DB-2284-4A79-EE97-C191C7DD4040}"/>
              </a:ext>
            </a:extLst>
          </p:cNvPr>
          <p:cNvSpPr/>
          <p:nvPr/>
        </p:nvSpPr>
        <p:spPr>
          <a:xfrm>
            <a:off x="0" y="0"/>
            <a:ext cx="5486400" cy="658368"/>
          </a:xfrm>
          <a:prstGeom prst="rect">
            <a:avLst/>
          </a:prstGeom>
          <a:solidFill>
            <a:srgbClr val="8B5CF6"/>
          </a:solidFill>
          <a:ln w="12700">
            <a:solidFill>
              <a:srgbClr val="8B5CF6"/>
            </a:solidFill>
            <a:prstDash val="solid"/>
          </a:ln>
        </p:spPr>
        <p:txBody>
          <a:bodyPr/>
          <a:lstStyle/>
          <a:p>
            <a:endParaRPr lang="ko-KR" altLang="en-US"/>
          </a:p>
        </p:txBody>
      </p:sp>
      <p:sp>
        <p:nvSpPr>
          <p:cNvPr id="4" name="Shape 2">
            <a:extLst>
              <a:ext uri="{FF2B5EF4-FFF2-40B4-BE49-F238E27FC236}">
                <a16:creationId xmlns:a16="http://schemas.microsoft.com/office/drawing/2014/main" id="{13758CD5-8F18-90E7-62F6-E2ADDD3DCF58}"/>
              </a:ext>
            </a:extLst>
          </p:cNvPr>
          <p:cNvSpPr/>
          <p:nvPr/>
        </p:nvSpPr>
        <p:spPr>
          <a:xfrm>
            <a:off x="3657600" y="0"/>
            <a:ext cx="3657600" cy="658368"/>
          </a:xfrm>
          <a:prstGeom prst="rect">
            <a:avLst/>
          </a:prstGeom>
          <a:solidFill>
            <a:srgbClr val="8B5CF6">
              <a:alpha val="50000"/>
            </a:srgbClr>
          </a:solidFill>
          <a:ln w="12700">
            <a:solidFill>
              <a:srgbClr val="8B5CF6"/>
            </a:solidFill>
            <a:prstDash val="solid"/>
          </a:ln>
        </p:spPr>
        <p:txBody>
          <a:bodyPr/>
          <a:lstStyle/>
          <a:p>
            <a:endParaRPr lang="ko-KR" altLang="en-US"/>
          </a:p>
        </p:txBody>
      </p:sp>
      <p:sp>
        <p:nvSpPr>
          <p:cNvPr id="5" name="Text 3">
            <a:extLst>
              <a:ext uri="{FF2B5EF4-FFF2-40B4-BE49-F238E27FC236}">
                <a16:creationId xmlns:a16="http://schemas.microsoft.com/office/drawing/2014/main" id="{AB323480-6737-1F2A-1FC4-E6C4EDD266EC}"/>
              </a:ext>
            </a:extLst>
          </p:cNvPr>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a:extLst>
              <a:ext uri="{FF2B5EF4-FFF2-40B4-BE49-F238E27FC236}">
                <a16:creationId xmlns:a16="http://schemas.microsoft.com/office/drawing/2014/main" id="{2BB8EFFE-144A-ED38-0E7E-0DA2BE6F2C06}"/>
              </a:ext>
            </a:extLst>
          </p:cNvPr>
          <p:cNvSpPr/>
          <p:nvPr/>
        </p:nvSpPr>
        <p:spPr>
          <a:xfrm>
            <a:off x="777240" y="109728"/>
            <a:ext cx="7132320" cy="420624"/>
          </a:xfrm>
          <a:prstGeom prst="rect">
            <a:avLst/>
          </a:prstGeom>
          <a:noFill/>
          <a:ln/>
        </p:spPr>
        <p:txBody>
          <a:bodyPr wrap="square" rtlCol="0" anchor="ctr"/>
          <a:lstStyle/>
          <a:p>
            <a:r>
              <a:rPr lang="ko-KR" altLang="en-US" sz="2800" b="1" dirty="0" err="1">
                <a:solidFill>
                  <a:srgbClr val="FFFFFF"/>
                </a:solidFill>
                <a:latin typeface="맑은 고딕" pitchFamily="34" charset="0"/>
                <a:ea typeface="맑은 고딕" pitchFamily="34" charset="-122"/>
                <a:cs typeface="맑은 고딕" pitchFamily="34" charset="-120"/>
              </a:rPr>
              <a:t>스로틀</a:t>
            </a:r>
            <a:r>
              <a:rPr lang="en-US" sz="2800" b="1" dirty="0">
                <a:solidFill>
                  <a:srgbClr val="FFFFFF"/>
                </a:solidFill>
                <a:latin typeface="맑은 고딕" pitchFamily="34" charset="0"/>
                <a:ea typeface="맑은 고딕" pitchFamily="34" charset="-122"/>
                <a:cs typeface="맑은 고딕" pitchFamily="34" charset="-120"/>
              </a:rPr>
              <a:t>(</a:t>
            </a:r>
            <a:r>
              <a:rPr lang="en-US" altLang="ko-KR" sz="2800" b="1" dirty="0">
                <a:solidFill>
                  <a:srgbClr val="FFFFFF"/>
                </a:solidFill>
                <a:latin typeface="맑은 고딕" pitchFamily="34" charset="0"/>
                <a:ea typeface="맑은 고딕" pitchFamily="34" charset="-122"/>
                <a:cs typeface="맑은 고딕" pitchFamily="34" charset="-120"/>
              </a:rPr>
              <a:t>Throttle</a:t>
            </a:r>
            <a:r>
              <a:rPr lang="en-US" sz="2800" b="1" dirty="0">
                <a:solidFill>
                  <a:srgbClr val="FFFFFF"/>
                </a:solidFill>
                <a:latin typeface="맑은 고딕" pitchFamily="34" charset="0"/>
                <a:ea typeface="맑은 고딕" pitchFamily="34" charset="-122"/>
                <a:cs typeface="맑은 고딕" pitchFamily="34" charset="-120"/>
              </a:rPr>
              <a:t>)</a:t>
            </a:r>
            <a:endParaRPr lang="en-US" sz="2800" dirty="0"/>
          </a:p>
        </p:txBody>
      </p:sp>
      <p:sp>
        <p:nvSpPr>
          <p:cNvPr id="7" name="Shape 5">
            <a:extLst>
              <a:ext uri="{FF2B5EF4-FFF2-40B4-BE49-F238E27FC236}">
                <a16:creationId xmlns:a16="http://schemas.microsoft.com/office/drawing/2014/main" id="{A6453638-C449-11F2-0858-8BD1529EE284}"/>
              </a:ext>
            </a:extLst>
          </p:cNvPr>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txBody>
          <a:bodyPr/>
          <a:lstStyle/>
          <a:p>
            <a:endParaRPr lang="ko-KR" altLang="en-US"/>
          </a:p>
        </p:txBody>
      </p:sp>
      <p:sp>
        <p:nvSpPr>
          <p:cNvPr id="8" name="Text 6">
            <a:extLst>
              <a:ext uri="{FF2B5EF4-FFF2-40B4-BE49-F238E27FC236}">
                <a16:creationId xmlns:a16="http://schemas.microsoft.com/office/drawing/2014/main" id="{0EE1AB0C-78CF-D34E-051C-C689285596AE}"/>
              </a:ext>
            </a:extLst>
          </p:cNvPr>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a:extLst>
              <a:ext uri="{FF2B5EF4-FFF2-40B4-BE49-F238E27FC236}">
                <a16:creationId xmlns:a16="http://schemas.microsoft.com/office/drawing/2014/main" id="{62982C87-4864-290F-A60A-B7079174124C}"/>
              </a:ext>
            </a:extLst>
          </p:cNvPr>
          <p:cNvSpPr/>
          <p:nvPr/>
        </p:nvSpPr>
        <p:spPr>
          <a:xfrm rot="900000">
            <a:off x="8412480" y="4114800"/>
            <a:ext cx="1097280" cy="1097280"/>
          </a:xfrm>
          <a:prstGeom prst="triangle">
            <a:avLst/>
          </a:prstGeom>
          <a:solidFill>
            <a:srgbClr val="A78BFA">
              <a:alpha val="15000"/>
            </a:srgbClr>
          </a:solidFill>
          <a:ln w="12700">
            <a:solidFill>
              <a:srgbClr val="A78BFA"/>
            </a:solidFill>
            <a:prstDash val="solid"/>
          </a:ln>
        </p:spPr>
        <p:txBody>
          <a:bodyPr/>
          <a:lstStyle/>
          <a:p>
            <a:endParaRPr lang="ko-KR" altLang="en-US"/>
          </a:p>
        </p:txBody>
      </p:sp>
      <p:sp>
        <p:nvSpPr>
          <p:cNvPr id="10" name="Text 8">
            <a:extLst>
              <a:ext uri="{FF2B5EF4-FFF2-40B4-BE49-F238E27FC236}">
                <a16:creationId xmlns:a16="http://schemas.microsoft.com/office/drawing/2014/main" id="{722E0426-F18B-A0B8-B478-5069ECCF962E}"/>
              </a:ext>
            </a:extLst>
          </p:cNvPr>
          <p:cNvSpPr/>
          <p:nvPr/>
        </p:nvSpPr>
        <p:spPr>
          <a:xfrm>
            <a:off x="640080" y="804672"/>
            <a:ext cx="4572000" cy="365760"/>
          </a:xfrm>
          <a:prstGeom prst="rect">
            <a:avLst/>
          </a:prstGeom>
          <a:noFill/>
          <a:ln/>
        </p:spPr>
        <p:txBody>
          <a:bodyPr wrap="square" rtlCol="0" anchor="ctr"/>
          <a:lstStyle/>
          <a:p>
            <a:pPr marL="0" indent="0">
              <a:buNone/>
            </a:pPr>
            <a:r>
              <a:rPr lang="en-US" sz="1800" b="1" dirty="0" err="1">
                <a:solidFill>
                  <a:srgbClr val="7C3AED"/>
                </a:solidFill>
                <a:latin typeface="맑은 고딕" pitchFamily="34" charset="0"/>
                <a:ea typeface="맑은 고딕" pitchFamily="34" charset="-122"/>
                <a:cs typeface="맑은 고딕" pitchFamily="34" charset="-120"/>
              </a:rPr>
              <a:t>드론이</a:t>
            </a:r>
            <a:r>
              <a:rPr lang="en-US" sz="1800" b="1" dirty="0">
                <a:solidFill>
                  <a:srgbClr val="7C3AED"/>
                </a:solidFill>
                <a:latin typeface="맑은 고딕" pitchFamily="34" charset="0"/>
                <a:ea typeface="맑은 고딕" pitchFamily="34" charset="-122"/>
                <a:cs typeface="맑은 고딕" pitchFamily="34" charset="-120"/>
              </a:rPr>
              <a:t> </a:t>
            </a:r>
            <a:r>
              <a:rPr lang="ko-KR" altLang="en-US" sz="1800" b="1" dirty="0">
                <a:solidFill>
                  <a:srgbClr val="7C3AED"/>
                </a:solidFill>
                <a:latin typeface="맑은 고딕" pitchFamily="34" charset="0"/>
                <a:ea typeface="맑은 고딕" pitchFamily="34" charset="-122"/>
                <a:cs typeface="맑은 고딕" pitchFamily="34" charset="-120"/>
              </a:rPr>
              <a:t>상승 하강하는 원리</a:t>
            </a:r>
            <a:endParaRPr lang="en-US" sz="1800" dirty="0"/>
          </a:p>
        </p:txBody>
      </p:sp>
      <p:sp>
        <p:nvSpPr>
          <p:cNvPr id="11" name="Text 9">
            <a:extLst>
              <a:ext uri="{FF2B5EF4-FFF2-40B4-BE49-F238E27FC236}">
                <a16:creationId xmlns:a16="http://schemas.microsoft.com/office/drawing/2014/main" id="{71573FF2-6F37-5257-66C9-720A04A9E29B}"/>
              </a:ext>
            </a:extLst>
          </p:cNvPr>
          <p:cNvSpPr/>
          <p:nvPr/>
        </p:nvSpPr>
        <p:spPr>
          <a:xfrm>
            <a:off x="640080" y="1280160"/>
            <a:ext cx="4572000" cy="3108960"/>
          </a:xfrm>
          <a:prstGeom prst="rect">
            <a:avLst/>
          </a:prstGeom>
          <a:noFill/>
          <a:ln/>
        </p:spPr>
        <p:txBody>
          <a:bodyPr wrap="square" lIns="254" tIns="254" rIns="254" bIns="254" rtlCol="0" anchor="t">
            <a:normAutofit/>
          </a:bodyPr>
          <a:lstStyle/>
          <a:p>
            <a:pPr marL="285750" indent="-285750">
              <a:lnSpc>
                <a:spcPct val="130000"/>
              </a:lnSpc>
              <a:spcAft>
                <a:spcPts val="1000"/>
              </a:spcAft>
              <a:buSzPct val="100000"/>
              <a:buFont typeface="Arial" panose="020B0604020202020204" pitchFamily="34" charset="0"/>
              <a:buChar char="•"/>
            </a:pPr>
            <a:r>
              <a:rPr lang="en-US" altLang="ko-KR" sz="1600" dirty="0" err="1">
                <a:solidFill>
                  <a:srgbClr val="3B0764"/>
                </a:solidFill>
                <a:latin typeface="맑은 고딕" pitchFamily="34" charset="0"/>
                <a:ea typeface="맑은 고딕" pitchFamily="34" charset="-122"/>
                <a:cs typeface="맑은 고딕" pitchFamily="34" charset="-120"/>
              </a:rPr>
              <a:t>올리기</a:t>
            </a:r>
            <a:r>
              <a:rPr lang="en-US" altLang="ko-KR" sz="1600" dirty="0">
                <a:solidFill>
                  <a:srgbClr val="3B0764"/>
                </a:solidFill>
                <a:latin typeface="맑은 고딕" pitchFamily="34" charset="0"/>
                <a:ea typeface="맑은 고딕" pitchFamily="34" charset="-122"/>
                <a:cs typeface="맑은 고딕" pitchFamily="34" charset="-120"/>
              </a:rPr>
              <a:t>: 4개 </a:t>
            </a:r>
            <a:r>
              <a:rPr lang="en-US" altLang="ko-KR" sz="1600" dirty="0" err="1">
                <a:solidFill>
                  <a:srgbClr val="3B0764"/>
                </a:solidFill>
                <a:latin typeface="맑은 고딕" pitchFamily="34" charset="0"/>
                <a:ea typeface="맑은 고딕" pitchFamily="34" charset="-122"/>
                <a:cs typeface="맑은 고딕" pitchFamily="34" charset="-120"/>
              </a:rPr>
              <a:t>프로펠러</a:t>
            </a:r>
            <a:r>
              <a:rPr lang="en-US" altLang="ko-KR" sz="1600" dirty="0">
                <a:solidFill>
                  <a:srgbClr val="3B0764"/>
                </a:solidFill>
                <a:latin typeface="맑은 고딕" pitchFamily="34" charset="0"/>
                <a:ea typeface="맑은 고딕" pitchFamily="34" charset="-122"/>
                <a:cs typeface="맑은 고딕" pitchFamily="34" charset="-120"/>
              </a:rPr>
              <a:t> </a:t>
            </a:r>
            <a:r>
              <a:rPr lang="en-US" altLang="ko-KR" sz="1600" dirty="0" err="1">
                <a:solidFill>
                  <a:srgbClr val="3B0764"/>
                </a:solidFill>
                <a:latin typeface="맑은 고딕" pitchFamily="34" charset="0"/>
                <a:ea typeface="맑은 고딕" pitchFamily="34" charset="-122"/>
                <a:cs typeface="맑은 고딕" pitchFamily="34" charset="-120"/>
              </a:rPr>
              <a:t>모두</a:t>
            </a:r>
            <a:r>
              <a:rPr lang="en-US" altLang="ko-KR" sz="1600" dirty="0">
                <a:solidFill>
                  <a:srgbClr val="3B0764"/>
                </a:solidFill>
                <a:latin typeface="맑은 고딕" pitchFamily="34" charset="0"/>
                <a:ea typeface="맑은 고딕" pitchFamily="34" charset="-122"/>
                <a:cs typeface="맑은 고딕" pitchFamily="34" charset="-120"/>
              </a:rPr>
              <a:t> </a:t>
            </a:r>
            <a:r>
              <a:rPr lang="en-US" altLang="ko-KR" sz="1600" dirty="0" err="1">
                <a:solidFill>
                  <a:srgbClr val="3B0764"/>
                </a:solidFill>
                <a:latin typeface="맑은 고딕" pitchFamily="34" charset="0"/>
                <a:ea typeface="맑은 고딕" pitchFamily="34" charset="-122"/>
                <a:cs typeface="맑은 고딕" pitchFamily="34" charset="-120"/>
              </a:rPr>
              <a:t>빨라짐</a:t>
            </a:r>
            <a:r>
              <a:rPr lang="en-US" altLang="ko-KR" sz="1600" dirty="0">
                <a:solidFill>
                  <a:srgbClr val="3B0764"/>
                </a:solidFill>
                <a:latin typeface="맑은 고딕" pitchFamily="34" charset="0"/>
                <a:ea typeface="맑은 고딕" pitchFamily="34" charset="-122"/>
                <a:cs typeface="맑은 고딕" pitchFamily="34" charset="-120"/>
              </a:rPr>
              <a:t> → </a:t>
            </a:r>
            <a:r>
              <a:rPr lang="en-US" altLang="ko-KR" sz="1600" dirty="0" err="1">
                <a:solidFill>
                  <a:srgbClr val="3B0764"/>
                </a:solidFill>
                <a:latin typeface="맑은 고딕" pitchFamily="34" charset="0"/>
                <a:ea typeface="맑은 고딕" pitchFamily="34" charset="-122"/>
                <a:cs typeface="맑은 고딕" pitchFamily="34" charset="-120"/>
              </a:rPr>
              <a:t>양력</a:t>
            </a:r>
            <a:r>
              <a:rPr lang="en-US" altLang="ko-KR" sz="1600" dirty="0">
                <a:solidFill>
                  <a:srgbClr val="3B0764"/>
                </a:solidFill>
                <a:latin typeface="맑은 고딕" pitchFamily="34" charset="0"/>
                <a:ea typeface="맑은 고딕" pitchFamily="34" charset="-122"/>
                <a:cs typeface="맑은 고딕" pitchFamily="34" charset="-120"/>
              </a:rPr>
              <a:t> </a:t>
            </a:r>
            <a:r>
              <a:rPr lang="en-US" altLang="ko-KR" sz="1600" dirty="0" err="1">
                <a:solidFill>
                  <a:srgbClr val="3B0764"/>
                </a:solidFill>
                <a:latin typeface="맑은 고딕" pitchFamily="34" charset="0"/>
                <a:ea typeface="맑은 고딕" pitchFamily="34" charset="-122"/>
                <a:cs typeface="맑은 고딕" pitchFamily="34" charset="-120"/>
              </a:rPr>
              <a:t>증가</a:t>
            </a:r>
            <a:r>
              <a:rPr lang="en-US" altLang="ko-KR" sz="1600" dirty="0">
                <a:solidFill>
                  <a:srgbClr val="3B0764"/>
                </a:solidFill>
                <a:latin typeface="맑은 고딕" pitchFamily="34" charset="0"/>
                <a:ea typeface="맑은 고딕" pitchFamily="34" charset="-122"/>
                <a:cs typeface="맑은 고딕" pitchFamily="34" charset="-120"/>
              </a:rPr>
              <a:t> → </a:t>
            </a:r>
            <a:r>
              <a:rPr lang="en-US" altLang="ko-KR" sz="1600" dirty="0" err="1">
                <a:solidFill>
                  <a:srgbClr val="3B0764"/>
                </a:solidFill>
                <a:latin typeface="맑은 고딕" pitchFamily="34" charset="0"/>
                <a:ea typeface="맑은 고딕" pitchFamily="34" charset="-122"/>
                <a:cs typeface="맑은 고딕" pitchFamily="34" charset="-120"/>
              </a:rPr>
              <a:t>상승</a:t>
            </a:r>
            <a:endParaRPr lang="en-US" altLang="ko-KR" sz="1600" dirty="0"/>
          </a:p>
          <a:p>
            <a:pPr marL="203200" indent="-203200">
              <a:lnSpc>
                <a:spcPct val="130000"/>
              </a:lnSpc>
              <a:spcAft>
                <a:spcPts val="1000"/>
              </a:spcAft>
              <a:buSzPct val="100000"/>
              <a:buChar char="•"/>
            </a:pPr>
            <a:endParaRPr lang="en-US" sz="1600" dirty="0"/>
          </a:p>
          <a:p>
            <a:pPr marL="285750" indent="-285750">
              <a:lnSpc>
                <a:spcPct val="130000"/>
              </a:lnSpc>
              <a:buFont typeface="Arial" panose="020B0604020202020204" pitchFamily="34" charset="0"/>
              <a:buChar char="•"/>
            </a:pPr>
            <a:r>
              <a:rPr lang="en-US" altLang="ko-KR" sz="1600" dirty="0" err="1">
                <a:solidFill>
                  <a:srgbClr val="3B0764"/>
                </a:solidFill>
                <a:latin typeface="맑은 고딕" pitchFamily="34" charset="0"/>
                <a:ea typeface="맑은 고딕" pitchFamily="34" charset="-122"/>
                <a:cs typeface="맑은 고딕" pitchFamily="34" charset="-120"/>
              </a:rPr>
              <a:t>스로틀</a:t>
            </a:r>
            <a:r>
              <a:rPr lang="en-US" altLang="ko-KR" sz="1600" dirty="0">
                <a:solidFill>
                  <a:srgbClr val="3B0764"/>
                </a:solidFill>
                <a:latin typeface="맑은 고딕" pitchFamily="34" charset="0"/>
                <a:ea typeface="맑은 고딕" pitchFamily="34" charset="-122"/>
                <a:cs typeface="맑은 고딕" pitchFamily="34" charset="-120"/>
              </a:rPr>
              <a:t> </a:t>
            </a:r>
            <a:r>
              <a:rPr lang="en-US" altLang="ko-KR" sz="1600" dirty="0" err="1">
                <a:solidFill>
                  <a:srgbClr val="3B0764"/>
                </a:solidFill>
                <a:latin typeface="맑은 고딕" pitchFamily="34" charset="0"/>
                <a:ea typeface="맑은 고딕" pitchFamily="34" charset="-122"/>
                <a:cs typeface="맑은 고딕" pitchFamily="34" charset="-120"/>
              </a:rPr>
              <a:t>내리기</a:t>
            </a:r>
            <a:r>
              <a:rPr lang="en-US" altLang="ko-KR" sz="1600" dirty="0">
                <a:solidFill>
                  <a:srgbClr val="3B0764"/>
                </a:solidFill>
                <a:latin typeface="맑은 고딕" pitchFamily="34" charset="0"/>
                <a:ea typeface="맑은 고딕" pitchFamily="34" charset="-122"/>
                <a:cs typeface="맑은 고딕" pitchFamily="34" charset="-120"/>
              </a:rPr>
              <a:t>: 4개 </a:t>
            </a:r>
            <a:r>
              <a:rPr lang="en-US" altLang="ko-KR" sz="1600" dirty="0" err="1">
                <a:solidFill>
                  <a:srgbClr val="3B0764"/>
                </a:solidFill>
                <a:latin typeface="맑은 고딕" pitchFamily="34" charset="0"/>
                <a:ea typeface="맑은 고딕" pitchFamily="34" charset="-122"/>
                <a:cs typeface="맑은 고딕" pitchFamily="34" charset="-120"/>
              </a:rPr>
              <a:t>프로펠러</a:t>
            </a:r>
            <a:r>
              <a:rPr lang="en-US" altLang="ko-KR" sz="1600" dirty="0">
                <a:solidFill>
                  <a:srgbClr val="3B0764"/>
                </a:solidFill>
                <a:latin typeface="맑은 고딕" pitchFamily="34" charset="0"/>
                <a:ea typeface="맑은 고딕" pitchFamily="34" charset="-122"/>
                <a:cs typeface="맑은 고딕" pitchFamily="34" charset="-120"/>
              </a:rPr>
              <a:t> </a:t>
            </a:r>
            <a:r>
              <a:rPr lang="en-US" altLang="ko-KR" sz="1600" dirty="0" err="1">
                <a:solidFill>
                  <a:srgbClr val="3B0764"/>
                </a:solidFill>
                <a:latin typeface="맑은 고딕" pitchFamily="34" charset="0"/>
                <a:ea typeface="맑은 고딕" pitchFamily="34" charset="-122"/>
                <a:cs typeface="맑은 고딕" pitchFamily="34" charset="-120"/>
              </a:rPr>
              <a:t>모두</a:t>
            </a:r>
            <a:r>
              <a:rPr lang="en-US" altLang="ko-KR" sz="1600" dirty="0">
                <a:solidFill>
                  <a:srgbClr val="3B0764"/>
                </a:solidFill>
                <a:latin typeface="맑은 고딕" pitchFamily="34" charset="0"/>
                <a:ea typeface="맑은 고딕" pitchFamily="34" charset="-122"/>
                <a:cs typeface="맑은 고딕" pitchFamily="34" charset="-120"/>
              </a:rPr>
              <a:t> </a:t>
            </a:r>
            <a:r>
              <a:rPr lang="en-US" altLang="ko-KR" sz="1600" dirty="0" err="1">
                <a:solidFill>
                  <a:srgbClr val="3B0764"/>
                </a:solidFill>
                <a:latin typeface="맑은 고딕" pitchFamily="34" charset="0"/>
                <a:ea typeface="맑은 고딕" pitchFamily="34" charset="-122"/>
                <a:cs typeface="맑은 고딕" pitchFamily="34" charset="-120"/>
              </a:rPr>
              <a:t>느려짐</a:t>
            </a:r>
            <a:r>
              <a:rPr lang="en-US" altLang="ko-KR" sz="1600" dirty="0">
                <a:solidFill>
                  <a:srgbClr val="3B0764"/>
                </a:solidFill>
                <a:latin typeface="맑은 고딕" pitchFamily="34" charset="0"/>
                <a:ea typeface="맑은 고딕" pitchFamily="34" charset="-122"/>
                <a:cs typeface="맑은 고딕" pitchFamily="34" charset="-120"/>
              </a:rPr>
              <a:t> → </a:t>
            </a:r>
            <a:r>
              <a:rPr lang="en-US" altLang="ko-KR" sz="1600" dirty="0" err="1">
                <a:solidFill>
                  <a:srgbClr val="3B0764"/>
                </a:solidFill>
                <a:latin typeface="맑은 고딕" pitchFamily="34" charset="0"/>
                <a:ea typeface="맑은 고딕" pitchFamily="34" charset="-122"/>
                <a:cs typeface="맑은 고딕" pitchFamily="34" charset="-120"/>
              </a:rPr>
              <a:t>양력</a:t>
            </a:r>
            <a:r>
              <a:rPr lang="en-US" altLang="ko-KR" sz="1600" dirty="0">
                <a:solidFill>
                  <a:srgbClr val="3B0764"/>
                </a:solidFill>
                <a:latin typeface="맑은 고딕" pitchFamily="34" charset="0"/>
                <a:ea typeface="맑은 고딕" pitchFamily="34" charset="-122"/>
                <a:cs typeface="맑은 고딕" pitchFamily="34" charset="-120"/>
              </a:rPr>
              <a:t> </a:t>
            </a:r>
            <a:r>
              <a:rPr lang="en-US" altLang="ko-KR" sz="1600" dirty="0" err="1">
                <a:solidFill>
                  <a:srgbClr val="3B0764"/>
                </a:solidFill>
                <a:latin typeface="맑은 고딕" pitchFamily="34" charset="0"/>
                <a:ea typeface="맑은 고딕" pitchFamily="34" charset="-122"/>
                <a:cs typeface="맑은 고딕" pitchFamily="34" charset="-120"/>
              </a:rPr>
              <a:t>감소</a:t>
            </a:r>
            <a:r>
              <a:rPr lang="en-US" altLang="ko-KR" sz="1600" dirty="0">
                <a:solidFill>
                  <a:srgbClr val="3B0764"/>
                </a:solidFill>
                <a:latin typeface="맑은 고딕" pitchFamily="34" charset="0"/>
                <a:ea typeface="맑은 고딕" pitchFamily="34" charset="-122"/>
                <a:cs typeface="맑은 고딕" pitchFamily="34" charset="-120"/>
              </a:rPr>
              <a:t> → </a:t>
            </a:r>
            <a:r>
              <a:rPr lang="en-US" altLang="ko-KR" sz="1600" dirty="0" err="1">
                <a:solidFill>
                  <a:srgbClr val="3B0764"/>
                </a:solidFill>
                <a:latin typeface="맑은 고딕" pitchFamily="34" charset="0"/>
                <a:ea typeface="맑은 고딕" pitchFamily="34" charset="-122"/>
                <a:cs typeface="맑은 고딕" pitchFamily="34" charset="-120"/>
              </a:rPr>
              <a:t>하강</a:t>
            </a:r>
            <a:endParaRPr lang="en-US" altLang="ko-KR" sz="1600" dirty="0"/>
          </a:p>
        </p:txBody>
      </p:sp>
      <p:sp>
        <p:nvSpPr>
          <p:cNvPr id="12" name="Shape 10">
            <a:extLst>
              <a:ext uri="{FF2B5EF4-FFF2-40B4-BE49-F238E27FC236}">
                <a16:creationId xmlns:a16="http://schemas.microsoft.com/office/drawing/2014/main" id="{77B6CEF1-E764-3D50-2AAB-61D7520B9450}"/>
              </a:ext>
            </a:extLst>
          </p:cNvPr>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txBody>
          <a:bodyPr/>
          <a:lstStyle/>
          <a:p>
            <a:endParaRPr lang="ko-KR" altLang="en-US"/>
          </a:p>
        </p:txBody>
      </p:sp>
      <p:sp>
        <p:nvSpPr>
          <p:cNvPr id="13" name="Shape 11">
            <a:extLst>
              <a:ext uri="{FF2B5EF4-FFF2-40B4-BE49-F238E27FC236}">
                <a16:creationId xmlns:a16="http://schemas.microsoft.com/office/drawing/2014/main" id="{66995EB1-2B6C-1F01-FD96-EA27671A50A4}"/>
              </a:ext>
            </a:extLst>
          </p:cNvPr>
          <p:cNvSpPr/>
          <p:nvPr/>
        </p:nvSpPr>
        <p:spPr>
          <a:xfrm>
            <a:off x="5303520" y="868680"/>
            <a:ext cx="3931920" cy="3520440"/>
          </a:xfrm>
          <a:prstGeom prst="roundRect">
            <a:avLst>
              <a:gd name="adj" fmla="val 3117"/>
            </a:avLst>
          </a:prstGeom>
          <a:solidFill>
            <a:srgbClr val="F5F3FF"/>
          </a:solidFill>
          <a:ln w="12700">
            <a:solidFill>
              <a:srgbClr val="E2E8F0"/>
            </a:solidFill>
            <a:prstDash val="solid"/>
          </a:ln>
        </p:spPr>
        <p:txBody>
          <a:bodyPr/>
          <a:lstStyle/>
          <a:p>
            <a:endParaRPr lang="ko-KR" altLang="en-US"/>
          </a:p>
        </p:txBody>
      </p:sp>
      <p:sp>
        <p:nvSpPr>
          <p:cNvPr id="16" name="Text 12">
            <a:extLst>
              <a:ext uri="{FF2B5EF4-FFF2-40B4-BE49-F238E27FC236}">
                <a16:creationId xmlns:a16="http://schemas.microsoft.com/office/drawing/2014/main" id="{5D41E6F3-5FC9-AE45-7F30-6AB22200D0BA}"/>
              </a:ext>
            </a:extLst>
          </p:cNvPr>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a:extLst>
              <a:ext uri="{FF2B5EF4-FFF2-40B4-BE49-F238E27FC236}">
                <a16:creationId xmlns:a16="http://schemas.microsoft.com/office/drawing/2014/main" id="{27B1F14D-AA19-E7A5-9852-462AE9586952}"/>
              </a:ext>
            </a:extLst>
          </p:cNvPr>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7 / 17</a:t>
            </a:r>
            <a:endParaRPr lang="en-US" sz="900" dirty="0"/>
          </a:p>
        </p:txBody>
      </p:sp>
      <p:pic>
        <p:nvPicPr>
          <p:cNvPr id="15" name="그림 14">
            <a:extLst>
              <a:ext uri="{FF2B5EF4-FFF2-40B4-BE49-F238E27FC236}">
                <a16:creationId xmlns:a16="http://schemas.microsoft.com/office/drawing/2014/main" id="{7EDFBF3D-033F-2EB0-ED79-429DCBD14DAD}"/>
              </a:ext>
            </a:extLst>
          </p:cNvPr>
          <p:cNvPicPr>
            <a:picLocks noChangeAspect="1"/>
          </p:cNvPicPr>
          <p:nvPr/>
        </p:nvPicPr>
        <p:blipFill>
          <a:blip r:embed="rId3"/>
          <a:stretch>
            <a:fillRect/>
          </a:stretch>
        </p:blipFill>
        <p:spPr>
          <a:xfrm>
            <a:off x="5597842" y="2991161"/>
            <a:ext cx="3343275" cy="1857375"/>
          </a:xfrm>
          <a:prstGeom prst="rect">
            <a:avLst/>
          </a:prstGeom>
        </p:spPr>
      </p:pic>
      <p:pic>
        <p:nvPicPr>
          <p:cNvPr id="21" name="그림 20">
            <a:extLst>
              <a:ext uri="{FF2B5EF4-FFF2-40B4-BE49-F238E27FC236}">
                <a16:creationId xmlns:a16="http://schemas.microsoft.com/office/drawing/2014/main" id="{7E95E340-0646-370C-BE36-871D8E929A4A}"/>
              </a:ext>
            </a:extLst>
          </p:cNvPr>
          <p:cNvPicPr>
            <a:picLocks noChangeAspect="1"/>
          </p:cNvPicPr>
          <p:nvPr/>
        </p:nvPicPr>
        <p:blipFill>
          <a:blip r:embed="rId4"/>
          <a:stretch>
            <a:fillRect/>
          </a:stretch>
        </p:blipFill>
        <p:spPr>
          <a:xfrm>
            <a:off x="5486400" y="986374"/>
            <a:ext cx="3409950" cy="1914525"/>
          </a:xfrm>
          <a:prstGeom prst="rect">
            <a:avLst/>
          </a:prstGeom>
        </p:spPr>
      </p:pic>
    </p:spTree>
    <p:extLst>
      <p:ext uri="{BB962C8B-B14F-4D97-AF65-F5344CB8AC3E}">
        <p14:creationId xmlns:p14="http://schemas.microsoft.com/office/powerpoint/2010/main" val="2853676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69176-0941-EBBD-F933-8B363BCE077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0BCD5CD-AF54-A544-2065-F4D37A54A886}"/>
              </a:ext>
            </a:extLst>
          </p:cNvPr>
          <p:cNvSpPr/>
          <p:nvPr/>
        </p:nvSpPr>
        <p:spPr>
          <a:xfrm>
            <a:off x="0" y="0"/>
            <a:ext cx="9144000" cy="658368"/>
          </a:xfrm>
          <a:prstGeom prst="rect">
            <a:avLst/>
          </a:prstGeom>
          <a:solidFill>
            <a:srgbClr val="6D28D9"/>
          </a:solidFill>
          <a:ln w="12700">
            <a:solidFill>
              <a:srgbClr val="6D28D9"/>
            </a:solidFill>
            <a:prstDash val="solid"/>
          </a:ln>
        </p:spPr>
        <p:txBody>
          <a:bodyPr/>
          <a:lstStyle/>
          <a:p>
            <a:endParaRPr lang="ko-KR" altLang="en-US"/>
          </a:p>
        </p:txBody>
      </p:sp>
      <p:sp>
        <p:nvSpPr>
          <p:cNvPr id="3" name="Shape 1">
            <a:extLst>
              <a:ext uri="{FF2B5EF4-FFF2-40B4-BE49-F238E27FC236}">
                <a16:creationId xmlns:a16="http://schemas.microsoft.com/office/drawing/2014/main" id="{799914AC-B1BF-0981-38ED-A12AE12458E0}"/>
              </a:ext>
            </a:extLst>
          </p:cNvPr>
          <p:cNvSpPr/>
          <p:nvPr/>
        </p:nvSpPr>
        <p:spPr>
          <a:xfrm>
            <a:off x="0" y="0"/>
            <a:ext cx="5486400" cy="658368"/>
          </a:xfrm>
          <a:prstGeom prst="rect">
            <a:avLst/>
          </a:prstGeom>
          <a:solidFill>
            <a:srgbClr val="8B5CF6"/>
          </a:solidFill>
          <a:ln w="12700">
            <a:solidFill>
              <a:srgbClr val="8B5CF6"/>
            </a:solidFill>
            <a:prstDash val="solid"/>
          </a:ln>
        </p:spPr>
        <p:txBody>
          <a:bodyPr/>
          <a:lstStyle/>
          <a:p>
            <a:endParaRPr lang="ko-KR" altLang="en-US"/>
          </a:p>
        </p:txBody>
      </p:sp>
      <p:sp>
        <p:nvSpPr>
          <p:cNvPr id="4" name="Shape 2">
            <a:extLst>
              <a:ext uri="{FF2B5EF4-FFF2-40B4-BE49-F238E27FC236}">
                <a16:creationId xmlns:a16="http://schemas.microsoft.com/office/drawing/2014/main" id="{25F6FE41-C656-2283-81D2-98FE8EF230A0}"/>
              </a:ext>
            </a:extLst>
          </p:cNvPr>
          <p:cNvSpPr/>
          <p:nvPr/>
        </p:nvSpPr>
        <p:spPr>
          <a:xfrm>
            <a:off x="3657600" y="0"/>
            <a:ext cx="3657600" cy="658368"/>
          </a:xfrm>
          <a:prstGeom prst="rect">
            <a:avLst/>
          </a:prstGeom>
          <a:solidFill>
            <a:srgbClr val="8B5CF6">
              <a:alpha val="50000"/>
            </a:srgbClr>
          </a:solidFill>
          <a:ln w="12700">
            <a:solidFill>
              <a:srgbClr val="8B5CF6"/>
            </a:solidFill>
            <a:prstDash val="solid"/>
          </a:ln>
        </p:spPr>
        <p:txBody>
          <a:bodyPr/>
          <a:lstStyle/>
          <a:p>
            <a:endParaRPr lang="ko-KR" altLang="en-US"/>
          </a:p>
        </p:txBody>
      </p:sp>
      <p:sp>
        <p:nvSpPr>
          <p:cNvPr id="5" name="Text 3">
            <a:extLst>
              <a:ext uri="{FF2B5EF4-FFF2-40B4-BE49-F238E27FC236}">
                <a16:creationId xmlns:a16="http://schemas.microsoft.com/office/drawing/2014/main" id="{C90D12F0-428B-38A3-2ACA-FB4027A484C7}"/>
              </a:ext>
            </a:extLst>
          </p:cNvPr>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a:extLst>
              <a:ext uri="{FF2B5EF4-FFF2-40B4-BE49-F238E27FC236}">
                <a16:creationId xmlns:a16="http://schemas.microsoft.com/office/drawing/2014/main" id="{CD6EEA9A-C631-2E17-6AE0-94EF8185D8C3}"/>
              </a:ext>
            </a:extLst>
          </p:cNvPr>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롤(Roll)</a:t>
            </a:r>
            <a:endParaRPr lang="en-US" sz="2800" dirty="0"/>
          </a:p>
        </p:txBody>
      </p:sp>
      <p:sp>
        <p:nvSpPr>
          <p:cNvPr id="7" name="Shape 5">
            <a:extLst>
              <a:ext uri="{FF2B5EF4-FFF2-40B4-BE49-F238E27FC236}">
                <a16:creationId xmlns:a16="http://schemas.microsoft.com/office/drawing/2014/main" id="{9775DFD9-D652-806B-0D93-CBEC380B61D5}"/>
              </a:ext>
            </a:extLst>
          </p:cNvPr>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txBody>
          <a:bodyPr/>
          <a:lstStyle/>
          <a:p>
            <a:endParaRPr lang="ko-KR" altLang="en-US"/>
          </a:p>
        </p:txBody>
      </p:sp>
      <p:sp>
        <p:nvSpPr>
          <p:cNvPr id="8" name="Text 6">
            <a:extLst>
              <a:ext uri="{FF2B5EF4-FFF2-40B4-BE49-F238E27FC236}">
                <a16:creationId xmlns:a16="http://schemas.microsoft.com/office/drawing/2014/main" id="{5A55CC93-70C7-0B71-18BD-5669A52434F8}"/>
              </a:ext>
            </a:extLst>
          </p:cNvPr>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a:extLst>
              <a:ext uri="{FF2B5EF4-FFF2-40B4-BE49-F238E27FC236}">
                <a16:creationId xmlns:a16="http://schemas.microsoft.com/office/drawing/2014/main" id="{A1FA6DDF-C704-0AB1-1221-DA846527920E}"/>
              </a:ext>
            </a:extLst>
          </p:cNvPr>
          <p:cNvSpPr/>
          <p:nvPr/>
        </p:nvSpPr>
        <p:spPr>
          <a:xfrm rot="900000">
            <a:off x="8412480" y="4114800"/>
            <a:ext cx="1097280" cy="1097280"/>
          </a:xfrm>
          <a:prstGeom prst="triangle">
            <a:avLst/>
          </a:prstGeom>
          <a:solidFill>
            <a:srgbClr val="A78BFA">
              <a:alpha val="15000"/>
            </a:srgbClr>
          </a:solidFill>
          <a:ln w="12700">
            <a:solidFill>
              <a:srgbClr val="A78BFA"/>
            </a:solidFill>
            <a:prstDash val="solid"/>
          </a:ln>
        </p:spPr>
        <p:txBody>
          <a:bodyPr/>
          <a:lstStyle/>
          <a:p>
            <a:endParaRPr lang="ko-KR" altLang="en-US"/>
          </a:p>
        </p:txBody>
      </p:sp>
      <p:sp>
        <p:nvSpPr>
          <p:cNvPr id="10" name="Text 8">
            <a:extLst>
              <a:ext uri="{FF2B5EF4-FFF2-40B4-BE49-F238E27FC236}">
                <a16:creationId xmlns:a16="http://schemas.microsoft.com/office/drawing/2014/main" id="{B339D467-92C3-21FD-FA2B-7F278902ED38}"/>
              </a:ext>
            </a:extLst>
          </p:cNvPr>
          <p:cNvSpPr/>
          <p:nvPr/>
        </p:nvSpPr>
        <p:spPr>
          <a:xfrm>
            <a:off x="640080" y="804672"/>
            <a:ext cx="4572000" cy="365760"/>
          </a:xfrm>
          <a:prstGeom prst="rect">
            <a:avLst/>
          </a:prstGeom>
          <a:noFill/>
          <a:ln/>
        </p:spPr>
        <p:txBody>
          <a:bodyPr wrap="square" rtlCol="0" anchor="ctr"/>
          <a:lstStyle/>
          <a:p>
            <a:pPr marL="0" indent="0">
              <a:buNone/>
            </a:pPr>
            <a:r>
              <a:rPr lang="en-US" sz="1800" b="1" dirty="0">
                <a:solidFill>
                  <a:srgbClr val="7C3AED"/>
                </a:solidFill>
                <a:latin typeface="맑은 고딕" pitchFamily="34" charset="0"/>
                <a:ea typeface="맑은 고딕" pitchFamily="34" charset="-122"/>
                <a:cs typeface="맑은 고딕" pitchFamily="34" charset="-120"/>
              </a:rPr>
              <a:t>드론이 좌우로 기울어져 옆으로 이동한다</a:t>
            </a:r>
            <a:endParaRPr lang="en-US" sz="1800" dirty="0"/>
          </a:p>
        </p:txBody>
      </p:sp>
      <p:sp>
        <p:nvSpPr>
          <p:cNvPr id="11" name="Text 9">
            <a:extLst>
              <a:ext uri="{FF2B5EF4-FFF2-40B4-BE49-F238E27FC236}">
                <a16:creationId xmlns:a16="http://schemas.microsoft.com/office/drawing/2014/main" id="{5805ABA1-1092-283E-F9D2-51A458C8AB24}"/>
              </a:ext>
            </a:extLst>
          </p:cNvPr>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롤(Roll) = 좌우 기울기</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오른쪽 롤: 오른쪽 프로펠러 느리게 → 오른쪽으로 기울어져 이동</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왼쪽 롤: 왼쪽 프로펠러 느리게 → 왼쪽으로 기울어져 이동</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비행기가 방향 바꿀 때 날개가 기울어지는 것과 같아요</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조종기 오른쪽 스틱 좌우 = 롤</a:t>
            </a:r>
            <a:endParaRPr lang="en-US" sz="1600" dirty="0"/>
          </a:p>
        </p:txBody>
      </p:sp>
      <p:sp>
        <p:nvSpPr>
          <p:cNvPr id="12" name="Shape 10">
            <a:extLst>
              <a:ext uri="{FF2B5EF4-FFF2-40B4-BE49-F238E27FC236}">
                <a16:creationId xmlns:a16="http://schemas.microsoft.com/office/drawing/2014/main" id="{4DD5DEAA-4909-3A1C-89F1-CB79E5F1D27B}"/>
              </a:ext>
            </a:extLst>
          </p:cNvPr>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txBody>
          <a:bodyPr/>
          <a:lstStyle/>
          <a:p>
            <a:endParaRPr lang="ko-KR" altLang="en-US"/>
          </a:p>
        </p:txBody>
      </p:sp>
      <p:sp>
        <p:nvSpPr>
          <p:cNvPr id="13" name="Shape 11">
            <a:extLst>
              <a:ext uri="{FF2B5EF4-FFF2-40B4-BE49-F238E27FC236}">
                <a16:creationId xmlns:a16="http://schemas.microsoft.com/office/drawing/2014/main" id="{38158C3C-F6EE-506E-559B-DAB52078A013}"/>
              </a:ext>
            </a:extLst>
          </p:cNvPr>
          <p:cNvSpPr/>
          <p:nvPr/>
        </p:nvSpPr>
        <p:spPr>
          <a:xfrm>
            <a:off x="5303520" y="868680"/>
            <a:ext cx="3931920" cy="3520440"/>
          </a:xfrm>
          <a:prstGeom prst="roundRect">
            <a:avLst>
              <a:gd name="adj" fmla="val 3117"/>
            </a:avLst>
          </a:prstGeom>
          <a:solidFill>
            <a:srgbClr val="F5F3FF"/>
          </a:solidFill>
          <a:ln w="12700">
            <a:solidFill>
              <a:srgbClr val="E2E8F0"/>
            </a:solidFill>
            <a:prstDash val="solid"/>
          </a:ln>
        </p:spPr>
        <p:txBody>
          <a:bodyPr/>
          <a:lstStyle/>
          <a:p>
            <a:endParaRPr lang="ko-KR" altLang="en-US"/>
          </a:p>
        </p:txBody>
      </p:sp>
      <p:sp>
        <p:nvSpPr>
          <p:cNvPr id="16" name="Text 12">
            <a:extLst>
              <a:ext uri="{FF2B5EF4-FFF2-40B4-BE49-F238E27FC236}">
                <a16:creationId xmlns:a16="http://schemas.microsoft.com/office/drawing/2014/main" id="{0F2ACBA9-D90E-3097-8744-5EA2BDE35359}"/>
              </a:ext>
            </a:extLst>
          </p:cNvPr>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a:extLst>
              <a:ext uri="{FF2B5EF4-FFF2-40B4-BE49-F238E27FC236}">
                <a16:creationId xmlns:a16="http://schemas.microsoft.com/office/drawing/2014/main" id="{D7FEDFD9-711B-C1B9-15DD-460471261AC5}"/>
              </a:ext>
            </a:extLst>
          </p:cNvPr>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7 / 17</a:t>
            </a:r>
            <a:endParaRPr lang="en-US" sz="900" dirty="0"/>
          </a:p>
        </p:txBody>
      </p:sp>
      <p:pic>
        <p:nvPicPr>
          <p:cNvPr id="18" name="그림 17">
            <a:extLst>
              <a:ext uri="{FF2B5EF4-FFF2-40B4-BE49-F238E27FC236}">
                <a16:creationId xmlns:a16="http://schemas.microsoft.com/office/drawing/2014/main" id="{F6C5FA3F-AF8E-237E-4373-341AB3D4FDCD}"/>
              </a:ext>
            </a:extLst>
          </p:cNvPr>
          <p:cNvPicPr>
            <a:picLocks noChangeAspect="1"/>
          </p:cNvPicPr>
          <p:nvPr/>
        </p:nvPicPr>
        <p:blipFill>
          <a:blip r:embed="rId3"/>
          <a:stretch>
            <a:fillRect/>
          </a:stretch>
        </p:blipFill>
        <p:spPr>
          <a:xfrm>
            <a:off x="5486400" y="1170432"/>
            <a:ext cx="3687506" cy="2308999"/>
          </a:xfrm>
          <a:prstGeom prst="rect">
            <a:avLst/>
          </a:prstGeom>
        </p:spPr>
      </p:pic>
    </p:spTree>
    <p:extLst>
      <p:ext uri="{BB962C8B-B14F-4D97-AF65-F5344CB8AC3E}">
        <p14:creationId xmlns:p14="http://schemas.microsoft.com/office/powerpoint/2010/main" val="53866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2F003-482B-C37A-F6AF-FAB318BDD8F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193A2A0-5549-3E2C-A8F2-67571E14A285}"/>
              </a:ext>
            </a:extLst>
          </p:cNvPr>
          <p:cNvSpPr/>
          <p:nvPr/>
        </p:nvSpPr>
        <p:spPr>
          <a:xfrm>
            <a:off x="0" y="0"/>
            <a:ext cx="9144000" cy="658368"/>
          </a:xfrm>
          <a:prstGeom prst="rect">
            <a:avLst/>
          </a:prstGeom>
          <a:solidFill>
            <a:srgbClr val="6D28D9"/>
          </a:solidFill>
          <a:ln w="12700">
            <a:solidFill>
              <a:srgbClr val="6D28D9"/>
            </a:solidFill>
            <a:prstDash val="solid"/>
          </a:ln>
        </p:spPr>
        <p:txBody>
          <a:bodyPr/>
          <a:lstStyle/>
          <a:p>
            <a:endParaRPr lang="ko-KR" altLang="en-US"/>
          </a:p>
        </p:txBody>
      </p:sp>
      <p:sp>
        <p:nvSpPr>
          <p:cNvPr id="3" name="Shape 1">
            <a:extLst>
              <a:ext uri="{FF2B5EF4-FFF2-40B4-BE49-F238E27FC236}">
                <a16:creationId xmlns:a16="http://schemas.microsoft.com/office/drawing/2014/main" id="{4EF90CC2-CEC2-174B-038F-6525D439E3F3}"/>
              </a:ext>
            </a:extLst>
          </p:cNvPr>
          <p:cNvSpPr/>
          <p:nvPr/>
        </p:nvSpPr>
        <p:spPr>
          <a:xfrm>
            <a:off x="0" y="0"/>
            <a:ext cx="5486400" cy="658368"/>
          </a:xfrm>
          <a:prstGeom prst="rect">
            <a:avLst/>
          </a:prstGeom>
          <a:solidFill>
            <a:srgbClr val="8B5CF6"/>
          </a:solidFill>
          <a:ln w="12700">
            <a:solidFill>
              <a:srgbClr val="8B5CF6"/>
            </a:solidFill>
            <a:prstDash val="solid"/>
          </a:ln>
        </p:spPr>
        <p:txBody>
          <a:bodyPr/>
          <a:lstStyle/>
          <a:p>
            <a:endParaRPr lang="ko-KR" altLang="en-US"/>
          </a:p>
        </p:txBody>
      </p:sp>
      <p:sp>
        <p:nvSpPr>
          <p:cNvPr id="4" name="Shape 2">
            <a:extLst>
              <a:ext uri="{FF2B5EF4-FFF2-40B4-BE49-F238E27FC236}">
                <a16:creationId xmlns:a16="http://schemas.microsoft.com/office/drawing/2014/main" id="{46349971-576C-4783-2E5A-F91FC72F8482}"/>
              </a:ext>
            </a:extLst>
          </p:cNvPr>
          <p:cNvSpPr/>
          <p:nvPr/>
        </p:nvSpPr>
        <p:spPr>
          <a:xfrm>
            <a:off x="3657600" y="0"/>
            <a:ext cx="3657600" cy="658368"/>
          </a:xfrm>
          <a:prstGeom prst="rect">
            <a:avLst/>
          </a:prstGeom>
          <a:solidFill>
            <a:srgbClr val="8B5CF6">
              <a:alpha val="50000"/>
            </a:srgbClr>
          </a:solidFill>
          <a:ln w="12700">
            <a:solidFill>
              <a:srgbClr val="8B5CF6"/>
            </a:solidFill>
            <a:prstDash val="solid"/>
          </a:ln>
        </p:spPr>
        <p:txBody>
          <a:bodyPr/>
          <a:lstStyle/>
          <a:p>
            <a:endParaRPr lang="ko-KR" altLang="en-US"/>
          </a:p>
        </p:txBody>
      </p:sp>
      <p:sp>
        <p:nvSpPr>
          <p:cNvPr id="5" name="Text 3">
            <a:extLst>
              <a:ext uri="{FF2B5EF4-FFF2-40B4-BE49-F238E27FC236}">
                <a16:creationId xmlns:a16="http://schemas.microsoft.com/office/drawing/2014/main" id="{85225C56-87F2-DD44-E040-9C7CA2D645C0}"/>
              </a:ext>
            </a:extLst>
          </p:cNvPr>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a:extLst>
              <a:ext uri="{FF2B5EF4-FFF2-40B4-BE49-F238E27FC236}">
                <a16:creationId xmlns:a16="http://schemas.microsoft.com/office/drawing/2014/main" id="{A3D8B2C9-4970-0671-9EB3-7DE1F4934B78}"/>
              </a:ext>
            </a:extLst>
          </p:cNvPr>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롤(Roll)</a:t>
            </a:r>
            <a:endParaRPr lang="en-US" sz="2800" dirty="0"/>
          </a:p>
        </p:txBody>
      </p:sp>
      <p:sp>
        <p:nvSpPr>
          <p:cNvPr id="7" name="Shape 5">
            <a:extLst>
              <a:ext uri="{FF2B5EF4-FFF2-40B4-BE49-F238E27FC236}">
                <a16:creationId xmlns:a16="http://schemas.microsoft.com/office/drawing/2014/main" id="{2411E118-8556-AEEB-2737-D29E132B74E7}"/>
              </a:ext>
            </a:extLst>
          </p:cNvPr>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txBody>
          <a:bodyPr/>
          <a:lstStyle/>
          <a:p>
            <a:endParaRPr lang="ko-KR" altLang="en-US"/>
          </a:p>
        </p:txBody>
      </p:sp>
      <p:sp>
        <p:nvSpPr>
          <p:cNvPr id="8" name="Text 6">
            <a:extLst>
              <a:ext uri="{FF2B5EF4-FFF2-40B4-BE49-F238E27FC236}">
                <a16:creationId xmlns:a16="http://schemas.microsoft.com/office/drawing/2014/main" id="{4A3EFAFF-7F2C-38E9-DE94-FF53ACC93E73}"/>
              </a:ext>
            </a:extLst>
          </p:cNvPr>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a:extLst>
              <a:ext uri="{FF2B5EF4-FFF2-40B4-BE49-F238E27FC236}">
                <a16:creationId xmlns:a16="http://schemas.microsoft.com/office/drawing/2014/main" id="{ADB27D47-B914-D863-9BF8-C34527856A7B}"/>
              </a:ext>
            </a:extLst>
          </p:cNvPr>
          <p:cNvSpPr/>
          <p:nvPr/>
        </p:nvSpPr>
        <p:spPr>
          <a:xfrm rot="900000">
            <a:off x="8412480" y="4114800"/>
            <a:ext cx="1097280" cy="1097280"/>
          </a:xfrm>
          <a:prstGeom prst="triangle">
            <a:avLst/>
          </a:prstGeom>
          <a:solidFill>
            <a:srgbClr val="A78BFA">
              <a:alpha val="15000"/>
            </a:srgbClr>
          </a:solidFill>
          <a:ln w="12700">
            <a:solidFill>
              <a:srgbClr val="A78BFA"/>
            </a:solidFill>
            <a:prstDash val="solid"/>
          </a:ln>
        </p:spPr>
        <p:txBody>
          <a:bodyPr/>
          <a:lstStyle/>
          <a:p>
            <a:endParaRPr lang="ko-KR" altLang="en-US"/>
          </a:p>
        </p:txBody>
      </p:sp>
      <p:sp>
        <p:nvSpPr>
          <p:cNvPr id="10" name="Text 8">
            <a:extLst>
              <a:ext uri="{FF2B5EF4-FFF2-40B4-BE49-F238E27FC236}">
                <a16:creationId xmlns:a16="http://schemas.microsoft.com/office/drawing/2014/main" id="{A3B8274C-86B1-93B8-1CA9-966D3CB776D3}"/>
              </a:ext>
            </a:extLst>
          </p:cNvPr>
          <p:cNvSpPr/>
          <p:nvPr/>
        </p:nvSpPr>
        <p:spPr>
          <a:xfrm>
            <a:off x="640080" y="804672"/>
            <a:ext cx="4572000" cy="365760"/>
          </a:xfrm>
          <a:prstGeom prst="rect">
            <a:avLst/>
          </a:prstGeom>
          <a:noFill/>
          <a:ln/>
        </p:spPr>
        <p:txBody>
          <a:bodyPr wrap="square" rtlCol="0" anchor="ctr"/>
          <a:lstStyle/>
          <a:p>
            <a:pPr marL="0" indent="0">
              <a:buNone/>
            </a:pPr>
            <a:r>
              <a:rPr lang="en-US" sz="1800" b="1" dirty="0">
                <a:solidFill>
                  <a:srgbClr val="7C3AED"/>
                </a:solidFill>
                <a:latin typeface="맑은 고딕" pitchFamily="34" charset="0"/>
                <a:ea typeface="맑은 고딕" pitchFamily="34" charset="-122"/>
                <a:cs typeface="맑은 고딕" pitchFamily="34" charset="-120"/>
              </a:rPr>
              <a:t>드론이 좌우로 기울어져 옆으로 이동한다</a:t>
            </a:r>
            <a:endParaRPr lang="en-US" sz="1800" dirty="0"/>
          </a:p>
        </p:txBody>
      </p:sp>
      <p:sp>
        <p:nvSpPr>
          <p:cNvPr id="11" name="Text 9">
            <a:extLst>
              <a:ext uri="{FF2B5EF4-FFF2-40B4-BE49-F238E27FC236}">
                <a16:creationId xmlns:a16="http://schemas.microsoft.com/office/drawing/2014/main" id="{2EAF9442-8FE7-00C9-94C9-E3C06C04210D}"/>
              </a:ext>
            </a:extLst>
          </p:cNvPr>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롤(Roll) = 좌우 기울기</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오른쪽 롤: 오른쪽 프로펠러 느리게 → 오른쪽으로 기울어져 이동</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왼쪽 롤: 왼쪽 프로펠러 느리게 → 왼쪽으로 기울어져 이동</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비행기가 방향 바꿀 때 날개가 기울어지는 것과 같아요</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조종기 오른쪽 스틱 좌우 = 롤</a:t>
            </a:r>
            <a:endParaRPr lang="en-US" sz="1600" dirty="0"/>
          </a:p>
        </p:txBody>
      </p:sp>
      <p:sp>
        <p:nvSpPr>
          <p:cNvPr id="12" name="Shape 10">
            <a:extLst>
              <a:ext uri="{FF2B5EF4-FFF2-40B4-BE49-F238E27FC236}">
                <a16:creationId xmlns:a16="http://schemas.microsoft.com/office/drawing/2014/main" id="{3DD72E47-D161-0315-73DD-42134CD33C63}"/>
              </a:ext>
            </a:extLst>
          </p:cNvPr>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txBody>
          <a:bodyPr/>
          <a:lstStyle/>
          <a:p>
            <a:endParaRPr lang="ko-KR" altLang="en-US"/>
          </a:p>
        </p:txBody>
      </p:sp>
      <p:sp>
        <p:nvSpPr>
          <p:cNvPr id="13" name="Shape 11">
            <a:extLst>
              <a:ext uri="{FF2B5EF4-FFF2-40B4-BE49-F238E27FC236}">
                <a16:creationId xmlns:a16="http://schemas.microsoft.com/office/drawing/2014/main" id="{9212C39F-4181-5E80-3A6D-1AD00B48811A}"/>
              </a:ext>
            </a:extLst>
          </p:cNvPr>
          <p:cNvSpPr/>
          <p:nvPr/>
        </p:nvSpPr>
        <p:spPr>
          <a:xfrm>
            <a:off x="5303520" y="868680"/>
            <a:ext cx="3931920" cy="3520440"/>
          </a:xfrm>
          <a:prstGeom prst="roundRect">
            <a:avLst>
              <a:gd name="adj" fmla="val 3117"/>
            </a:avLst>
          </a:prstGeom>
          <a:solidFill>
            <a:srgbClr val="F5F3FF"/>
          </a:solidFill>
          <a:ln w="12700">
            <a:solidFill>
              <a:srgbClr val="E2E8F0"/>
            </a:solidFill>
            <a:prstDash val="solid"/>
          </a:ln>
        </p:spPr>
        <p:txBody>
          <a:bodyPr/>
          <a:lstStyle/>
          <a:p>
            <a:endParaRPr lang="ko-KR" altLang="en-US"/>
          </a:p>
        </p:txBody>
      </p:sp>
      <p:sp>
        <p:nvSpPr>
          <p:cNvPr id="16" name="Text 12">
            <a:extLst>
              <a:ext uri="{FF2B5EF4-FFF2-40B4-BE49-F238E27FC236}">
                <a16:creationId xmlns:a16="http://schemas.microsoft.com/office/drawing/2014/main" id="{BD0E5C39-6C17-0C58-15D7-8F6C309A22D4}"/>
              </a:ext>
            </a:extLst>
          </p:cNvPr>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a:extLst>
              <a:ext uri="{FF2B5EF4-FFF2-40B4-BE49-F238E27FC236}">
                <a16:creationId xmlns:a16="http://schemas.microsoft.com/office/drawing/2014/main" id="{64C9DDBD-35B5-502C-37AC-1F3E16A58D7D}"/>
              </a:ext>
            </a:extLst>
          </p:cNvPr>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7 / 17</a:t>
            </a:r>
            <a:endParaRPr lang="en-US" sz="900" dirty="0"/>
          </a:p>
        </p:txBody>
      </p:sp>
      <p:pic>
        <p:nvPicPr>
          <p:cNvPr id="15" name="그림 14">
            <a:extLst>
              <a:ext uri="{FF2B5EF4-FFF2-40B4-BE49-F238E27FC236}">
                <a16:creationId xmlns:a16="http://schemas.microsoft.com/office/drawing/2014/main" id="{967DFE9D-BEB8-1C56-07A5-3C9418CD94E0}"/>
              </a:ext>
            </a:extLst>
          </p:cNvPr>
          <p:cNvPicPr>
            <a:picLocks noChangeAspect="1"/>
          </p:cNvPicPr>
          <p:nvPr/>
        </p:nvPicPr>
        <p:blipFill>
          <a:blip r:embed="rId3"/>
          <a:stretch>
            <a:fillRect/>
          </a:stretch>
        </p:blipFill>
        <p:spPr>
          <a:xfrm>
            <a:off x="5363102" y="896112"/>
            <a:ext cx="3486150" cy="1981200"/>
          </a:xfrm>
          <a:prstGeom prst="rect">
            <a:avLst/>
          </a:prstGeom>
        </p:spPr>
      </p:pic>
      <p:pic>
        <p:nvPicPr>
          <p:cNvPr id="20" name="그림 19">
            <a:extLst>
              <a:ext uri="{FF2B5EF4-FFF2-40B4-BE49-F238E27FC236}">
                <a16:creationId xmlns:a16="http://schemas.microsoft.com/office/drawing/2014/main" id="{4FDF7DE9-D8ED-9B32-6D0B-9DEC321C47F6}"/>
              </a:ext>
            </a:extLst>
          </p:cNvPr>
          <p:cNvPicPr>
            <a:picLocks noChangeAspect="1"/>
          </p:cNvPicPr>
          <p:nvPr/>
        </p:nvPicPr>
        <p:blipFill>
          <a:blip r:embed="rId4"/>
          <a:stretch>
            <a:fillRect/>
          </a:stretch>
        </p:blipFill>
        <p:spPr>
          <a:xfrm>
            <a:off x="5500255" y="2876861"/>
            <a:ext cx="3409950" cy="1971675"/>
          </a:xfrm>
          <a:prstGeom prst="rect">
            <a:avLst/>
          </a:prstGeom>
        </p:spPr>
      </p:pic>
    </p:spTree>
    <p:extLst>
      <p:ext uri="{BB962C8B-B14F-4D97-AF65-F5344CB8AC3E}">
        <p14:creationId xmlns:p14="http://schemas.microsoft.com/office/powerpoint/2010/main" val="3547751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8B5CF6"/>
          </a:solidFill>
          <a:ln w="12700">
            <a:solidFill>
              <a:srgbClr val="8B5CF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피치(Pitch)</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Text 7"/>
          <p:cNvSpPr/>
          <p:nvPr/>
        </p:nvSpPr>
        <p:spPr>
          <a:xfrm>
            <a:off x="640080" y="987552"/>
            <a:ext cx="411480" cy="32004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0" name="Text 8"/>
          <p:cNvSpPr/>
          <p:nvPr/>
        </p:nvSpPr>
        <p:spPr>
          <a:xfrm>
            <a:off x="1143000" y="1005840"/>
            <a:ext cx="4663440" cy="365760"/>
          </a:xfrm>
          <a:prstGeom prst="rect">
            <a:avLst/>
          </a:prstGeom>
          <a:noFill/>
          <a:ln/>
        </p:spPr>
        <p:txBody>
          <a:bodyPr wrap="square" rtlCol="0" anchor="ctr"/>
          <a:lstStyle/>
          <a:p>
            <a:pPr marL="0" indent="0">
              <a:lnSpc>
                <a:spcPct val="130000"/>
              </a:lnSpc>
              <a:buNone/>
            </a:pPr>
            <a:r>
              <a:rPr lang="en-US" sz="1500" dirty="0">
                <a:solidFill>
                  <a:srgbClr val="3B0764"/>
                </a:solidFill>
                <a:latin typeface="맑은 고딕" pitchFamily="34" charset="0"/>
                <a:ea typeface="맑은 고딕" pitchFamily="34" charset="-122"/>
                <a:cs typeface="맑은 고딕" pitchFamily="34" charset="-120"/>
              </a:rPr>
              <a:t>피치(Pitch) = 앞뒤 기울기</a:t>
            </a:r>
            <a:endParaRPr lang="en-US" sz="1500" dirty="0"/>
          </a:p>
        </p:txBody>
      </p:sp>
      <p:sp>
        <p:nvSpPr>
          <p:cNvPr id="11" name="Text 9"/>
          <p:cNvSpPr/>
          <p:nvPr/>
        </p:nvSpPr>
        <p:spPr>
          <a:xfrm>
            <a:off x="640080" y="1664208"/>
            <a:ext cx="411480" cy="32004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2" name="Text 10"/>
          <p:cNvSpPr/>
          <p:nvPr/>
        </p:nvSpPr>
        <p:spPr>
          <a:xfrm>
            <a:off x="1143000" y="1682496"/>
            <a:ext cx="4663440" cy="365760"/>
          </a:xfrm>
          <a:prstGeom prst="rect">
            <a:avLst/>
          </a:prstGeom>
          <a:noFill/>
          <a:ln/>
        </p:spPr>
        <p:txBody>
          <a:bodyPr wrap="square" rtlCol="0" anchor="ctr"/>
          <a:lstStyle/>
          <a:p>
            <a:pPr marL="0" indent="0">
              <a:lnSpc>
                <a:spcPct val="130000"/>
              </a:lnSpc>
              <a:buNone/>
            </a:pPr>
            <a:r>
              <a:rPr lang="en-US" sz="1500" dirty="0">
                <a:solidFill>
                  <a:srgbClr val="3B0764"/>
                </a:solidFill>
                <a:latin typeface="맑은 고딕" pitchFamily="34" charset="0"/>
                <a:ea typeface="맑은 고딕" pitchFamily="34" charset="-122"/>
                <a:cs typeface="맑은 고딕" pitchFamily="34" charset="-120"/>
              </a:rPr>
              <a:t>앞으로 피치: 앞쪽 프로펠러 느리게 → 앞이 내려가 → 전진</a:t>
            </a:r>
            <a:endParaRPr lang="en-US" sz="1500" dirty="0"/>
          </a:p>
        </p:txBody>
      </p:sp>
      <p:sp>
        <p:nvSpPr>
          <p:cNvPr id="13" name="Text 11"/>
          <p:cNvSpPr/>
          <p:nvPr/>
        </p:nvSpPr>
        <p:spPr>
          <a:xfrm>
            <a:off x="640080" y="2340864"/>
            <a:ext cx="411480" cy="32004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4" name="Text 12"/>
          <p:cNvSpPr/>
          <p:nvPr/>
        </p:nvSpPr>
        <p:spPr>
          <a:xfrm>
            <a:off x="1143000" y="2359152"/>
            <a:ext cx="4663440" cy="365760"/>
          </a:xfrm>
          <a:prstGeom prst="rect">
            <a:avLst/>
          </a:prstGeom>
          <a:noFill/>
          <a:ln/>
        </p:spPr>
        <p:txBody>
          <a:bodyPr wrap="square" rtlCol="0" anchor="ctr"/>
          <a:lstStyle/>
          <a:p>
            <a:pPr marL="0" indent="0">
              <a:lnSpc>
                <a:spcPct val="130000"/>
              </a:lnSpc>
              <a:buNone/>
            </a:pPr>
            <a:r>
              <a:rPr lang="en-US" sz="1500" dirty="0">
                <a:solidFill>
                  <a:srgbClr val="3B0764"/>
                </a:solidFill>
                <a:latin typeface="맑은 고딕" pitchFamily="34" charset="0"/>
                <a:ea typeface="맑은 고딕" pitchFamily="34" charset="-122"/>
                <a:cs typeface="맑은 고딕" pitchFamily="34" charset="-120"/>
              </a:rPr>
              <a:t>뒤로 피치: 뒤쪽 프로펠러 느리게 → 뒤가 내려가 → 후진</a:t>
            </a:r>
            <a:endParaRPr lang="en-US" sz="1500" dirty="0"/>
          </a:p>
        </p:txBody>
      </p:sp>
      <p:sp>
        <p:nvSpPr>
          <p:cNvPr id="15" name="Text 13"/>
          <p:cNvSpPr/>
          <p:nvPr/>
        </p:nvSpPr>
        <p:spPr>
          <a:xfrm>
            <a:off x="640080" y="3017520"/>
            <a:ext cx="411480" cy="32004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6" name="Text 14"/>
          <p:cNvSpPr/>
          <p:nvPr/>
        </p:nvSpPr>
        <p:spPr>
          <a:xfrm>
            <a:off x="1143000" y="3035808"/>
            <a:ext cx="4663440" cy="365760"/>
          </a:xfrm>
          <a:prstGeom prst="rect">
            <a:avLst/>
          </a:prstGeom>
          <a:noFill/>
          <a:ln/>
        </p:spPr>
        <p:txBody>
          <a:bodyPr wrap="square" rtlCol="0" anchor="ctr"/>
          <a:lstStyle/>
          <a:p>
            <a:pPr marL="0" indent="0">
              <a:lnSpc>
                <a:spcPct val="130000"/>
              </a:lnSpc>
              <a:buNone/>
            </a:pPr>
            <a:r>
              <a:rPr lang="en-US" sz="1500" dirty="0">
                <a:solidFill>
                  <a:srgbClr val="3B0764"/>
                </a:solidFill>
                <a:latin typeface="맑은 고딕" pitchFamily="34" charset="0"/>
                <a:ea typeface="맑은 고딕" pitchFamily="34" charset="-122"/>
                <a:cs typeface="맑은 고딕" pitchFamily="34" charset="-120"/>
              </a:rPr>
              <a:t>시소처럼 앞뒤로 기울어지는 운동이에요</a:t>
            </a:r>
            <a:endParaRPr lang="en-US" sz="1500" dirty="0"/>
          </a:p>
        </p:txBody>
      </p:sp>
      <p:sp>
        <p:nvSpPr>
          <p:cNvPr id="17" name="Text 15"/>
          <p:cNvSpPr/>
          <p:nvPr/>
        </p:nvSpPr>
        <p:spPr>
          <a:xfrm>
            <a:off x="640080" y="3694176"/>
            <a:ext cx="411480" cy="32004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8" name="Text 16"/>
          <p:cNvSpPr/>
          <p:nvPr/>
        </p:nvSpPr>
        <p:spPr>
          <a:xfrm>
            <a:off x="1143000" y="3712464"/>
            <a:ext cx="4663440" cy="365760"/>
          </a:xfrm>
          <a:prstGeom prst="rect">
            <a:avLst/>
          </a:prstGeom>
          <a:noFill/>
          <a:ln/>
        </p:spPr>
        <p:txBody>
          <a:bodyPr wrap="square" rtlCol="0" anchor="ctr"/>
          <a:lstStyle/>
          <a:p>
            <a:pPr marL="0" indent="0">
              <a:lnSpc>
                <a:spcPct val="130000"/>
              </a:lnSpc>
              <a:buNone/>
            </a:pPr>
            <a:r>
              <a:rPr lang="en-US" sz="1500" dirty="0">
                <a:solidFill>
                  <a:srgbClr val="3B0764"/>
                </a:solidFill>
                <a:latin typeface="맑은 고딕" pitchFamily="34" charset="0"/>
                <a:ea typeface="맑은 고딕" pitchFamily="34" charset="-122"/>
                <a:cs typeface="맑은 고딕" pitchFamily="34" charset="-120"/>
              </a:rPr>
              <a:t>조종기 오른쪽 스틱 앞뒤 = 피치</a:t>
            </a:r>
            <a:endParaRPr lang="en-US" sz="1500" dirty="0"/>
          </a:p>
        </p:txBody>
      </p:sp>
      <p:sp>
        <p:nvSpPr>
          <p:cNvPr id="19" name="Shape 17"/>
          <p:cNvSpPr/>
          <p:nvPr/>
        </p:nvSpPr>
        <p:spPr>
          <a:xfrm>
            <a:off x="6126480" y="1097280"/>
            <a:ext cx="2560320" cy="3291840"/>
          </a:xfrm>
          <a:prstGeom prst="roundRect">
            <a:avLst>
              <a:gd name="adj" fmla="val 4286"/>
            </a:avLst>
          </a:prstGeom>
          <a:solidFill>
            <a:srgbClr val="F5F3FF"/>
          </a:solidFill>
          <a:ln w="12700">
            <a:solidFill>
              <a:srgbClr val="E2E8F0"/>
            </a:solidFill>
            <a:prstDash val="solid"/>
          </a:ln>
        </p:spPr>
        <p:txBody>
          <a:bodyPr/>
          <a:lstStyle/>
          <a:p>
            <a:endParaRPr lang="ko-KR" altLang="en-US"/>
          </a:p>
        </p:txBody>
      </p:sp>
      <p:sp>
        <p:nvSpPr>
          <p:cNvPr id="22" name="Text 18"/>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23" name="Text 19"/>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8 / 17</a:t>
            </a:r>
            <a:endParaRPr lang="en-US" sz="900" dirty="0"/>
          </a:p>
        </p:txBody>
      </p:sp>
      <p:pic>
        <p:nvPicPr>
          <p:cNvPr id="24" name="그림 23">
            <a:extLst>
              <a:ext uri="{FF2B5EF4-FFF2-40B4-BE49-F238E27FC236}">
                <a16:creationId xmlns:a16="http://schemas.microsoft.com/office/drawing/2014/main" id="{2AEAEBBA-26AE-3DAD-4913-413C09D9525D}"/>
              </a:ext>
            </a:extLst>
          </p:cNvPr>
          <p:cNvPicPr>
            <a:picLocks noChangeAspect="1"/>
          </p:cNvPicPr>
          <p:nvPr/>
        </p:nvPicPr>
        <p:blipFill>
          <a:blip r:embed="rId3"/>
          <a:stretch>
            <a:fillRect/>
          </a:stretch>
        </p:blipFill>
        <p:spPr>
          <a:xfrm>
            <a:off x="5701665" y="1074420"/>
            <a:ext cx="3409950" cy="1943100"/>
          </a:xfrm>
          <a:prstGeom prst="rect">
            <a:avLst/>
          </a:prstGeom>
        </p:spPr>
      </p:pic>
      <p:pic>
        <p:nvPicPr>
          <p:cNvPr id="26" name="그림 25">
            <a:extLst>
              <a:ext uri="{FF2B5EF4-FFF2-40B4-BE49-F238E27FC236}">
                <a16:creationId xmlns:a16="http://schemas.microsoft.com/office/drawing/2014/main" id="{9F0A9FC6-910C-8713-0494-5AB2BCE643EF}"/>
              </a:ext>
            </a:extLst>
          </p:cNvPr>
          <p:cNvPicPr>
            <a:picLocks noChangeAspect="1"/>
          </p:cNvPicPr>
          <p:nvPr/>
        </p:nvPicPr>
        <p:blipFill>
          <a:blip r:embed="rId4"/>
          <a:stretch>
            <a:fillRect/>
          </a:stretch>
        </p:blipFill>
        <p:spPr>
          <a:xfrm>
            <a:off x="5730849" y="2998065"/>
            <a:ext cx="3448050" cy="20097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8B5CF6"/>
          </a:solidFill>
          <a:ln w="12700">
            <a:solidFill>
              <a:srgbClr val="8B5CF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요(Yaw)</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p:cNvSpPr/>
          <p:nvPr/>
        </p:nvSpPr>
        <p:spPr>
          <a:xfrm rot="900000">
            <a:off x="8412480" y="4114800"/>
            <a:ext cx="1097280" cy="1097280"/>
          </a:xfrm>
          <a:prstGeom prst="triangle">
            <a:avLst/>
          </a:prstGeom>
          <a:solidFill>
            <a:srgbClr val="A78BFA">
              <a:alpha val="15000"/>
            </a:srgbClr>
          </a:solidFill>
          <a:ln w="12700">
            <a:solidFill>
              <a:srgbClr val="A78BFA"/>
            </a:solidFill>
            <a:prstDash val="solid"/>
          </a:ln>
        </p:spPr>
        <p:txBody>
          <a:bodyPr/>
          <a:lstStyle/>
          <a:p>
            <a:endParaRPr lang="ko-KR" altLang="en-US"/>
          </a:p>
        </p:txBody>
      </p:sp>
      <p:sp>
        <p:nvSpPr>
          <p:cNvPr id="10" name="Text 8"/>
          <p:cNvSpPr/>
          <p:nvPr/>
        </p:nvSpPr>
        <p:spPr>
          <a:xfrm>
            <a:off x="640080" y="804672"/>
            <a:ext cx="4572000" cy="365760"/>
          </a:xfrm>
          <a:prstGeom prst="rect">
            <a:avLst/>
          </a:prstGeom>
          <a:noFill/>
          <a:ln/>
        </p:spPr>
        <p:txBody>
          <a:bodyPr wrap="square" rtlCol="0" anchor="ctr"/>
          <a:lstStyle/>
          <a:p>
            <a:pPr marL="0" indent="0">
              <a:buNone/>
            </a:pPr>
            <a:r>
              <a:rPr lang="en-US" sz="1800" b="1" dirty="0">
                <a:solidFill>
                  <a:srgbClr val="7C3AED"/>
                </a:solidFill>
                <a:latin typeface="맑은 고딕" pitchFamily="34" charset="0"/>
                <a:ea typeface="맑은 고딕" pitchFamily="34" charset="-122"/>
                <a:cs typeface="맑은 고딕" pitchFamily="34" charset="-120"/>
              </a:rPr>
              <a:t>위치를 바꾸지 않고 제자리에서 방향만 회전한다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요(Yaw) = 제자리 회전</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왼쪽 요: 반시계 방향으로 회전</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오른쪽 요: 시계 방향으로 회전</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위치는 그대로, 바라보는 방향만 변해요</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팽이가 제자리에서 도는 것과 같아요</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조종기 왼쪽 스틱 좌우 = 요</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txBody>
          <a:bodyPr/>
          <a:lstStyle/>
          <a:p>
            <a:endParaRPr lang="ko-KR" altLang="en-US"/>
          </a:p>
        </p:txBody>
      </p:sp>
      <p:sp>
        <p:nvSpPr>
          <p:cNvPr id="13" name="Shape 11"/>
          <p:cNvSpPr/>
          <p:nvPr/>
        </p:nvSpPr>
        <p:spPr>
          <a:xfrm>
            <a:off x="5303520" y="868680"/>
            <a:ext cx="3931920" cy="3520440"/>
          </a:xfrm>
          <a:prstGeom prst="roundRect">
            <a:avLst>
              <a:gd name="adj" fmla="val 3117"/>
            </a:avLst>
          </a:prstGeom>
          <a:solidFill>
            <a:srgbClr val="F5F3FF"/>
          </a:solidFill>
          <a:ln w="12700">
            <a:solidFill>
              <a:srgbClr val="E2E8F0"/>
            </a:solidFill>
            <a:prstDash val="solid"/>
          </a:ln>
        </p:spPr>
        <p:txBody>
          <a:bodyPr/>
          <a:lstStyle/>
          <a:p>
            <a:endParaRPr lang="ko-KR" altLang="en-US"/>
          </a:p>
        </p:txBody>
      </p:sp>
      <p:sp>
        <p:nvSpPr>
          <p:cNvPr id="16" name="Text 12"/>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9 / 17</a:t>
            </a:r>
            <a:endParaRPr lang="en-US" sz="900" dirty="0"/>
          </a:p>
        </p:txBody>
      </p:sp>
      <p:pic>
        <p:nvPicPr>
          <p:cNvPr id="18" name="그림 17">
            <a:extLst>
              <a:ext uri="{FF2B5EF4-FFF2-40B4-BE49-F238E27FC236}">
                <a16:creationId xmlns:a16="http://schemas.microsoft.com/office/drawing/2014/main" id="{498E20AB-12FE-9659-34EF-4780CE3E83A5}"/>
              </a:ext>
            </a:extLst>
          </p:cNvPr>
          <p:cNvPicPr>
            <a:picLocks noChangeAspect="1"/>
          </p:cNvPicPr>
          <p:nvPr/>
        </p:nvPicPr>
        <p:blipFill>
          <a:blip r:embed="rId3"/>
          <a:stretch>
            <a:fillRect/>
          </a:stretch>
        </p:blipFill>
        <p:spPr>
          <a:xfrm>
            <a:off x="5486400" y="868680"/>
            <a:ext cx="3419475" cy="1933575"/>
          </a:xfrm>
          <a:prstGeom prst="rect">
            <a:avLst/>
          </a:prstGeom>
        </p:spPr>
      </p:pic>
      <p:pic>
        <p:nvPicPr>
          <p:cNvPr id="20" name="그림 19">
            <a:extLst>
              <a:ext uri="{FF2B5EF4-FFF2-40B4-BE49-F238E27FC236}">
                <a16:creationId xmlns:a16="http://schemas.microsoft.com/office/drawing/2014/main" id="{19C2E5FC-BA67-E8DF-90FB-2F35CC667525}"/>
              </a:ext>
            </a:extLst>
          </p:cNvPr>
          <p:cNvPicPr>
            <a:picLocks noChangeAspect="1"/>
          </p:cNvPicPr>
          <p:nvPr/>
        </p:nvPicPr>
        <p:blipFill>
          <a:blip r:embed="rId4"/>
          <a:stretch>
            <a:fillRect/>
          </a:stretch>
        </p:blipFill>
        <p:spPr>
          <a:xfrm>
            <a:off x="5532120" y="2857500"/>
            <a:ext cx="3429000" cy="19431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8B5CF6"/>
          </a:solidFill>
          <a:ln w="12700">
            <a:solidFill>
              <a:srgbClr val="8B5CF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정리</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p:cNvSpPr/>
          <p:nvPr/>
        </p:nvSpPr>
        <p:spPr>
          <a:xfrm>
            <a:off x="8046720" y="-548640"/>
            <a:ext cx="1828800" cy="1828800"/>
          </a:xfrm>
          <a:prstGeom prst="ellipse">
            <a:avLst/>
          </a:prstGeom>
          <a:solidFill>
            <a:srgbClr val="A78BFA">
              <a:alpha val="20000"/>
            </a:srgbClr>
          </a:solidFill>
          <a:ln w="12700">
            <a:solidFill>
              <a:srgbClr val="A78BFA"/>
            </a:solidFill>
            <a:prstDash val="solid"/>
          </a:ln>
        </p:spPr>
        <p:txBody>
          <a:bodyPr/>
          <a:lstStyle/>
          <a:p>
            <a:endParaRPr lang="ko-KR" altLang="en-US"/>
          </a:p>
        </p:txBody>
      </p:sp>
      <p:sp>
        <p:nvSpPr>
          <p:cNvPr id="10" name="Shape 8"/>
          <p:cNvSpPr/>
          <p:nvPr/>
        </p:nvSpPr>
        <p:spPr>
          <a:xfrm>
            <a:off x="-457200" y="3840480"/>
            <a:ext cx="1463040" cy="1463040"/>
          </a:xfrm>
          <a:prstGeom prst="ellipse">
            <a:avLst/>
          </a:prstGeom>
          <a:solidFill>
            <a:srgbClr val="8B5CF6">
              <a:alpha val="15000"/>
            </a:srgbClr>
          </a:solidFill>
          <a:ln w="12700">
            <a:solidFill>
              <a:srgbClr val="8B5CF6"/>
            </a:solidFill>
            <a:prstDash val="solid"/>
          </a:ln>
        </p:spPr>
        <p:txBody>
          <a:bodyPr/>
          <a:lstStyle/>
          <a:p>
            <a:endParaRPr lang="ko-KR" altLang="en-US"/>
          </a:p>
        </p:txBody>
      </p:sp>
      <p:sp>
        <p:nvSpPr>
          <p:cNvPr id="11" name="Shape 9"/>
          <p:cNvSpPr/>
          <p:nvPr/>
        </p:nvSpPr>
        <p:spPr>
          <a:xfrm>
            <a:off x="457200" y="804672"/>
            <a:ext cx="8229600" cy="411480"/>
          </a:xfrm>
          <a:prstGeom prst="roundRect">
            <a:avLst>
              <a:gd name="adj" fmla="val 22222"/>
            </a:avLst>
          </a:prstGeom>
          <a:solidFill>
            <a:srgbClr val="F5F3FF"/>
          </a:solidFill>
          <a:ln w="12700">
            <a:solidFill>
              <a:srgbClr val="F5F3FF"/>
            </a:solidFill>
            <a:prstDash val="solid"/>
          </a:ln>
        </p:spPr>
        <p:txBody>
          <a:bodyPr/>
          <a:lstStyle/>
          <a:p>
            <a:endParaRPr lang="ko-KR" altLang="en-US"/>
          </a:p>
        </p:txBody>
      </p:sp>
      <p:sp>
        <p:nvSpPr>
          <p:cNvPr id="12" name="Text 10"/>
          <p:cNvSpPr/>
          <p:nvPr/>
        </p:nvSpPr>
        <p:spPr>
          <a:xfrm>
            <a:off x="640080" y="841248"/>
            <a:ext cx="7863840" cy="320040"/>
          </a:xfrm>
          <a:prstGeom prst="rect">
            <a:avLst/>
          </a:prstGeom>
          <a:noFill/>
          <a:ln/>
        </p:spPr>
        <p:txBody>
          <a:bodyPr wrap="square" rtlCol="0" anchor="ctr"/>
          <a:lstStyle/>
          <a:p>
            <a:pPr marL="0" indent="0" algn="ctr">
              <a:buNone/>
            </a:pPr>
            <a:r>
              <a:rPr lang="en-US" sz="1600" b="1" dirty="0">
                <a:solidFill>
                  <a:srgbClr val="7C3AED"/>
                </a:solidFill>
                <a:latin typeface="맑은 고딕" pitchFamily="34" charset="0"/>
                <a:ea typeface="맑은 고딕" pitchFamily="34" charset="-122"/>
                <a:cs typeface="맑은 고딕" pitchFamily="34" charset="-120"/>
              </a:rPr>
              <a:t>네 가지 힘과 네 가지 조종 한눈에</a:t>
            </a:r>
            <a:endParaRPr lang="en-US" sz="1600" dirty="0"/>
          </a:p>
        </p:txBody>
      </p:sp>
      <p:sp>
        <p:nvSpPr>
          <p:cNvPr id="13" name="Text 11"/>
          <p:cNvSpPr/>
          <p:nvPr/>
        </p:nvSpPr>
        <p:spPr>
          <a:xfrm>
            <a:off x="640080" y="1371600"/>
            <a:ext cx="7863840" cy="30175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800" dirty="0">
                <a:solidFill>
                  <a:srgbClr val="3B0764"/>
                </a:solidFill>
                <a:latin typeface="맑은 고딕" pitchFamily="34" charset="0"/>
                <a:ea typeface="맑은 고딕" pitchFamily="34" charset="-122"/>
                <a:cs typeface="맑은 고딕" pitchFamily="34" charset="-120"/>
              </a:rPr>
              <a:t>[네 가지 힘] 양력(위로) · 중력(아래로) · 추력(앞으로) · 항력(방해)</a:t>
            </a:r>
            <a:endParaRPr lang="en-US" sz="1800" dirty="0"/>
          </a:p>
          <a:p>
            <a:pPr marL="203200" indent="-203200">
              <a:lnSpc>
                <a:spcPct val="130000"/>
              </a:lnSpc>
              <a:spcAft>
                <a:spcPts val="1000"/>
              </a:spcAft>
              <a:buSzPct val="100000"/>
              <a:buChar char="•"/>
            </a:pPr>
            <a:r>
              <a:rPr lang="en-US" sz="1800" dirty="0">
                <a:solidFill>
                  <a:srgbClr val="3B0764"/>
                </a:solidFill>
                <a:latin typeface="맑은 고딕" pitchFamily="34" charset="0"/>
                <a:ea typeface="맑은 고딕" pitchFamily="34" charset="-122"/>
                <a:cs typeface="맑은 고딕" pitchFamily="34" charset="-120"/>
              </a:rPr>
              <a:t>호버링 = 양력과 중력이 같을 때</a:t>
            </a:r>
            <a:endParaRPr lang="en-US" sz="1800" dirty="0"/>
          </a:p>
          <a:p>
            <a:pPr marL="203200" indent="-203200">
              <a:lnSpc>
                <a:spcPct val="130000"/>
              </a:lnSpc>
              <a:spcAft>
                <a:spcPts val="1000"/>
              </a:spcAft>
              <a:buSzPct val="100000"/>
              <a:buChar char="•"/>
            </a:pPr>
            <a:r>
              <a:rPr lang="en-US" sz="1800" dirty="0">
                <a:solidFill>
                  <a:srgbClr val="3B0764"/>
                </a:solidFill>
                <a:latin typeface="맑은 고딕" pitchFamily="34" charset="0"/>
                <a:ea typeface="맑은 고딕" pitchFamily="34" charset="-122"/>
                <a:cs typeface="맑은 고딕" pitchFamily="34" charset="-120"/>
              </a:rPr>
              <a:t>[네 가지 조종] 스로틀(위아래) · 롤(좌우 기울기) · 피치(앞뒤 기울기) · 요(제자리 회전)</a:t>
            </a:r>
            <a:endParaRPr lang="en-US" sz="1800" dirty="0"/>
          </a:p>
          <a:p>
            <a:pPr marL="203200" indent="-203200">
              <a:lnSpc>
                <a:spcPct val="130000"/>
              </a:lnSpc>
              <a:spcAft>
                <a:spcPts val="1000"/>
              </a:spcAft>
              <a:buSzPct val="100000"/>
              <a:buChar char="•"/>
            </a:pPr>
            <a:r>
              <a:rPr lang="en-US" sz="1800" dirty="0">
                <a:solidFill>
                  <a:srgbClr val="3B0764"/>
                </a:solidFill>
                <a:latin typeface="맑은 고딕" pitchFamily="34" charset="0"/>
                <a:ea typeface="맑은 고딕" pitchFamily="34" charset="-122"/>
                <a:cs typeface="맑은 고딕" pitchFamily="34" charset="-120"/>
              </a:rPr>
              <a:t>프로펠러 속도 조합 → 기울기 변화 → 원하는 방향 이동</a:t>
            </a:r>
            <a:endParaRPr lang="en-US" sz="1800" dirty="0"/>
          </a:p>
          <a:p>
            <a:pPr marL="203200" indent="-203200">
              <a:lnSpc>
                <a:spcPct val="130000"/>
              </a:lnSpc>
              <a:spcAft>
                <a:spcPts val="1000"/>
              </a:spcAft>
              <a:buSzPct val="100000"/>
              <a:buChar char="•"/>
            </a:pPr>
            <a:r>
              <a:rPr lang="en-US" sz="1800" dirty="0">
                <a:solidFill>
                  <a:srgbClr val="3B0764"/>
                </a:solidFill>
                <a:latin typeface="맑은 고딕" pitchFamily="34" charset="0"/>
                <a:ea typeface="맑은 고딕" pitchFamily="34" charset="-122"/>
                <a:cs typeface="맑은 고딕" pitchFamily="34" charset="-120"/>
              </a:rPr>
              <a:t>조종기: 왼쪽 스틱(스로틀+요) / 오른쪽 스틱(롤+피치)</a:t>
            </a:r>
            <a:endParaRPr lang="en-US" sz="1800" dirty="0"/>
          </a:p>
        </p:txBody>
      </p:sp>
      <p:sp>
        <p:nvSpPr>
          <p:cNvPr id="15" name="Text 12"/>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6" name="Text 13"/>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8B5CF6"/>
          </a:solidFill>
          <a:ln w="12700">
            <a:solidFill>
              <a:srgbClr val="8B5CF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퀴즈</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p:cNvSpPr/>
          <p:nvPr/>
        </p:nvSpPr>
        <p:spPr>
          <a:xfrm>
            <a:off x="484632" y="1033272"/>
            <a:ext cx="1920240" cy="3474720"/>
          </a:xfrm>
          <a:prstGeom prst="roundRect">
            <a:avLst>
              <a:gd name="adj" fmla="val 5714"/>
            </a:avLst>
          </a:prstGeom>
          <a:solidFill>
            <a:srgbClr val="E2E8F0">
              <a:alpha val="50000"/>
            </a:srgbClr>
          </a:solidFill>
          <a:ln w="12700">
            <a:solidFill>
              <a:srgbClr val="E2E8F0"/>
            </a:solidFill>
            <a:prstDash val="solid"/>
          </a:ln>
        </p:spPr>
        <p:txBody>
          <a:bodyPr/>
          <a:lstStyle/>
          <a:p>
            <a:endParaRPr lang="ko-KR" altLang="en-US"/>
          </a:p>
        </p:txBody>
      </p:sp>
      <p:sp>
        <p:nvSpPr>
          <p:cNvPr id="10" name="Shape 8"/>
          <p:cNvSpPr/>
          <p:nvPr/>
        </p:nvSpPr>
        <p:spPr>
          <a:xfrm>
            <a:off x="457200" y="1005840"/>
            <a:ext cx="1920240" cy="3474720"/>
          </a:xfrm>
          <a:prstGeom prst="roundRect">
            <a:avLst>
              <a:gd name="adj" fmla="val 5714"/>
            </a:avLst>
          </a:prstGeom>
          <a:solidFill>
            <a:srgbClr val="FFFFFF"/>
          </a:solidFill>
          <a:ln w="12700">
            <a:solidFill>
              <a:srgbClr val="E2E8F0"/>
            </a:solidFill>
            <a:prstDash val="solid"/>
          </a:ln>
        </p:spPr>
        <p:txBody>
          <a:bodyPr/>
          <a:lstStyle/>
          <a:p>
            <a:endParaRPr lang="ko-KR" altLang="en-US"/>
          </a:p>
        </p:txBody>
      </p:sp>
      <p:sp>
        <p:nvSpPr>
          <p:cNvPr id="11" name="Shape 9"/>
          <p:cNvSpPr/>
          <p:nvPr/>
        </p:nvSpPr>
        <p:spPr>
          <a:xfrm>
            <a:off x="1028700" y="1234440"/>
            <a:ext cx="777240" cy="457200"/>
          </a:xfrm>
          <a:prstGeom prst="ellipse">
            <a:avLst/>
          </a:prstGeom>
          <a:solidFill>
            <a:srgbClr val="8B5CF6"/>
          </a:solidFill>
          <a:ln w="12700">
            <a:solidFill>
              <a:srgbClr val="8B5CF6"/>
            </a:solidFill>
            <a:prstDash val="solid"/>
          </a:ln>
        </p:spPr>
        <p:txBody>
          <a:bodyPr/>
          <a:lstStyle/>
          <a:p>
            <a:endParaRPr lang="ko-KR" altLang="en-US"/>
          </a:p>
        </p:txBody>
      </p:sp>
      <p:sp>
        <p:nvSpPr>
          <p:cNvPr id="12" name="Text 10"/>
          <p:cNvSpPr/>
          <p:nvPr/>
        </p:nvSpPr>
        <p:spPr>
          <a:xfrm>
            <a:off x="102870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Q1</a:t>
            </a:r>
            <a:endParaRPr lang="en-US" sz="1300" dirty="0"/>
          </a:p>
        </p:txBody>
      </p:sp>
      <p:sp>
        <p:nvSpPr>
          <p:cNvPr id="13" name="Text 11"/>
          <p:cNvSpPr/>
          <p:nvPr/>
        </p:nvSpPr>
        <p:spPr>
          <a:xfrm>
            <a:off x="621792" y="1874520"/>
            <a:ext cx="1591056" cy="1234440"/>
          </a:xfrm>
          <a:prstGeom prst="rect">
            <a:avLst/>
          </a:prstGeom>
          <a:noFill/>
          <a:ln/>
        </p:spPr>
        <p:txBody>
          <a:bodyPr wrap="square" rtlCol="0" anchor="ctr"/>
          <a:lstStyle/>
          <a:p>
            <a:pPr marL="0" indent="0" algn="ctr">
              <a:lnSpc>
                <a:spcPct val="130000"/>
              </a:lnSpc>
              <a:buNone/>
            </a:pPr>
            <a:r>
              <a:rPr lang="en-US" sz="1400" dirty="0">
                <a:solidFill>
                  <a:srgbClr val="3B0764"/>
                </a:solidFill>
                <a:latin typeface="맑은 고딕" pitchFamily="34" charset="0"/>
                <a:ea typeface="맑은 고딕" pitchFamily="34" charset="-122"/>
                <a:cs typeface="맑은 고딕" pitchFamily="34" charset="-120"/>
              </a:rPr>
              <a:t>Q1. 드론이 공중에서 제자리에 멈추는 상태를 무엇이라 할까? </a:t>
            </a:r>
            <a:endParaRPr lang="en-US" sz="1400" dirty="0"/>
          </a:p>
        </p:txBody>
      </p:sp>
      <p:sp>
        <p:nvSpPr>
          <p:cNvPr id="14" name="Shape 12"/>
          <p:cNvSpPr/>
          <p:nvPr/>
        </p:nvSpPr>
        <p:spPr>
          <a:xfrm>
            <a:off x="594360" y="3291840"/>
            <a:ext cx="1645920" cy="914400"/>
          </a:xfrm>
          <a:prstGeom prst="roundRect">
            <a:avLst>
              <a:gd name="adj" fmla="val 10000"/>
            </a:avLst>
          </a:prstGeom>
          <a:solidFill>
            <a:srgbClr val="F5F3FF"/>
          </a:solidFill>
          <a:ln w="12700">
            <a:solidFill>
              <a:srgbClr val="A78BFA"/>
            </a:solidFill>
            <a:prstDash val="solid"/>
          </a:ln>
        </p:spPr>
        <p:txBody>
          <a:bodyPr/>
          <a:lstStyle/>
          <a:p>
            <a:endParaRPr lang="ko-KR" altLang="en-US"/>
          </a:p>
        </p:txBody>
      </p:sp>
      <p:sp>
        <p:nvSpPr>
          <p:cNvPr id="15" name="Text 13"/>
          <p:cNvSpPr/>
          <p:nvPr/>
        </p:nvSpPr>
        <p:spPr>
          <a:xfrm>
            <a:off x="685800" y="3636783"/>
            <a:ext cx="1463040" cy="219456"/>
          </a:xfrm>
          <a:prstGeom prst="rect">
            <a:avLst/>
          </a:prstGeom>
          <a:noFill/>
          <a:ln/>
        </p:spPr>
        <p:txBody>
          <a:bodyPr wrap="square" rtlCol="0" anchor="ctr"/>
          <a:lstStyle/>
          <a:p>
            <a:pPr marL="0" indent="0" algn="ctr">
              <a:buNone/>
            </a:pPr>
            <a:r>
              <a:rPr lang="en-US" sz="1400" b="1" dirty="0">
                <a:solidFill>
                  <a:srgbClr val="8B5CF6"/>
                </a:solidFill>
                <a:latin typeface="맑은 고딕" pitchFamily="34" charset="0"/>
                <a:ea typeface="맑은 고딕" pitchFamily="34" charset="-122"/>
                <a:cs typeface="맑은 고딕" pitchFamily="34" charset="-120"/>
              </a:rPr>
              <a:t>정답: </a:t>
            </a:r>
          </a:p>
          <a:p>
            <a:pPr algn="ctr"/>
            <a:r>
              <a:rPr lang="en-US" altLang="ko-KR" sz="1400" dirty="0">
                <a:solidFill>
                  <a:srgbClr val="3B0764"/>
                </a:solidFill>
                <a:latin typeface="맑은 고딕" pitchFamily="34" charset="0"/>
                <a:ea typeface="맑은 고딕" pitchFamily="34" charset="-122"/>
                <a:cs typeface="맑은 고딕" pitchFamily="34" charset="-120"/>
              </a:rPr>
              <a:t>(</a:t>
            </a:r>
            <a:r>
              <a:rPr lang="en-US" altLang="ko-KR" sz="1400" dirty="0" err="1">
                <a:solidFill>
                  <a:srgbClr val="3B0764"/>
                </a:solidFill>
                <a:latin typeface="맑은 고딕" pitchFamily="34" charset="0"/>
                <a:ea typeface="맑은 고딕" pitchFamily="34" charset="-122"/>
                <a:cs typeface="맑은 고딕" pitchFamily="34" charset="-120"/>
              </a:rPr>
              <a:t>호버링</a:t>
            </a:r>
            <a:r>
              <a:rPr lang="en-US" altLang="ko-KR" sz="1400" dirty="0">
                <a:solidFill>
                  <a:srgbClr val="3B0764"/>
                </a:solidFill>
                <a:latin typeface="맑은 고딕" pitchFamily="34" charset="0"/>
                <a:ea typeface="맑은 고딕" pitchFamily="34" charset="-122"/>
                <a:cs typeface="맑은 고딕" pitchFamily="34" charset="-120"/>
              </a:rPr>
              <a:t>)</a:t>
            </a:r>
            <a:endParaRPr lang="en-US" sz="1400" dirty="0"/>
          </a:p>
        </p:txBody>
      </p:sp>
      <p:sp>
        <p:nvSpPr>
          <p:cNvPr id="16" name="Text 14"/>
          <p:cNvSpPr/>
          <p:nvPr/>
        </p:nvSpPr>
        <p:spPr>
          <a:xfrm>
            <a:off x="685800" y="3657600"/>
            <a:ext cx="1463040" cy="438912"/>
          </a:xfrm>
          <a:prstGeom prst="rect">
            <a:avLst/>
          </a:prstGeom>
          <a:noFill/>
          <a:ln/>
        </p:spPr>
        <p:txBody>
          <a:bodyPr wrap="square" rtlCol="0" anchor="ctr"/>
          <a:lstStyle/>
          <a:p>
            <a:pPr marL="0" indent="0" algn="ctr">
              <a:lnSpc>
                <a:spcPct val="120000"/>
              </a:lnSpc>
              <a:buNone/>
            </a:pPr>
            <a:endParaRPr lang="en-US" sz="1100" dirty="0"/>
          </a:p>
        </p:txBody>
      </p:sp>
      <p:sp>
        <p:nvSpPr>
          <p:cNvPr id="17" name="Shape 15"/>
          <p:cNvSpPr/>
          <p:nvPr/>
        </p:nvSpPr>
        <p:spPr>
          <a:xfrm>
            <a:off x="2587752" y="1033272"/>
            <a:ext cx="1920240" cy="3474720"/>
          </a:xfrm>
          <a:prstGeom prst="roundRect">
            <a:avLst>
              <a:gd name="adj" fmla="val 5714"/>
            </a:avLst>
          </a:prstGeom>
          <a:solidFill>
            <a:srgbClr val="E2E8F0">
              <a:alpha val="50000"/>
            </a:srgbClr>
          </a:solidFill>
          <a:ln w="12700">
            <a:solidFill>
              <a:srgbClr val="E2E8F0"/>
            </a:solidFill>
            <a:prstDash val="solid"/>
          </a:ln>
        </p:spPr>
        <p:txBody>
          <a:bodyPr/>
          <a:lstStyle/>
          <a:p>
            <a:endParaRPr lang="ko-KR" altLang="en-US"/>
          </a:p>
        </p:txBody>
      </p:sp>
      <p:sp>
        <p:nvSpPr>
          <p:cNvPr id="18" name="Shape 16"/>
          <p:cNvSpPr/>
          <p:nvPr/>
        </p:nvSpPr>
        <p:spPr>
          <a:xfrm>
            <a:off x="2560320" y="1005840"/>
            <a:ext cx="1920240" cy="3474720"/>
          </a:xfrm>
          <a:prstGeom prst="roundRect">
            <a:avLst>
              <a:gd name="adj" fmla="val 5714"/>
            </a:avLst>
          </a:prstGeom>
          <a:solidFill>
            <a:srgbClr val="FFFFFF"/>
          </a:solidFill>
          <a:ln w="12700">
            <a:solidFill>
              <a:srgbClr val="E2E8F0"/>
            </a:solidFill>
            <a:prstDash val="solid"/>
          </a:ln>
        </p:spPr>
        <p:txBody>
          <a:bodyPr/>
          <a:lstStyle/>
          <a:p>
            <a:endParaRPr lang="ko-KR" altLang="en-US"/>
          </a:p>
        </p:txBody>
      </p:sp>
      <p:sp>
        <p:nvSpPr>
          <p:cNvPr id="19" name="Shape 17"/>
          <p:cNvSpPr/>
          <p:nvPr/>
        </p:nvSpPr>
        <p:spPr>
          <a:xfrm>
            <a:off x="3131820" y="1234440"/>
            <a:ext cx="777240" cy="457200"/>
          </a:xfrm>
          <a:prstGeom prst="ellipse">
            <a:avLst/>
          </a:prstGeom>
          <a:solidFill>
            <a:srgbClr val="8B5CF6"/>
          </a:solidFill>
          <a:ln w="12700">
            <a:solidFill>
              <a:srgbClr val="8B5CF6"/>
            </a:solidFill>
            <a:prstDash val="solid"/>
          </a:ln>
        </p:spPr>
        <p:txBody>
          <a:bodyPr/>
          <a:lstStyle/>
          <a:p>
            <a:endParaRPr lang="ko-KR" altLang="en-US"/>
          </a:p>
        </p:txBody>
      </p:sp>
      <p:sp>
        <p:nvSpPr>
          <p:cNvPr id="20" name="Text 18"/>
          <p:cNvSpPr/>
          <p:nvPr/>
        </p:nvSpPr>
        <p:spPr>
          <a:xfrm>
            <a:off x="313182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Q2</a:t>
            </a:r>
            <a:endParaRPr lang="en-US" sz="1300" dirty="0"/>
          </a:p>
        </p:txBody>
      </p:sp>
      <p:sp>
        <p:nvSpPr>
          <p:cNvPr id="21" name="Text 19"/>
          <p:cNvSpPr/>
          <p:nvPr/>
        </p:nvSpPr>
        <p:spPr>
          <a:xfrm>
            <a:off x="2724912" y="1874520"/>
            <a:ext cx="1591056" cy="1234440"/>
          </a:xfrm>
          <a:prstGeom prst="rect">
            <a:avLst/>
          </a:prstGeom>
          <a:noFill/>
          <a:ln/>
        </p:spPr>
        <p:txBody>
          <a:bodyPr wrap="square" rtlCol="0" anchor="ctr"/>
          <a:lstStyle/>
          <a:p>
            <a:pPr marL="0" indent="0" algn="ctr">
              <a:lnSpc>
                <a:spcPct val="130000"/>
              </a:lnSpc>
              <a:buNone/>
            </a:pPr>
            <a:r>
              <a:rPr lang="en-US" sz="1400" dirty="0">
                <a:solidFill>
                  <a:srgbClr val="3B0764"/>
                </a:solidFill>
                <a:latin typeface="맑은 고딕" pitchFamily="34" charset="0"/>
                <a:ea typeface="맑은 고딕" pitchFamily="34" charset="-122"/>
                <a:cs typeface="맑은 고딕" pitchFamily="34" charset="-120"/>
              </a:rPr>
              <a:t>Q2. 드론을 위아래로 움직이는 조종은? </a:t>
            </a:r>
            <a:endParaRPr lang="en-US" sz="1400" dirty="0"/>
          </a:p>
        </p:txBody>
      </p:sp>
      <p:sp>
        <p:nvSpPr>
          <p:cNvPr id="22" name="Shape 20"/>
          <p:cNvSpPr/>
          <p:nvPr/>
        </p:nvSpPr>
        <p:spPr>
          <a:xfrm>
            <a:off x="2697480" y="3291840"/>
            <a:ext cx="1645920" cy="914400"/>
          </a:xfrm>
          <a:prstGeom prst="roundRect">
            <a:avLst>
              <a:gd name="adj" fmla="val 10000"/>
            </a:avLst>
          </a:prstGeom>
          <a:solidFill>
            <a:srgbClr val="F5F3FF"/>
          </a:solidFill>
          <a:ln w="12700">
            <a:solidFill>
              <a:srgbClr val="A78BFA"/>
            </a:solidFill>
            <a:prstDash val="solid"/>
          </a:ln>
        </p:spPr>
        <p:txBody>
          <a:bodyPr/>
          <a:lstStyle/>
          <a:p>
            <a:endParaRPr lang="ko-KR" altLang="en-US"/>
          </a:p>
        </p:txBody>
      </p:sp>
      <p:sp>
        <p:nvSpPr>
          <p:cNvPr id="23" name="Text 21"/>
          <p:cNvSpPr/>
          <p:nvPr/>
        </p:nvSpPr>
        <p:spPr>
          <a:xfrm>
            <a:off x="2788920" y="3621024"/>
            <a:ext cx="1463040" cy="219456"/>
          </a:xfrm>
          <a:prstGeom prst="rect">
            <a:avLst/>
          </a:prstGeom>
          <a:noFill/>
          <a:ln/>
        </p:spPr>
        <p:txBody>
          <a:bodyPr wrap="square" rtlCol="0" anchor="ctr"/>
          <a:lstStyle/>
          <a:p>
            <a:pPr marL="0" indent="0" algn="ctr">
              <a:buNone/>
            </a:pPr>
            <a:r>
              <a:rPr lang="en-US" sz="1400" b="1" dirty="0" err="1">
                <a:solidFill>
                  <a:srgbClr val="8B5CF6"/>
                </a:solidFill>
                <a:latin typeface="맑은 고딕" pitchFamily="34" charset="0"/>
                <a:ea typeface="맑은 고딕" pitchFamily="34" charset="-122"/>
                <a:cs typeface="맑은 고딕" pitchFamily="34" charset="-120"/>
              </a:rPr>
              <a:t>정답</a:t>
            </a:r>
            <a:r>
              <a:rPr lang="en-US" sz="1400" b="1" dirty="0">
                <a:solidFill>
                  <a:srgbClr val="8B5CF6"/>
                </a:solidFill>
                <a:latin typeface="맑은 고딕" pitchFamily="34" charset="0"/>
                <a:ea typeface="맑은 고딕" pitchFamily="34" charset="-122"/>
                <a:cs typeface="맑은 고딕" pitchFamily="34" charset="-120"/>
              </a:rPr>
              <a:t>:</a:t>
            </a:r>
          </a:p>
          <a:p>
            <a:pPr algn="ctr"/>
            <a:r>
              <a:rPr lang="en-US" altLang="ko-KR" sz="1400" dirty="0">
                <a:solidFill>
                  <a:srgbClr val="3B0764"/>
                </a:solidFill>
                <a:latin typeface="맑은 고딕" pitchFamily="34" charset="0"/>
                <a:ea typeface="맑은 고딕" pitchFamily="34" charset="-122"/>
                <a:cs typeface="맑은 고딕" pitchFamily="34" charset="-120"/>
              </a:rPr>
              <a:t>(</a:t>
            </a:r>
            <a:r>
              <a:rPr lang="en-US" altLang="ko-KR" sz="1400" dirty="0" err="1">
                <a:solidFill>
                  <a:srgbClr val="3B0764"/>
                </a:solidFill>
                <a:latin typeface="맑은 고딕" pitchFamily="34" charset="0"/>
                <a:ea typeface="맑은 고딕" pitchFamily="34" charset="-122"/>
                <a:cs typeface="맑은 고딕" pitchFamily="34" charset="-120"/>
              </a:rPr>
              <a:t>스로틀</a:t>
            </a:r>
            <a:r>
              <a:rPr lang="en-US" altLang="ko-KR" sz="1400" dirty="0">
                <a:solidFill>
                  <a:srgbClr val="3B0764"/>
                </a:solidFill>
                <a:latin typeface="맑은 고딕" pitchFamily="34" charset="0"/>
                <a:ea typeface="맑은 고딕" pitchFamily="34" charset="-122"/>
                <a:cs typeface="맑은 고딕" pitchFamily="34" charset="-120"/>
              </a:rPr>
              <a:t>)</a:t>
            </a:r>
            <a:r>
              <a:rPr lang="en-US" sz="1400" b="1" dirty="0">
                <a:solidFill>
                  <a:srgbClr val="8B5CF6"/>
                </a:solidFill>
                <a:latin typeface="맑은 고딕" pitchFamily="34" charset="0"/>
                <a:ea typeface="맑은 고딕" pitchFamily="34" charset="-122"/>
                <a:cs typeface="맑은 고딕" pitchFamily="34" charset="-120"/>
              </a:rPr>
              <a:t> </a:t>
            </a:r>
            <a:endParaRPr lang="en-US" sz="1400" dirty="0"/>
          </a:p>
        </p:txBody>
      </p:sp>
      <p:sp>
        <p:nvSpPr>
          <p:cNvPr id="24" name="Text 22"/>
          <p:cNvSpPr/>
          <p:nvPr/>
        </p:nvSpPr>
        <p:spPr>
          <a:xfrm>
            <a:off x="2788920" y="3657600"/>
            <a:ext cx="1463040" cy="438912"/>
          </a:xfrm>
          <a:prstGeom prst="rect">
            <a:avLst/>
          </a:prstGeom>
          <a:noFill/>
          <a:ln/>
        </p:spPr>
        <p:txBody>
          <a:bodyPr wrap="square" rtlCol="0" anchor="ctr"/>
          <a:lstStyle/>
          <a:p>
            <a:pPr marL="0" indent="0" algn="ctr">
              <a:lnSpc>
                <a:spcPct val="120000"/>
              </a:lnSpc>
              <a:buNone/>
            </a:pPr>
            <a:endParaRPr lang="en-US" sz="1100" dirty="0"/>
          </a:p>
        </p:txBody>
      </p:sp>
      <p:sp>
        <p:nvSpPr>
          <p:cNvPr id="25" name="Shape 23"/>
          <p:cNvSpPr/>
          <p:nvPr/>
        </p:nvSpPr>
        <p:spPr>
          <a:xfrm>
            <a:off x="4690872" y="1033272"/>
            <a:ext cx="1920240" cy="3474720"/>
          </a:xfrm>
          <a:prstGeom prst="roundRect">
            <a:avLst>
              <a:gd name="adj" fmla="val 5714"/>
            </a:avLst>
          </a:prstGeom>
          <a:solidFill>
            <a:srgbClr val="E2E8F0">
              <a:alpha val="50000"/>
            </a:srgbClr>
          </a:solidFill>
          <a:ln w="12700">
            <a:solidFill>
              <a:srgbClr val="E2E8F0"/>
            </a:solidFill>
            <a:prstDash val="solid"/>
          </a:ln>
        </p:spPr>
        <p:txBody>
          <a:bodyPr/>
          <a:lstStyle/>
          <a:p>
            <a:endParaRPr lang="ko-KR" altLang="en-US"/>
          </a:p>
        </p:txBody>
      </p:sp>
      <p:sp>
        <p:nvSpPr>
          <p:cNvPr id="26" name="Shape 24"/>
          <p:cNvSpPr/>
          <p:nvPr/>
        </p:nvSpPr>
        <p:spPr>
          <a:xfrm>
            <a:off x="4663440" y="1005840"/>
            <a:ext cx="1920240" cy="3474720"/>
          </a:xfrm>
          <a:prstGeom prst="roundRect">
            <a:avLst>
              <a:gd name="adj" fmla="val 5714"/>
            </a:avLst>
          </a:prstGeom>
          <a:solidFill>
            <a:srgbClr val="FFFFFF"/>
          </a:solidFill>
          <a:ln w="12700">
            <a:solidFill>
              <a:srgbClr val="E2E8F0"/>
            </a:solidFill>
            <a:prstDash val="solid"/>
          </a:ln>
        </p:spPr>
        <p:txBody>
          <a:bodyPr/>
          <a:lstStyle/>
          <a:p>
            <a:endParaRPr lang="ko-KR" altLang="en-US"/>
          </a:p>
        </p:txBody>
      </p:sp>
      <p:sp>
        <p:nvSpPr>
          <p:cNvPr id="27" name="Shape 25"/>
          <p:cNvSpPr/>
          <p:nvPr/>
        </p:nvSpPr>
        <p:spPr>
          <a:xfrm>
            <a:off x="5234940" y="1234440"/>
            <a:ext cx="777240" cy="457200"/>
          </a:xfrm>
          <a:prstGeom prst="ellipse">
            <a:avLst/>
          </a:prstGeom>
          <a:solidFill>
            <a:srgbClr val="8B5CF6"/>
          </a:solidFill>
          <a:ln w="12700">
            <a:solidFill>
              <a:srgbClr val="8B5CF6"/>
            </a:solidFill>
            <a:prstDash val="solid"/>
          </a:ln>
        </p:spPr>
        <p:txBody>
          <a:bodyPr/>
          <a:lstStyle/>
          <a:p>
            <a:endParaRPr lang="ko-KR" altLang="en-US"/>
          </a:p>
        </p:txBody>
      </p:sp>
      <p:sp>
        <p:nvSpPr>
          <p:cNvPr id="28" name="Text 26"/>
          <p:cNvSpPr/>
          <p:nvPr/>
        </p:nvSpPr>
        <p:spPr>
          <a:xfrm>
            <a:off x="523494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Q3</a:t>
            </a:r>
            <a:endParaRPr lang="en-US" sz="1300" dirty="0"/>
          </a:p>
        </p:txBody>
      </p:sp>
      <p:sp>
        <p:nvSpPr>
          <p:cNvPr id="29" name="Text 27"/>
          <p:cNvSpPr/>
          <p:nvPr/>
        </p:nvSpPr>
        <p:spPr>
          <a:xfrm>
            <a:off x="4828032" y="1874520"/>
            <a:ext cx="1591056" cy="1234440"/>
          </a:xfrm>
          <a:prstGeom prst="rect">
            <a:avLst/>
          </a:prstGeom>
          <a:noFill/>
          <a:ln/>
        </p:spPr>
        <p:txBody>
          <a:bodyPr wrap="square" rtlCol="0" anchor="ctr"/>
          <a:lstStyle/>
          <a:p>
            <a:pPr marL="0" indent="0" algn="ctr">
              <a:lnSpc>
                <a:spcPct val="130000"/>
              </a:lnSpc>
              <a:buNone/>
            </a:pPr>
            <a:r>
              <a:rPr lang="en-US" sz="1400" dirty="0">
                <a:solidFill>
                  <a:srgbClr val="3B0764"/>
                </a:solidFill>
                <a:latin typeface="맑은 고딕" pitchFamily="34" charset="0"/>
                <a:ea typeface="맑은 고딕" pitchFamily="34" charset="-122"/>
                <a:cs typeface="맑은 고딕" pitchFamily="34" charset="-120"/>
              </a:rPr>
              <a:t>Q3. 드론이 좌우로 기울어지는 움직임은? </a:t>
            </a:r>
            <a:endParaRPr lang="en-US" sz="1400" dirty="0"/>
          </a:p>
        </p:txBody>
      </p:sp>
      <p:sp>
        <p:nvSpPr>
          <p:cNvPr id="30" name="Shape 28"/>
          <p:cNvSpPr/>
          <p:nvPr/>
        </p:nvSpPr>
        <p:spPr>
          <a:xfrm>
            <a:off x="4800600" y="3291840"/>
            <a:ext cx="1645920" cy="914400"/>
          </a:xfrm>
          <a:prstGeom prst="roundRect">
            <a:avLst>
              <a:gd name="adj" fmla="val 10000"/>
            </a:avLst>
          </a:prstGeom>
          <a:solidFill>
            <a:srgbClr val="F5F3FF"/>
          </a:solidFill>
          <a:ln w="12700">
            <a:solidFill>
              <a:srgbClr val="A78BFA"/>
            </a:solidFill>
            <a:prstDash val="solid"/>
          </a:ln>
        </p:spPr>
        <p:txBody>
          <a:bodyPr/>
          <a:lstStyle/>
          <a:p>
            <a:endParaRPr lang="ko-KR" altLang="en-US"/>
          </a:p>
        </p:txBody>
      </p:sp>
      <p:sp>
        <p:nvSpPr>
          <p:cNvPr id="31" name="Text 29"/>
          <p:cNvSpPr/>
          <p:nvPr/>
        </p:nvSpPr>
        <p:spPr>
          <a:xfrm>
            <a:off x="4892040" y="3639507"/>
            <a:ext cx="1463040" cy="219456"/>
          </a:xfrm>
          <a:prstGeom prst="rect">
            <a:avLst/>
          </a:prstGeom>
          <a:noFill/>
          <a:ln/>
        </p:spPr>
        <p:txBody>
          <a:bodyPr wrap="square" rtlCol="0" anchor="ctr"/>
          <a:lstStyle/>
          <a:p>
            <a:pPr marL="0" indent="0" algn="ctr">
              <a:buNone/>
            </a:pPr>
            <a:r>
              <a:rPr lang="en-US" sz="1400" b="1" dirty="0" err="1">
                <a:solidFill>
                  <a:srgbClr val="8B5CF6"/>
                </a:solidFill>
                <a:latin typeface="맑은 고딕" pitchFamily="34" charset="0"/>
                <a:ea typeface="맑은 고딕" pitchFamily="34" charset="-122"/>
                <a:cs typeface="맑은 고딕" pitchFamily="34" charset="-120"/>
              </a:rPr>
              <a:t>정답</a:t>
            </a:r>
            <a:r>
              <a:rPr lang="en-US" sz="1400" b="1" dirty="0">
                <a:solidFill>
                  <a:srgbClr val="8B5CF6"/>
                </a:solidFill>
                <a:latin typeface="맑은 고딕" pitchFamily="34" charset="0"/>
                <a:ea typeface="맑은 고딕" pitchFamily="34" charset="-122"/>
                <a:cs typeface="맑은 고딕" pitchFamily="34" charset="-120"/>
              </a:rPr>
              <a:t>:</a:t>
            </a:r>
          </a:p>
          <a:p>
            <a:pPr algn="ctr"/>
            <a:r>
              <a:rPr lang="en-US" altLang="ko-KR" sz="1400" dirty="0">
                <a:solidFill>
                  <a:srgbClr val="3B0764"/>
                </a:solidFill>
                <a:latin typeface="맑은 고딕" pitchFamily="34" charset="0"/>
                <a:ea typeface="맑은 고딕" pitchFamily="34" charset="-122"/>
                <a:cs typeface="맑은 고딕" pitchFamily="34" charset="-120"/>
              </a:rPr>
              <a:t>(롤)</a:t>
            </a:r>
            <a:r>
              <a:rPr lang="en-US" sz="1400" b="1" dirty="0">
                <a:solidFill>
                  <a:srgbClr val="8B5CF6"/>
                </a:solidFill>
                <a:latin typeface="맑은 고딕" pitchFamily="34" charset="0"/>
                <a:ea typeface="맑은 고딕" pitchFamily="34" charset="-122"/>
                <a:cs typeface="맑은 고딕" pitchFamily="34" charset="-120"/>
              </a:rPr>
              <a:t> </a:t>
            </a:r>
            <a:endParaRPr lang="en-US" sz="1400" dirty="0"/>
          </a:p>
        </p:txBody>
      </p:sp>
      <p:sp>
        <p:nvSpPr>
          <p:cNvPr id="32" name="Text 30"/>
          <p:cNvSpPr/>
          <p:nvPr/>
        </p:nvSpPr>
        <p:spPr>
          <a:xfrm>
            <a:off x="4892040" y="3657600"/>
            <a:ext cx="1463040" cy="438912"/>
          </a:xfrm>
          <a:prstGeom prst="rect">
            <a:avLst/>
          </a:prstGeom>
          <a:noFill/>
          <a:ln/>
        </p:spPr>
        <p:txBody>
          <a:bodyPr wrap="square" rtlCol="0" anchor="ctr"/>
          <a:lstStyle/>
          <a:p>
            <a:pPr marL="0" indent="0" algn="ctr">
              <a:lnSpc>
                <a:spcPct val="120000"/>
              </a:lnSpc>
              <a:buNone/>
            </a:pPr>
            <a:endParaRPr lang="en-US" sz="1100" dirty="0"/>
          </a:p>
        </p:txBody>
      </p:sp>
      <p:sp>
        <p:nvSpPr>
          <p:cNvPr id="33" name="Shape 31"/>
          <p:cNvSpPr/>
          <p:nvPr/>
        </p:nvSpPr>
        <p:spPr>
          <a:xfrm>
            <a:off x="6793992" y="1033272"/>
            <a:ext cx="1920240" cy="3474720"/>
          </a:xfrm>
          <a:prstGeom prst="roundRect">
            <a:avLst>
              <a:gd name="adj" fmla="val 5714"/>
            </a:avLst>
          </a:prstGeom>
          <a:solidFill>
            <a:srgbClr val="E2E8F0">
              <a:alpha val="50000"/>
            </a:srgbClr>
          </a:solidFill>
          <a:ln w="12700">
            <a:solidFill>
              <a:srgbClr val="E2E8F0"/>
            </a:solidFill>
            <a:prstDash val="solid"/>
          </a:ln>
        </p:spPr>
        <p:txBody>
          <a:bodyPr/>
          <a:lstStyle/>
          <a:p>
            <a:endParaRPr lang="ko-KR" altLang="en-US"/>
          </a:p>
        </p:txBody>
      </p:sp>
      <p:sp>
        <p:nvSpPr>
          <p:cNvPr id="34" name="Shape 32"/>
          <p:cNvSpPr/>
          <p:nvPr/>
        </p:nvSpPr>
        <p:spPr>
          <a:xfrm>
            <a:off x="6766560" y="1005840"/>
            <a:ext cx="1920240" cy="3474720"/>
          </a:xfrm>
          <a:prstGeom prst="roundRect">
            <a:avLst>
              <a:gd name="adj" fmla="val 5714"/>
            </a:avLst>
          </a:prstGeom>
          <a:solidFill>
            <a:srgbClr val="FFFFFF"/>
          </a:solidFill>
          <a:ln w="12700">
            <a:solidFill>
              <a:srgbClr val="E2E8F0"/>
            </a:solidFill>
            <a:prstDash val="solid"/>
          </a:ln>
        </p:spPr>
        <p:txBody>
          <a:bodyPr/>
          <a:lstStyle/>
          <a:p>
            <a:endParaRPr lang="ko-KR" altLang="en-US"/>
          </a:p>
        </p:txBody>
      </p:sp>
      <p:sp>
        <p:nvSpPr>
          <p:cNvPr id="35" name="Shape 33"/>
          <p:cNvSpPr/>
          <p:nvPr/>
        </p:nvSpPr>
        <p:spPr>
          <a:xfrm>
            <a:off x="7338060" y="1234440"/>
            <a:ext cx="777240" cy="457200"/>
          </a:xfrm>
          <a:prstGeom prst="ellipse">
            <a:avLst/>
          </a:prstGeom>
          <a:solidFill>
            <a:srgbClr val="8B5CF6"/>
          </a:solidFill>
          <a:ln w="12700">
            <a:solidFill>
              <a:srgbClr val="8B5CF6"/>
            </a:solidFill>
            <a:prstDash val="solid"/>
          </a:ln>
        </p:spPr>
        <p:txBody>
          <a:bodyPr/>
          <a:lstStyle/>
          <a:p>
            <a:endParaRPr lang="ko-KR" altLang="en-US"/>
          </a:p>
        </p:txBody>
      </p:sp>
      <p:sp>
        <p:nvSpPr>
          <p:cNvPr id="36" name="Text 34"/>
          <p:cNvSpPr/>
          <p:nvPr/>
        </p:nvSpPr>
        <p:spPr>
          <a:xfrm>
            <a:off x="733806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Q4</a:t>
            </a:r>
            <a:endParaRPr lang="en-US" sz="1300" dirty="0"/>
          </a:p>
        </p:txBody>
      </p:sp>
      <p:sp>
        <p:nvSpPr>
          <p:cNvPr id="37" name="Text 35"/>
          <p:cNvSpPr/>
          <p:nvPr/>
        </p:nvSpPr>
        <p:spPr>
          <a:xfrm>
            <a:off x="6931152" y="1874520"/>
            <a:ext cx="1591056" cy="1234440"/>
          </a:xfrm>
          <a:prstGeom prst="rect">
            <a:avLst/>
          </a:prstGeom>
          <a:noFill/>
          <a:ln/>
        </p:spPr>
        <p:txBody>
          <a:bodyPr wrap="square" rtlCol="0" anchor="ctr"/>
          <a:lstStyle/>
          <a:p>
            <a:pPr marL="0" indent="0" algn="ctr">
              <a:lnSpc>
                <a:spcPct val="130000"/>
              </a:lnSpc>
              <a:buNone/>
            </a:pPr>
            <a:r>
              <a:rPr lang="en-US" sz="1400" dirty="0">
                <a:solidFill>
                  <a:srgbClr val="3B0764"/>
                </a:solidFill>
                <a:latin typeface="맑은 고딕" pitchFamily="34" charset="0"/>
                <a:ea typeface="맑은 고딕" pitchFamily="34" charset="-122"/>
                <a:cs typeface="맑은 고딕" pitchFamily="34" charset="-120"/>
              </a:rPr>
              <a:t>Q4. 드론이 제자리에서 방향을 바꾸는 움직임은? (요)</a:t>
            </a:r>
            <a:endParaRPr lang="en-US" sz="1400" dirty="0"/>
          </a:p>
        </p:txBody>
      </p:sp>
      <p:sp>
        <p:nvSpPr>
          <p:cNvPr id="38" name="Shape 36"/>
          <p:cNvSpPr/>
          <p:nvPr/>
        </p:nvSpPr>
        <p:spPr>
          <a:xfrm>
            <a:off x="6903720" y="3291840"/>
            <a:ext cx="1645920" cy="914400"/>
          </a:xfrm>
          <a:prstGeom prst="roundRect">
            <a:avLst>
              <a:gd name="adj" fmla="val 10000"/>
            </a:avLst>
          </a:prstGeom>
          <a:solidFill>
            <a:srgbClr val="F5F3FF"/>
          </a:solidFill>
          <a:ln w="12700">
            <a:solidFill>
              <a:srgbClr val="A78BFA"/>
            </a:solidFill>
            <a:prstDash val="solid"/>
          </a:ln>
        </p:spPr>
        <p:txBody>
          <a:bodyPr/>
          <a:lstStyle/>
          <a:p>
            <a:endParaRPr lang="ko-KR" altLang="en-US"/>
          </a:p>
        </p:txBody>
      </p:sp>
      <p:sp>
        <p:nvSpPr>
          <p:cNvPr id="39" name="Text 37"/>
          <p:cNvSpPr/>
          <p:nvPr/>
        </p:nvSpPr>
        <p:spPr>
          <a:xfrm>
            <a:off x="6995160" y="3664215"/>
            <a:ext cx="1463040" cy="219456"/>
          </a:xfrm>
          <a:prstGeom prst="rect">
            <a:avLst/>
          </a:prstGeom>
          <a:noFill/>
          <a:ln/>
        </p:spPr>
        <p:txBody>
          <a:bodyPr wrap="square" rtlCol="0" anchor="ctr"/>
          <a:lstStyle/>
          <a:p>
            <a:pPr marL="0" indent="0" algn="ctr">
              <a:buNone/>
            </a:pPr>
            <a:r>
              <a:rPr lang="en-US" sz="1400" b="1" dirty="0" err="1">
                <a:solidFill>
                  <a:srgbClr val="8B5CF6"/>
                </a:solidFill>
                <a:latin typeface="맑은 고딕" pitchFamily="34" charset="0"/>
                <a:ea typeface="맑은 고딕" pitchFamily="34" charset="-122"/>
                <a:cs typeface="맑은 고딕" pitchFamily="34" charset="-120"/>
              </a:rPr>
              <a:t>정답</a:t>
            </a:r>
            <a:r>
              <a:rPr lang="en-US" sz="1400" b="1" dirty="0">
                <a:solidFill>
                  <a:srgbClr val="8B5CF6"/>
                </a:solidFill>
                <a:latin typeface="맑은 고딕" pitchFamily="34" charset="0"/>
                <a:ea typeface="맑은 고딕" pitchFamily="34" charset="-122"/>
                <a:cs typeface="맑은 고딕" pitchFamily="34" charset="-120"/>
              </a:rPr>
              <a:t>:</a:t>
            </a:r>
          </a:p>
          <a:p>
            <a:pPr algn="ctr"/>
            <a:r>
              <a:rPr lang="en-US" altLang="ko-KR" sz="1400" dirty="0">
                <a:solidFill>
                  <a:srgbClr val="3B0764"/>
                </a:solidFill>
                <a:latin typeface="맑은 고딕" pitchFamily="34" charset="0"/>
                <a:ea typeface="맑은 고딕" pitchFamily="34" charset="-122"/>
                <a:cs typeface="맑은 고딕" pitchFamily="34" charset="-120"/>
              </a:rPr>
              <a:t>(요)</a:t>
            </a:r>
            <a:r>
              <a:rPr lang="en-US" sz="1400" b="1" dirty="0">
                <a:solidFill>
                  <a:srgbClr val="8B5CF6"/>
                </a:solidFill>
                <a:latin typeface="맑은 고딕" pitchFamily="34" charset="0"/>
                <a:ea typeface="맑은 고딕" pitchFamily="34" charset="-122"/>
                <a:cs typeface="맑은 고딕" pitchFamily="34" charset="-120"/>
              </a:rPr>
              <a:t> </a:t>
            </a:r>
            <a:endParaRPr lang="en-US" sz="1400" dirty="0"/>
          </a:p>
        </p:txBody>
      </p:sp>
      <p:sp>
        <p:nvSpPr>
          <p:cNvPr id="40" name="Text 38"/>
          <p:cNvSpPr/>
          <p:nvPr/>
        </p:nvSpPr>
        <p:spPr>
          <a:xfrm>
            <a:off x="6995160" y="3657600"/>
            <a:ext cx="1463040" cy="438912"/>
          </a:xfrm>
          <a:prstGeom prst="rect">
            <a:avLst/>
          </a:prstGeom>
          <a:noFill/>
          <a:ln/>
        </p:spPr>
        <p:txBody>
          <a:bodyPr wrap="square" rtlCol="0" anchor="ctr"/>
          <a:lstStyle/>
          <a:p>
            <a:pPr marL="0" indent="0" algn="ctr">
              <a:lnSpc>
                <a:spcPct val="120000"/>
              </a:lnSpc>
              <a:buNone/>
            </a:pPr>
            <a:endParaRPr lang="en-US" sz="1100" dirty="0"/>
          </a:p>
        </p:txBody>
      </p:sp>
      <p:sp>
        <p:nvSpPr>
          <p:cNvPr id="42" name="Text 39"/>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43" name="Text 40"/>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B71E5-BF33-1525-CEEF-A999FB1A0B8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C476CB0-DCC1-0C1B-5A74-AEC73AFF1DA7}"/>
              </a:ext>
            </a:extLst>
          </p:cNvPr>
          <p:cNvSpPr/>
          <p:nvPr/>
        </p:nvSpPr>
        <p:spPr>
          <a:xfrm>
            <a:off x="0" y="0"/>
            <a:ext cx="9144000" cy="658368"/>
          </a:xfrm>
          <a:prstGeom prst="rect">
            <a:avLst/>
          </a:prstGeom>
          <a:solidFill>
            <a:srgbClr val="6D28D9"/>
          </a:solidFill>
          <a:ln w="12700">
            <a:solidFill>
              <a:srgbClr val="6D28D9"/>
            </a:solidFill>
            <a:prstDash val="solid"/>
          </a:ln>
        </p:spPr>
        <p:txBody>
          <a:bodyPr/>
          <a:lstStyle/>
          <a:p>
            <a:endParaRPr lang="ko-KR" altLang="en-US"/>
          </a:p>
        </p:txBody>
      </p:sp>
      <p:sp>
        <p:nvSpPr>
          <p:cNvPr id="3" name="Shape 1">
            <a:extLst>
              <a:ext uri="{FF2B5EF4-FFF2-40B4-BE49-F238E27FC236}">
                <a16:creationId xmlns:a16="http://schemas.microsoft.com/office/drawing/2014/main" id="{AB4A0610-20D3-E7AE-9BCE-DA68CB222F03}"/>
              </a:ext>
            </a:extLst>
          </p:cNvPr>
          <p:cNvSpPr/>
          <p:nvPr/>
        </p:nvSpPr>
        <p:spPr>
          <a:xfrm>
            <a:off x="0" y="0"/>
            <a:ext cx="5486400" cy="658368"/>
          </a:xfrm>
          <a:prstGeom prst="rect">
            <a:avLst/>
          </a:prstGeom>
          <a:solidFill>
            <a:srgbClr val="8B5CF6"/>
          </a:solidFill>
          <a:ln w="12700">
            <a:solidFill>
              <a:srgbClr val="8B5CF6"/>
            </a:solidFill>
            <a:prstDash val="solid"/>
          </a:ln>
        </p:spPr>
        <p:txBody>
          <a:bodyPr/>
          <a:lstStyle/>
          <a:p>
            <a:endParaRPr lang="ko-KR" altLang="en-US"/>
          </a:p>
        </p:txBody>
      </p:sp>
      <p:sp>
        <p:nvSpPr>
          <p:cNvPr id="4" name="Shape 2">
            <a:extLst>
              <a:ext uri="{FF2B5EF4-FFF2-40B4-BE49-F238E27FC236}">
                <a16:creationId xmlns:a16="http://schemas.microsoft.com/office/drawing/2014/main" id="{E16393EF-F151-5EF0-D856-8D87A90B4043}"/>
              </a:ext>
            </a:extLst>
          </p:cNvPr>
          <p:cNvSpPr/>
          <p:nvPr/>
        </p:nvSpPr>
        <p:spPr>
          <a:xfrm>
            <a:off x="3657600" y="0"/>
            <a:ext cx="3657600" cy="658368"/>
          </a:xfrm>
          <a:prstGeom prst="rect">
            <a:avLst/>
          </a:prstGeom>
          <a:solidFill>
            <a:srgbClr val="8B5CF6">
              <a:alpha val="50000"/>
            </a:srgbClr>
          </a:solidFill>
          <a:ln w="12700">
            <a:solidFill>
              <a:srgbClr val="8B5CF6"/>
            </a:solidFill>
            <a:prstDash val="solid"/>
          </a:ln>
        </p:spPr>
        <p:txBody>
          <a:bodyPr/>
          <a:lstStyle/>
          <a:p>
            <a:endParaRPr lang="ko-KR" altLang="en-US"/>
          </a:p>
        </p:txBody>
      </p:sp>
      <p:sp>
        <p:nvSpPr>
          <p:cNvPr id="5" name="Text 3">
            <a:extLst>
              <a:ext uri="{FF2B5EF4-FFF2-40B4-BE49-F238E27FC236}">
                <a16:creationId xmlns:a16="http://schemas.microsoft.com/office/drawing/2014/main" id="{5A79E3A4-32BE-686C-5CA3-E253DF0746CF}"/>
              </a:ext>
            </a:extLst>
          </p:cNvPr>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a:extLst>
              <a:ext uri="{FF2B5EF4-FFF2-40B4-BE49-F238E27FC236}">
                <a16:creationId xmlns:a16="http://schemas.microsoft.com/office/drawing/2014/main" id="{6E7A3E20-B4A1-0240-7504-D0D24146B7C4}"/>
              </a:ext>
            </a:extLst>
          </p:cNvPr>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퀴즈</a:t>
            </a:r>
            <a:endParaRPr lang="en-US" sz="2800" dirty="0"/>
          </a:p>
        </p:txBody>
      </p:sp>
      <p:sp>
        <p:nvSpPr>
          <p:cNvPr id="7" name="Shape 5">
            <a:extLst>
              <a:ext uri="{FF2B5EF4-FFF2-40B4-BE49-F238E27FC236}">
                <a16:creationId xmlns:a16="http://schemas.microsoft.com/office/drawing/2014/main" id="{24C57A7D-1E9C-45AF-78DC-D963CF75EF1F}"/>
              </a:ext>
            </a:extLst>
          </p:cNvPr>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txBody>
          <a:bodyPr/>
          <a:lstStyle/>
          <a:p>
            <a:endParaRPr lang="ko-KR" altLang="en-US"/>
          </a:p>
        </p:txBody>
      </p:sp>
      <p:sp>
        <p:nvSpPr>
          <p:cNvPr id="8" name="Text 6">
            <a:extLst>
              <a:ext uri="{FF2B5EF4-FFF2-40B4-BE49-F238E27FC236}">
                <a16:creationId xmlns:a16="http://schemas.microsoft.com/office/drawing/2014/main" id="{AC59D4F1-9A48-F7BF-3736-C16506899640}"/>
              </a:ext>
            </a:extLst>
          </p:cNvPr>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a:extLst>
              <a:ext uri="{FF2B5EF4-FFF2-40B4-BE49-F238E27FC236}">
                <a16:creationId xmlns:a16="http://schemas.microsoft.com/office/drawing/2014/main" id="{6F048545-5B75-E659-35E7-67592E18EE4B}"/>
              </a:ext>
            </a:extLst>
          </p:cNvPr>
          <p:cNvSpPr/>
          <p:nvPr/>
        </p:nvSpPr>
        <p:spPr>
          <a:xfrm>
            <a:off x="484632" y="1033272"/>
            <a:ext cx="1920240" cy="3474720"/>
          </a:xfrm>
          <a:prstGeom prst="roundRect">
            <a:avLst>
              <a:gd name="adj" fmla="val 5714"/>
            </a:avLst>
          </a:prstGeom>
          <a:solidFill>
            <a:srgbClr val="E2E8F0">
              <a:alpha val="50000"/>
            </a:srgbClr>
          </a:solidFill>
          <a:ln w="12700">
            <a:solidFill>
              <a:srgbClr val="E2E8F0"/>
            </a:solidFill>
            <a:prstDash val="solid"/>
          </a:ln>
        </p:spPr>
        <p:txBody>
          <a:bodyPr/>
          <a:lstStyle/>
          <a:p>
            <a:endParaRPr lang="ko-KR" altLang="en-US"/>
          </a:p>
        </p:txBody>
      </p:sp>
      <p:sp>
        <p:nvSpPr>
          <p:cNvPr id="10" name="Shape 8">
            <a:extLst>
              <a:ext uri="{FF2B5EF4-FFF2-40B4-BE49-F238E27FC236}">
                <a16:creationId xmlns:a16="http://schemas.microsoft.com/office/drawing/2014/main" id="{646AF64C-EB66-D499-E5B3-52CD2AC7D597}"/>
              </a:ext>
            </a:extLst>
          </p:cNvPr>
          <p:cNvSpPr/>
          <p:nvPr/>
        </p:nvSpPr>
        <p:spPr>
          <a:xfrm>
            <a:off x="457200" y="1005840"/>
            <a:ext cx="1920240" cy="3474720"/>
          </a:xfrm>
          <a:prstGeom prst="roundRect">
            <a:avLst>
              <a:gd name="adj" fmla="val 5714"/>
            </a:avLst>
          </a:prstGeom>
          <a:solidFill>
            <a:srgbClr val="FFFFFF"/>
          </a:solidFill>
          <a:ln w="12700">
            <a:solidFill>
              <a:srgbClr val="E2E8F0"/>
            </a:solidFill>
            <a:prstDash val="solid"/>
          </a:ln>
        </p:spPr>
        <p:txBody>
          <a:bodyPr/>
          <a:lstStyle/>
          <a:p>
            <a:endParaRPr lang="ko-KR" altLang="en-US"/>
          </a:p>
        </p:txBody>
      </p:sp>
      <p:sp>
        <p:nvSpPr>
          <p:cNvPr id="11" name="Shape 9">
            <a:extLst>
              <a:ext uri="{FF2B5EF4-FFF2-40B4-BE49-F238E27FC236}">
                <a16:creationId xmlns:a16="http://schemas.microsoft.com/office/drawing/2014/main" id="{5F15FC25-630D-2F74-28FC-973C8D5EFACE}"/>
              </a:ext>
            </a:extLst>
          </p:cNvPr>
          <p:cNvSpPr/>
          <p:nvPr/>
        </p:nvSpPr>
        <p:spPr>
          <a:xfrm>
            <a:off x="1028700" y="1234440"/>
            <a:ext cx="777240" cy="457200"/>
          </a:xfrm>
          <a:prstGeom prst="ellipse">
            <a:avLst/>
          </a:prstGeom>
          <a:solidFill>
            <a:srgbClr val="8B5CF6"/>
          </a:solidFill>
          <a:ln w="12700">
            <a:solidFill>
              <a:srgbClr val="8B5CF6"/>
            </a:solidFill>
            <a:prstDash val="solid"/>
          </a:ln>
        </p:spPr>
        <p:txBody>
          <a:bodyPr/>
          <a:lstStyle/>
          <a:p>
            <a:endParaRPr lang="ko-KR" altLang="en-US"/>
          </a:p>
        </p:txBody>
      </p:sp>
      <p:sp>
        <p:nvSpPr>
          <p:cNvPr id="12" name="Text 10">
            <a:extLst>
              <a:ext uri="{FF2B5EF4-FFF2-40B4-BE49-F238E27FC236}">
                <a16:creationId xmlns:a16="http://schemas.microsoft.com/office/drawing/2014/main" id="{7B3D902F-D345-7340-771A-E29283A6060B}"/>
              </a:ext>
            </a:extLst>
          </p:cNvPr>
          <p:cNvSpPr/>
          <p:nvPr/>
        </p:nvSpPr>
        <p:spPr>
          <a:xfrm>
            <a:off x="102870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Q1</a:t>
            </a:r>
            <a:endParaRPr lang="en-US" sz="1300" dirty="0"/>
          </a:p>
        </p:txBody>
      </p:sp>
      <p:sp>
        <p:nvSpPr>
          <p:cNvPr id="13" name="Text 11">
            <a:extLst>
              <a:ext uri="{FF2B5EF4-FFF2-40B4-BE49-F238E27FC236}">
                <a16:creationId xmlns:a16="http://schemas.microsoft.com/office/drawing/2014/main" id="{86B91CFC-396A-2ACB-8717-47DD1F023C04}"/>
              </a:ext>
            </a:extLst>
          </p:cNvPr>
          <p:cNvSpPr/>
          <p:nvPr/>
        </p:nvSpPr>
        <p:spPr>
          <a:xfrm>
            <a:off x="621792" y="1874520"/>
            <a:ext cx="1591056" cy="1234440"/>
          </a:xfrm>
          <a:prstGeom prst="rect">
            <a:avLst/>
          </a:prstGeom>
          <a:noFill/>
          <a:ln/>
        </p:spPr>
        <p:txBody>
          <a:bodyPr wrap="square" rtlCol="0" anchor="ctr"/>
          <a:lstStyle/>
          <a:p>
            <a:pPr marL="0" indent="0" algn="ctr">
              <a:lnSpc>
                <a:spcPct val="130000"/>
              </a:lnSpc>
              <a:buNone/>
            </a:pPr>
            <a:r>
              <a:rPr lang="en-US" sz="1400" dirty="0">
                <a:solidFill>
                  <a:srgbClr val="3B0764"/>
                </a:solidFill>
                <a:latin typeface="맑은 고딕" pitchFamily="34" charset="0"/>
                <a:ea typeface="맑은 고딕" pitchFamily="34" charset="-122"/>
                <a:cs typeface="맑은 고딕" pitchFamily="34" charset="-120"/>
              </a:rPr>
              <a:t>Q1. 드론이 공중에서 제자리에 멈추는 상태를 무엇이라 할까? </a:t>
            </a:r>
            <a:endParaRPr lang="en-US" sz="1400" dirty="0"/>
          </a:p>
        </p:txBody>
      </p:sp>
      <p:sp>
        <p:nvSpPr>
          <p:cNvPr id="14" name="Shape 12">
            <a:extLst>
              <a:ext uri="{FF2B5EF4-FFF2-40B4-BE49-F238E27FC236}">
                <a16:creationId xmlns:a16="http://schemas.microsoft.com/office/drawing/2014/main" id="{81210A1B-8055-3B7B-52A0-0C9B1F52656E}"/>
              </a:ext>
            </a:extLst>
          </p:cNvPr>
          <p:cNvSpPr/>
          <p:nvPr/>
        </p:nvSpPr>
        <p:spPr>
          <a:xfrm>
            <a:off x="594360" y="3291840"/>
            <a:ext cx="1645920" cy="914400"/>
          </a:xfrm>
          <a:prstGeom prst="roundRect">
            <a:avLst>
              <a:gd name="adj" fmla="val 10000"/>
            </a:avLst>
          </a:prstGeom>
          <a:solidFill>
            <a:srgbClr val="F5F3FF"/>
          </a:solidFill>
          <a:ln w="12700">
            <a:solidFill>
              <a:srgbClr val="A78BFA"/>
            </a:solidFill>
            <a:prstDash val="solid"/>
          </a:ln>
        </p:spPr>
        <p:txBody>
          <a:bodyPr/>
          <a:lstStyle/>
          <a:p>
            <a:endParaRPr lang="ko-KR" altLang="en-US"/>
          </a:p>
        </p:txBody>
      </p:sp>
      <p:sp>
        <p:nvSpPr>
          <p:cNvPr id="16" name="Text 14">
            <a:extLst>
              <a:ext uri="{FF2B5EF4-FFF2-40B4-BE49-F238E27FC236}">
                <a16:creationId xmlns:a16="http://schemas.microsoft.com/office/drawing/2014/main" id="{56B8434E-B4E4-1676-D195-B912FF84880F}"/>
              </a:ext>
            </a:extLst>
          </p:cNvPr>
          <p:cNvSpPr/>
          <p:nvPr/>
        </p:nvSpPr>
        <p:spPr>
          <a:xfrm>
            <a:off x="685800" y="3657600"/>
            <a:ext cx="1463040" cy="438912"/>
          </a:xfrm>
          <a:prstGeom prst="rect">
            <a:avLst/>
          </a:prstGeom>
          <a:noFill/>
          <a:ln/>
        </p:spPr>
        <p:txBody>
          <a:bodyPr wrap="square" rtlCol="0" anchor="ctr"/>
          <a:lstStyle/>
          <a:p>
            <a:pPr marL="0" indent="0" algn="ctr">
              <a:lnSpc>
                <a:spcPct val="120000"/>
              </a:lnSpc>
              <a:buNone/>
            </a:pPr>
            <a:endParaRPr lang="en-US" sz="1100" dirty="0"/>
          </a:p>
        </p:txBody>
      </p:sp>
      <p:sp>
        <p:nvSpPr>
          <p:cNvPr id="17" name="Shape 15">
            <a:extLst>
              <a:ext uri="{FF2B5EF4-FFF2-40B4-BE49-F238E27FC236}">
                <a16:creationId xmlns:a16="http://schemas.microsoft.com/office/drawing/2014/main" id="{5A95D4B3-2DDB-F20F-B979-88CC0B7A17E7}"/>
              </a:ext>
            </a:extLst>
          </p:cNvPr>
          <p:cNvSpPr/>
          <p:nvPr/>
        </p:nvSpPr>
        <p:spPr>
          <a:xfrm>
            <a:off x="2587752" y="1033272"/>
            <a:ext cx="1920240" cy="3474720"/>
          </a:xfrm>
          <a:prstGeom prst="roundRect">
            <a:avLst>
              <a:gd name="adj" fmla="val 5714"/>
            </a:avLst>
          </a:prstGeom>
          <a:solidFill>
            <a:srgbClr val="E2E8F0">
              <a:alpha val="50000"/>
            </a:srgbClr>
          </a:solidFill>
          <a:ln w="12700">
            <a:solidFill>
              <a:srgbClr val="E2E8F0"/>
            </a:solidFill>
            <a:prstDash val="solid"/>
          </a:ln>
        </p:spPr>
        <p:txBody>
          <a:bodyPr/>
          <a:lstStyle/>
          <a:p>
            <a:endParaRPr lang="ko-KR" altLang="en-US"/>
          </a:p>
        </p:txBody>
      </p:sp>
      <p:sp>
        <p:nvSpPr>
          <p:cNvPr id="18" name="Shape 16">
            <a:extLst>
              <a:ext uri="{FF2B5EF4-FFF2-40B4-BE49-F238E27FC236}">
                <a16:creationId xmlns:a16="http://schemas.microsoft.com/office/drawing/2014/main" id="{0CF7E550-4D4A-BA08-7898-6EF7C57A52EA}"/>
              </a:ext>
            </a:extLst>
          </p:cNvPr>
          <p:cNvSpPr/>
          <p:nvPr/>
        </p:nvSpPr>
        <p:spPr>
          <a:xfrm>
            <a:off x="2560320" y="1005840"/>
            <a:ext cx="1920240" cy="3474720"/>
          </a:xfrm>
          <a:prstGeom prst="roundRect">
            <a:avLst>
              <a:gd name="adj" fmla="val 5714"/>
            </a:avLst>
          </a:prstGeom>
          <a:solidFill>
            <a:srgbClr val="FFFFFF"/>
          </a:solidFill>
          <a:ln w="12700">
            <a:solidFill>
              <a:srgbClr val="E2E8F0"/>
            </a:solidFill>
            <a:prstDash val="solid"/>
          </a:ln>
        </p:spPr>
        <p:txBody>
          <a:bodyPr/>
          <a:lstStyle/>
          <a:p>
            <a:endParaRPr lang="ko-KR" altLang="en-US"/>
          </a:p>
        </p:txBody>
      </p:sp>
      <p:sp>
        <p:nvSpPr>
          <p:cNvPr id="19" name="Shape 17">
            <a:extLst>
              <a:ext uri="{FF2B5EF4-FFF2-40B4-BE49-F238E27FC236}">
                <a16:creationId xmlns:a16="http://schemas.microsoft.com/office/drawing/2014/main" id="{0A1135C3-507E-AF97-F4D8-AEAF34A9D530}"/>
              </a:ext>
            </a:extLst>
          </p:cNvPr>
          <p:cNvSpPr/>
          <p:nvPr/>
        </p:nvSpPr>
        <p:spPr>
          <a:xfrm>
            <a:off x="3131820" y="1234440"/>
            <a:ext cx="777240" cy="457200"/>
          </a:xfrm>
          <a:prstGeom prst="ellipse">
            <a:avLst/>
          </a:prstGeom>
          <a:solidFill>
            <a:srgbClr val="8B5CF6"/>
          </a:solidFill>
          <a:ln w="12700">
            <a:solidFill>
              <a:srgbClr val="8B5CF6"/>
            </a:solidFill>
            <a:prstDash val="solid"/>
          </a:ln>
        </p:spPr>
        <p:txBody>
          <a:bodyPr/>
          <a:lstStyle/>
          <a:p>
            <a:endParaRPr lang="ko-KR" altLang="en-US"/>
          </a:p>
        </p:txBody>
      </p:sp>
      <p:sp>
        <p:nvSpPr>
          <p:cNvPr id="20" name="Text 18">
            <a:extLst>
              <a:ext uri="{FF2B5EF4-FFF2-40B4-BE49-F238E27FC236}">
                <a16:creationId xmlns:a16="http://schemas.microsoft.com/office/drawing/2014/main" id="{A894DDA6-803F-6C88-4552-DC4506F50091}"/>
              </a:ext>
            </a:extLst>
          </p:cNvPr>
          <p:cNvSpPr/>
          <p:nvPr/>
        </p:nvSpPr>
        <p:spPr>
          <a:xfrm>
            <a:off x="313182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Q2</a:t>
            </a:r>
            <a:endParaRPr lang="en-US" sz="1300" dirty="0"/>
          </a:p>
        </p:txBody>
      </p:sp>
      <p:sp>
        <p:nvSpPr>
          <p:cNvPr id="21" name="Text 19">
            <a:extLst>
              <a:ext uri="{FF2B5EF4-FFF2-40B4-BE49-F238E27FC236}">
                <a16:creationId xmlns:a16="http://schemas.microsoft.com/office/drawing/2014/main" id="{70A45710-5D5F-84AE-DC88-F7B59D21BBB9}"/>
              </a:ext>
            </a:extLst>
          </p:cNvPr>
          <p:cNvSpPr/>
          <p:nvPr/>
        </p:nvSpPr>
        <p:spPr>
          <a:xfrm>
            <a:off x="2724912" y="1874520"/>
            <a:ext cx="1591056" cy="1234440"/>
          </a:xfrm>
          <a:prstGeom prst="rect">
            <a:avLst/>
          </a:prstGeom>
          <a:noFill/>
          <a:ln/>
        </p:spPr>
        <p:txBody>
          <a:bodyPr wrap="square" rtlCol="0" anchor="ctr"/>
          <a:lstStyle/>
          <a:p>
            <a:pPr marL="0" indent="0" algn="ctr">
              <a:lnSpc>
                <a:spcPct val="130000"/>
              </a:lnSpc>
              <a:buNone/>
            </a:pPr>
            <a:r>
              <a:rPr lang="en-US" sz="1400" dirty="0">
                <a:solidFill>
                  <a:srgbClr val="3B0764"/>
                </a:solidFill>
                <a:latin typeface="맑은 고딕" pitchFamily="34" charset="0"/>
                <a:ea typeface="맑은 고딕" pitchFamily="34" charset="-122"/>
                <a:cs typeface="맑은 고딕" pitchFamily="34" charset="-120"/>
              </a:rPr>
              <a:t>Q2. 드론을 위아래로 움직이는 조종은? </a:t>
            </a:r>
            <a:endParaRPr lang="en-US" sz="1400" dirty="0"/>
          </a:p>
        </p:txBody>
      </p:sp>
      <p:sp>
        <p:nvSpPr>
          <p:cNvPr id="22" name="Shape 20">
            <a:extLst>
              <a:ext uri="{FF2B5EF4-FFF2-40B4-BE49-F238E27FC236}">
                <a16:creationId xmlns:a16="http://schemas.microsoft.com/office/drawing/2014/main" id="{86E50DC4-38CC-9C6F-6425-BDBA1D4F4477}"/>
              </a:ext>
            </a:extLst>
          </p:cNvPr>
          <p:cNvSpPr/>
          <p:nvPr/>
        </p:nvSpPr>
        <p:spPr>
          <a:xfrm>
            <a:off x="2697480" y="3291840"/>
            <a:ext cx="1645920" cy="914400"/>
          </a:xfrm>
          <a:prstGeom prst="roundRect">
            <a:avLst>
              <a:gd name="adj" fmla="val 10000"/>
            </a:avLst>
          </a:prstGeom>
          <a:solidFill>
            <a:srgbClr val="F5F3FF"/>
          </a:solidFill>
          <a:ln w="12700">
            <a:solidFill>
              <a:srgbClr val="A78BFA"/>
            </a:solidFill>
            <a:prstDash val="solid"/>
          </a:ln>
        </p:spPr>
        <p:txBody>
          <a:bodyPr/>
          <a:lstStyle/>
          <a:p>
            <a:endParaRPr lang="ko-KR" altLang="en-US"/>
          </a:p>
        </p:txBody>
      </p:sp>
      <p:sp>
        <p:nvSpPr>
          <p:cNvPr id="24" name="Text 22">
            <a:extLst>
              <a:ext uri="{FF2B5EF4-FFF2-40B4-BE49-F238E27FC236}">
                <a16:creationId xmlns:a16="http://schemas.microsoft.com/office/drawing/2014/main" id="{6C68AD42-1995-CC49-FDD4-4D522632E07F}"/>
              </a:ext>
            </a:extLst>
          </p:cNvPr>
          <p:cNvSpPr/>
          <p:nvPr/>
        </p:nvSpPr>
        <p:spPr>
          <a:xfrm>
            <a:off x="2788920" y="3657600"/>
            <a:ext cx="1463040" cy="438912"/>
          </a:xfrm>
          <a:prstGeom prst="rect">
            <a:avLst/>
          </a:prstGeom>
          <a:noFill/>
          <a:ln/>
        </p:spPr>
        <p:txBody>
          <a:bodyPr wrap="square" rtlCol="0" anchor="ctr"/>
          <a:lstStyle/>
          <a:p>
            <a:pPr marL="0" indent="0" algn="ctr">
              <a:lnSpc>
                <a:spcPct val="120000"/>
              </a:lnSpc>
              <a:buNone/>
            </a:pPr>
            <a:endParaRPr lang="en-US" sz="1100" dirty="0"/>
          </a:p>
        </p:txBody>
      </p:sp>
      <p:sp>
        <p:nvSpPr>
          <p:cNvPr id="25" name="Shape 23">
            <a:extLst>
              <a:ext uri="{FF2B5EF4-FFF2-40B4-BE49-F238E27FC236}">
                <a16:creationId xmlns:a16="http://schemas.microsoft.com/office/drawing/2014/main" id="{11724AD8-337B-157F-9AF1-2E6B451A4C8C}"/>
              </a:ext>
            </a:extLst>
          </p:cNvPr>
          <p:cNvSpPr/>
          <p:nvPr/>
        </p:nvSpPr>
        <p:spPr>
          <a:xfrm>
            <a:off x="4690872" y="1033272"/>
            <a:ext cx="1920240" cy="3474720"/>
          </a:xfrm>
          <a:prstGeom prst="roundRect">
            <a:avLst>
              <a:gd name="adj" fmla="val 5714"/>
            </a:avLst>
          </a:prstGeom>
          <a:solidFill>
            <a:srgbClr val="E2E8F0">
              <a:alpha val="50000"/>
            </a:srgbClr>
          </a:solidFill>
          <a:ln w="12700">
            <a:solidFill>
              <a:srgbClr val="E2E8F0"/>
            </a:solidFill>
            <a:prstDash val="solid"/>
          </a:ln>
        </p:spPr>
        <p:txBody>
          <a:bodyPr/>
          <a:lstStyle/>
          <a:p>
            <a:endParaRPr lang="ko-KR" altLang="en-US"/>
          </a:p>
        </p:txBody>
      </p:sp>
      <p:sp>
        <p:nvSpPr>
          <p:cNvPr id="26" name="Shape 24">
            <a:extLst>
              <a:ext uri="{FF2B5EF4-FFF2-40B4-BE49-F238E27FC236}">
                <a16:creationId xmlns:a16="http://schemas.microsoft.com/office/drawing/2014/main" id="{AE9D5D04-C4BF-BD8C-B005-04C235A541EE}"/>
              </a:ext>
            </a:extLst>
          </p:cNvPr>
          <p:cNvSpPr/>
          <p:nvPr/>
        </p:nvSpPr>
        <p:spPr>
          <a:xfrm>
            <a:off x="4663440" y="1005840"/>
            <a:ext cx="1920240" cy="3474720"/>
          </a:xfrm>
          <a:prstGeom prst="roundRect">
            <a:avLst>
              <a:gd name="adj" fmla="val 5714"/>
            </a:avLst>
          </a:prstGeom>
          <a:solidFill>
            <a:srgbClr val="FFFFFF"/>
          </a:solidFill>
          <a:ln w="12700">
            <a:solidFill>
              <a:srgbClr val="E2E8F0"/>
            </a:solidFill>
            <a:prstDash val="solid"/>
          </a:ln>
        </p:spPr>
        <p:txBody>
          <a:bodyPr/>
          <a:lstStyle/>
          <a:p>
            <a:endParaRPr lang="ko-KR" altLang="en-US"/>
          </a:p>
        </p:txBody>
      </p:sp>
      <p:sp>
        <p:nvSpPr>
          <p:cNvPr id="27" name="Shape 25">
            <a:extLst>
              <a:ext uri="{FF2B5EF4-FFF2-40B4-BE49-F238E27FC236}">
                <a16:creationId xmlns:a16="http://schemas.microsoft.com/office/drawing/2014/main" id="{D5D1B63B-4CF9-D0BA-E7B1-FE6BC4001FCB}"/>
              </a:ext>
            </a:extLst>
          </p:cNvPr>
          <p:cNvSpPr/>
          <p:nvPr/>
        </p:nvSpPr>
        <p:spPr>
          <a:xfrm>
            <a:off x="5234940" y="1234440"/>
            <a:ext cx="777240" cy="457200"/>
          </a:xfrm>
          <a:prstGeom prst="ellipse">
            <a:avLst/>
          </a:prstGeom>
          <a:solidFill>
            <a:srgbClr val="8B5CF6"/>
          </a:solidFill>
          <a:ln w="12700">
            <a:solidFill>
              <a:srgbClr val="8B5CF6"/>
            </a:solidFill>
            <a:prstDash val="solid"/>
          </a:ln>
        </p:spPr>
        <p:txBody>
          <a:bodyPr/>
          <a:lstStyle/>
          <a:p>
            <a:endParaRPr lang="ko-KR" altLang="en-US"/>
          </a:p>
        </p:txBody>
      </p:sp>
      <p:sp>
        <p:nvSpPr>
          <p:cNvPr id="28" name="Text 26">
            <a:extLst>
              <a:ext uri="{FF2B5EF4-FFF2-40B4-BE49-F238E27FC236}">
                <a16:creationId xmlns:a16="http://schemas.microsoft.com/office/drawing/2014/main" id="{3E091B76-6EF1-46F2-3EC3-58B462BF2D24}"/>
              </a:ext>
            </a:extLst>
          </p:cNvPr>
          <p:cNvSpPr/>
          <p:nvPr/>
        </p:nvSpPr>
        <p:spPr>
          <a:xfrm>
            <a:off x="523494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Q3</a:t>
            </a:r>
            <a:endParaRPr lang="en-US" sz="1300" dirty="0"/>
          </a:p>
        </p:txBody>
      </p:sp>
      <p:sp>
        <p:nvSpPr>
          <p:cNvPr id="29" name="Text 27">
            <a:extLst>
              <a:ext uri="{FF2B5EF4-FFF2-40B4-BE49-F238E27FC236}">
                <a16:creationId xmlns:a16="http://schemas.microsoft.com/office/drawing/2014/main" id="{62434C37-D344-ADD9-3561-27420A463D4E}"/>
              </a:ext>
            </a:extLst>
          </p:cNvPr>
          <p:cNvSpPr/>
          <p:nvPr/>
        </p:nvSpPr>
        <p:spPr>
          <a:xfrm>
            <a:off x="4828032" y="1874520"/>
            <a:ext cx="1591056" cy="1234440"/>
          </a:xfrm>
          <a:prstGeom prst="rect">
            <a:avLst/>
          </a:prstGeom>
          <a:noFill/>
          <a:ln/>
        </p:spPr>
        <p:txBody>
          <a:bodyPr wrap="square" rtlCol="0" anchor="ctr"/>
          <a:lstStyle/>
          <a:p>
            <a:pPr marL="0" indent="0" algn="ctr">
              <a:lnSpc>
                <a:spcPct val="130000"/>
              </a:lnSpc>
              <a:buNone/>
            </a:pPr>
            <a:r>
              <a:rPr lang="en-US" sz="1400" dirty="0">
                <a:solidFill>
                  <a:srgbClr val="3B0764"/>
                </a:solidFill>
                <a:latin typeface="맑은 고딕" pitchFamily="34" charset="0"/>
                <a:ea typeface="맑은 고딕" pitchFamily="34" charset="-122"/>
                <a:cs typeface="맑은 고딕" pitchFamily="34" charset="-120"/>
              </a:rPr>
              <a:t>Q3. 드론이 좌우로 기울어지는 움직임은? </a:t>
            </a:r>
            <a:endParaRPr lang="en-US" sz="1400" dirty="0"/>
          </a:p>
        </p:txBody>
      </p:sp>
      <p:sp>
        <p:nvSpPr>
          <p:cNvPr id="30" name="Shape 28">
            <a:extLst>
              <a:ext uri="{FF2B5EF4-FFF2-40B4-BE49-F238E27FC236}">
                <a16:creationId xmlns:a16="http://schemas.microsoft.com/office/drawing/2014/main" id="{C10C2F49-3EE6-F25D-EDB5-0F541FA8FBC5}"/>
              </a:ext>
            </a:extLst>
          </p:cNvPr>
          <p:cNvSpPr/>
          <p:nvPr/>
        </p:nvSpPr>
        <p:spPr>
          <a:xfrm>
            <a:off x="4800600" y="3291840"/>
            <a:ext cx="1645920" cy="914400"/>
          </a:xfrm>
          <a:prstGeom prst="roundRect">
            <a:avLst>
              <a:gd name="adj" fmla="val 10000"/>
            </a:avLst>
          </a:prstGeom>
          <a:solidFill>
            <a:srgbClr val="F5F3FF"/>
          </a:solidFill>
          <a:ln w="12700">
            <a:solidFill>
              <a:srgbClr val="A78BFA"/>
            </a:solidFill>
            <a:prstDash val="solid"/>
          </a:ln>
        </p:spPr>
        <p:txBody>
          <a:bodyPr/>
          <a:lstStyle/>
          <a:p>
            <a:endParaRPr lang="ko-KR" altLang="en-US"/>
          </a:p>
        </p:txBody>
      </p:sp>
      <p:sp>
        <p:nvSpPr>
          <p:cNvPr id="32" name="Text 30">
            <a:extLst>
              <a:ext uri="{FF2B5EF4-FFF2-40B4-BE49-F238E27FC236}">
                <a16:creationId xmlns:a16="http://schemas.microsoft.com/office/drawing/2014/main" id="{D0786000-D299-D5E5-571E-BA119A285386}"/>
              </a:ext>
            </a:extLst>
          </p:cNvPr>
          <p:cNvSpPr/>
          <p:nvPr/>
        </p:nvSpPr>
        <p:spPr>
          <a:xfrm>
            <a:off x="4892040" y="3657600"/>
            <a:ext cx="1463040" cy="438912"/>
          </a:xfrm>
          <a:prstGeom prst="rect">
            <a:avLst/>
          </a:prstGeom>
          <a:noFill/>
          <a:ln/>
        </p:spPr>
        <p:txBody>
          <a:bodyPr wrap="square" rtlCol="0" anchor="ctr"/>
          <a:lstStyle/>
          <a:p>
            <a:pPr marL="0" indent="0" algn="ctr">
              <a:lnSpc>
                <a:spcPct val="120000"/>
              </a:lnSpc>
              <a:buNone/>
            </a:pPr>
            <a:endParaRPr lang="en-US" sz="1100" dirty="0"/>
          </a:p>
        </p:txBody>
      </p:sp>
      <p:sp>
        <p:nvSpPr>
          <p:cNvPr id="33" name="Shape 31">
            <a:extLst>
              <a:ext uri="{FF2B5EF4-FFF2-40B4-BE49-F238E27FC236}">
                <a16:creationId xmlns:a16="http://schemas.microsoft.com/office/drawing/2014/main" id="{3D084A90-B46A-0A5E-222F-6C193A98D580}"/>
              </a:ext>
            </a:extLst>
          </p:cNvPr>
          <p:cNvSpPr/>
          <p:nvPr/>
        </p:nvSpPr>
        <p:spPr>
          <a:xfrm>
            <a:off x="6793992" y="1033272"/>
            <a:ext cx="1920240" cy="3474720"/>
          </a:xfrm>
          <a:prstGeom prst="roundRect">
            <a:avLst>
              <a:gd name="adj" fmla="val 5714"/>
            </a:avLst>
          </a:prstGeom>
          <a:solidFill>
            <a:srgbClr val="E2E8F0">
              <a:alpha val="50000"/>
            </a:srgbClr>
          </a:solidFill>
          <a:ln w="12700">
            <a:solidFill>
              <a:srgbClr val="E2E8F0"/>
            </a:solidFill>
            <a:prstDash val="solid"/>
          </a:ln>
        </p:spPr>
        <p:txBody>
          <a:bodyPr/>
          <a:lstStyle/>
          <a:p>
            <a:endParaRPr lang="ko-KR" altLang="en-US"/>
          </a:p>
        </p:txBody>
      </p:sp>
      <p:sp>
        <p:nvSpPr>
          <p:cNvPr id="34" name="Shape 32">
            <a:extLst>
              <a:ext uri="{FF2B5EF4-FFF2-40B4-BE49-F238E27FC236}">
                <a16:creationId xmlns:a16="http://schemas.microsoft.com/office/drawing/2014/main" id="{E456C95B-5A56-1D0E-354D-61109183BD71}"/>
              </a:ext>
            </a:extLst>
          </p:cNvPr>
          <p:cNvSpPr/>
          <p:nvPr/>
        </p:nvSpPr>
        <p:spPr>
          <a:xfrm>
            <a:off x="6766560" y="1005840"/>
            <a:ext cx="1920240" cy="3474720"/>
          </a:xfrm>
          <a:prstGeom prst="roundRect">
            <a:avLst>
              <a:gd name="adj" fmla="val 5714"/>
            </a:avLst>
          </a:prstGeom>
          <a:solidFill>
            <a:srgbClr val="FFFFFF"/>
          </a:solidFill>
          <a:ln w="12700">
            <a:solidFill>
              <a:srgbClr val="E2E8F0"/>
            </a:solidFill>
            <a:prstDash val="solid"/>
          </a:ln>
        </p:spPr>
        <p:txBody>
          <a:bodyPr/>
          <a:lstStyle/>
          <a:p>
            <a:endParaRPr lang="ko-KR" altLang="en-US"/>
          </a:p>
        </p:txBody>
      </p:sp>
      <p:sp>
        <p:nvSpPr>
          <p:cNvPr id="35" name="Shape 33">
            <a:extLst>
              <a:ext uri="{FF2B5EF4-FFF2-40B4-BE49-F238E27FC236}">
                <a16:creationId xmlns:a16="http://schemas.microsoft.com/office/drawing/2014/main" id="{A994AAF5-E8D6-C72A-28DA-3F0D76A6C10D}"/>
              </a:ext>
            </a:extLst>
          </p:cNvPr>
          <p:cNvSpPr/>
          <p:nvPr/>
        </p:nvSpPr>
        <p:spPr>
          <a:xfrm>
            <a:off x="7338060" y="1234440"/>
            <a:ext cx="777240" cy="457200"/>
          </a:xfrm>
          <a:prstGeom prst="ellipse">
            <a:avLst/>
          </a:prstGeom>
          <a:solidFill>
            <a:srgbClr val="8B5CF6"/>
          </a:solidFill>
          <a:ln w="12700">
            <a:solidFill>
              <a:srgbClr val="8B5CF6"/>
            </a:solidFill>
            <a:prstDash val="solid"/>
          </a:ln>
        </p:spPr>
        <p:txBody>
          <a:bodyPr/>
          <a:lstStyle/>
          <a:p>
            <a:endParaRPr lang="ko-KR" altLang="en-US"/>
          </a:p>
        </p:txBody>
      </p:sp>
      <p:sp>
        <p:nvSpPr>
          <p:cNvPr id="36" name="Text 34">
            <a:extLst>
              <a:ext uri="{FF2B5EF4-FFF2-40B4-BE49-F238E27FC236}">
                <a16:creationId xmlns:a16="http://schemas.microsoft.com/office/drawing/2014/main" id="{06881CDD-F972-CA4B-BDC2-DD527697F2F4}"/>
              </a:ext>
            </a:extLst>
          </p:cNvPr>
          <p:cNvSpPr/>
          <p:nvPr/>
        </p:nvSpPr>
        <p:spPr>
          <a:xfrm>
            <a:off x="733806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Q4</a:t>
            </a:r>
            <a:endParaRPr lang="en-US" sz="1300" dirty="0"/>
          </a:p>
        </p:txBody>
      </p:sp>
      <p:sp>
        <p:nvSpPr>
          <p:cNvPr id="37" name="Text 35">
            <a:extLst>
              <a:ext uri="{FF2B5EF4-FFF2-40B4-BE49-F238E27FC236}">
                <a16:creationId xmlns:a16="http://schemas.microsoft.com/office/drawing/2014/main" id="{03CBA4DB-D961-CC2F-67FD-92E301DAF0F4}"/>
              </a:ext>
            </a:extLst>
          </p:cNvPr>
          <p:cNvSpPr/>
          <p:nvPr/>
        </p:nvSpPr>
        <p:spPr>
          <a:xfrm>
            <a:off x="6931152" y="1874520"/>
            <a:ext cx="1591056" cy="1234440"/>
          </a:xfrm>
          <a:prstGeom prst="rect">
            <a:avLst/>
          </a:prstGeom>
          <a:noFill/>
          <a:ln/>
        </p:spPr>
        <p:txBody>
          <a:bodyPr wrap="square" rtlCol="0" anchor="ctr"/>
          <a:lstStyle/>
          <a:p>
            <a:pPr marL="0" indent="0" algn="ctr">
              <a:lnSpc>
                <a:spcPct val="130000"/>
              </a:lnSpc>
              <a:buNone/>
            </a:pPr>
            <a:r>
              <a:rPr lang="en-US" sz="1400" dirty="0">
                <a:solidFill>
                  <a:srgbClr val="3B0764"/>
                </a:solidFill>
                <a:latin typeface="맑은 고딕" pitchFamily="34" charset="0"/>
                <a:ea typeface="맑은 고딕" pitchFamily="34" charset="-122"/>
                <a:cs typeface="맑은 고딕" pitchFamily="34" charset="-120"/>
              </a:rPr>
              <a:t>Q4. 드론이 제자리에서 방향을 바꾸는 움직임은? (요)</a:t>
            </a:r>
            <a:endParaRPr lang="en-US" sz="1400" dirty="0"/>
          </a:p>
        </p:txBody>
      </p:sp>
      <p:sp>
        <p:nvSpPr>
          <p:cNvPr id="38" name="Shape 36">
            <a:extLst>
              <a:ext uri="{FF2B5EF4-FFF2-40B4-BE49-F238E27FC236}">
                <a16:creationId xmlns:a16="http://schemas.microsoft.com/office/drawing/2014/main" id="{629AF6F8-63F4-8238-B6CB-D3918DF4CD66}"/>
              </a:ext>
            </a:extLst>
          </p:cNvPr>
          <p:cNvSpPr/>
          <p:nvPr/>
        </p:nvSpPr>
        <p:spPr>
          <a:xfrm>
            <a:off x="6903720" y="3291840"/>
            <a:ext cx="1645920" cy="914400"/>
          </a:xfrm>
          <a:prstGeom prst="roundRect">
            <a:avLst>
              <a:gd name="adj" fmla="val 10000"/>
            </a:avLst>
          </a:prstGeom>
          <a:solidFill>
            <a:srgbClr val="F5F3FF"/>
          </a:solidFill>
          <a:ln w="12700">
            <a:solidFill>
              <a:srgbClr val="A78BFA"/>
            </a:solidFill>
            <a:prstDash val="solid"/>
          </a:ln>
        </p:spPr>
        <p:txBody>
          <a:bodyPr/>
          <a:lstStyle/>
          <a:p>
            <a:endParaRPr lang="ko-KR" altLang="en-US"/>
          </a:p>
        </p:txBody>
      </p:sp>
      <p:sp>
        <p:nvSpPr>
          <p:cNvPr id="40" name="Text 38">
            <a:extLst>
              <a:ext uri="{FF2B5EF4-FFF2-40B4-BE49-F238E27FC236}">
                <a16:creationId xmlns:a16="http://schemas.microsoft.com/office/drawing/2014/main" id="{EA6AD924-3B47-3946-1CCE-20138CEAB917}"/>
              </a:ext>
            </a:extLst>
          </p:cNvPr>
          <p:cNvSpPr/>
          <p:nvPr/>
        </p:nvSpPr>
        <p:spPr>
          <a:xfrm>
            <a:off x="6995160" y="3657600"/>
            <a:ext cx="1463040" cy="438912"/>
          </a:xfrm>
          <a:prstGeom prst="rect">
            <a:avLst/>
          </a:prstGeom>
          <a:noFill/>
          <a:ln/>
        </p:spPr>
        <p:txBody>
          <a:bodyPr wrap="square" rtlCol="0" anchor="ctr"/>
          <a:lstStyle/>
          <a:p>
            <a:pPr marL="0" indent="0" algn="ctr">
              <a:lnSpc>
                <a:spcPct val="120000"/>
              </a:lnSpc>
              <a:buNone/>
            </a:pPr>
            <a:endParaRPr lang="en-US" sz="1100" dirty="0"/>
          </a:p>
        </p:txBody>
      </p:sp>
      <p:sp>
        <p:nvSpPr>
          <p:cNvPr id="42" name="Text 39">
            <a:extLst>
              <a:ext uri="{FF2B5EF4-FFF2-40B4-BE49-F238E27FC236}">
                <a16:creationId xmlns:a16="http://schemas.microsoft.com/office/drawing/2014/main" id="{8D662130-A569-FF82-B199-CBC8D7B713A2}"/>
              </a:ext>
            </a:extLst>
          </p:cNvPr>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43" name="Text 40">
            <a:extLst>
              <a:ext uri="{FF2B5EF4-FFF2-40B4-BE49-F238E27FC236}">
                <a16:creationId xmlns:a16="http://schemas.microsoft.com/office/drawing/2014/main" id="{AB69E53D-A9BF-AC06-B02C-734E9DB8F1F3}"/>
              </a:ext>
            </a:extLst>
          </p:cNvPr>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12 / 17</a:t>
            </a:r>
            <a:endParaRPr lang="en-US" sz="900" dirty="0"/>
          </a:p>
        </p:txBody>
      </p:sp>
    </p:spTree>
    <p:extLst>
      <p:ext uri="{BB962C8B-B14F-4D97-AF65-F5344CB8AC3E}">
        <p14:creationId xmlns:p14="http://schemas.microsoft.com/office/powerpoint/2010/main" val="1455325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8B5CF6"/>
          </a:solidFill>
          <a:ln w="12700">
            <a:solidFill>
              <a:srgbClr val="8B5CF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다음 시간 예고</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p:cNvSpPr/>
          <p:nvPr/>
        </p:nvSpPr>
        <p:spPr>
          <a:xfrm rot="900000">
            <a:off x="8412480" y="4114800"/>
            <a:ext cx="1097280" cy="1097280"/>
          </a:xfrm>
          <a:prstGeom prst="triangle">
            <a:avLst/>
          </a:prstGeom>
          <a:solidFill>
            <a:srgbClr val="A78BFA">
              <a:alpha val="15000"/>
            </a:srgbClr>
          </a:solidFill>
          <a:ln w="12700">
            <a:solidFill>
              <a:srgbClr val="A78BFA"/>
            </a:solidFill>
            <a:prstDash val="solid"/>
          </a:ln>
        </p:spPr>
        <p:txBody>
          <a:bodyPr/>
          <a:lstStyle/>
          <a:p>
            <a:endParaRPr lang="ko-KR" altLang="en-US"/>
          </a:p>
        </p:txBody>
      </p:sp>
      <p:sp>
        <p:nvSpPr>
          <p:cNvPr id="10" name="Text 8"/>
          <p:cNvSpPr/>
          <p:nvPr/>
        </p:nvSpPr>
        <p:spPr>
          <a:xfrm>
            <a:off x="640080" y="804672"/>
            <a:ext cx="4572000" cy="365760"/>
          </a:xfrm>
          <a:prstGeom prst="rect">
            <a:avLst/>
          </a:prstGeom>
          <a:noFill/>
          <a:ln/>
        </p:spPr>
        <p:txBody>
          <a:bodyPr wrap="square" rtlCol="0" anchor="ctr"/>
          <a:lstStyle/>
          <a:p>
            <a:pPr marL="0" indent="0">
              <a:buNone/>
            </a:pPr>
            <a:r>
              <a:rPr lang="en-US" sz="1800" b="1" dirty="0">
                <a:solidFill>
                  <a:srgbClr val="7C3AED"/>
                </a:solidFill>
                <a:latin typeface="맑은 고딕" pitchFamily="34" charset="0"/>
                <a:ea typeface="맑은 고딕" pitchFamily="34" charset="-122"/>
                <a:cs typeface="맑은 고딕" pitchFamily="34" charset="-120"/>
              </a:rPr>
              <a:t>3차원 좌표 — 드론의 위치를 숫자로 나타내자!</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다음 주 주제: 3차원 좌표</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배울 내용: X·Y·Z 좌표로 드론 위치 표현하기</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오늘 배운 스로틀·롤·피치가 좌표를 어떻게 바꾸는지 연결</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미리 생각해보기: 교실에서 '오른쪽 세 칸 앞으로 두 칸'은 어디일까?</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준비물: 없음 (선생님이 모든 재료 준비)</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txBody>
          <a:bodyPr/>
          <a:lstStyle/>
          <a:p>
            <a:endParaRPr lang="ko-KR" altLang="en-US"/>
          </a:p>
        </p:txBody>
      </p:sp>
      <p:sp>
        <p:nvSpPr>
          <p:cNvPr id="13" name="Shape 11"/>
          <p:cNvSpPr/>
          <p:nvPr/>
        </p:nvSpPr>
        <p:spPr>
          <a:xfrm>
            <a:off x="5303520" y="868680"/>
            <a:ext cx="3931920" cy="3520440"/>
          </a:xfrm>
          <a:prstGeom prst="roundRect">
            <a:avLst>
              <a:gd name="adj" fmla="val 3117"/>
            </a:avLst>
          </a:prstGeom>
          <a:solidFill>
            <a:srgbClr val="F5F3FF"/>
          </a:solidFill>
          <a:ln w="12700">
            <a:solidFill>
              <a:srgbClr val="E2E8F0"/>
            </a:solidFill>
            <a:prstDash val="solid"/>
          </a:ln>
        </p:spPr>
        <p:txBody>
          <a:bodyPr/>
          <a:lstStyle/>
          <a:p>
            <a:endParaRPr lang="ko-KR" altLang="en-US"/>
          </a:p>
        </p:txBody>
      </p:sp>
      <p:pic>
        <p:nvPicPr>
          <p:cNvPr id="14" name="Image 0" descr="/Users/admin/Desktop/codrone/materials/PPT/.ppt-work/images/week03/slide13.jpg"/>
          <p:cNvPicPr>
            <a:picLocks noChangeAspect="1"/>
          </p:cNvPicPr>
          <p:nvPr/>
        </p:nvPicPr>
        <p:blipFill>
          <a:blip r:embed="rId3"/>
          <a:srcRect/>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13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Users/admin/Desktop/codrone/materials/PPT/.ppt-work/images/week03/slide14.jp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2286000"/>
            <a:ext cx="9144000" cy="2857500"/>
          </a:xfrm>
          <a:prstGeom prst="rect">
            <a:avLst/>
          </a:prstGeom>
          <a:solidFill>
            <a:srgbClr val="3B0764">
              <a:alpha val="80000"/>
            </a:srgbClr>
          </a:solidFill>
          <a:ln w="12700">
            <a:solidFill>
              <a:srgbClr val="3B0764"/>
            </a:solidFill>
            <a:prstDash val="solid"/>
          </a:ln>
        </p:spPr>
        <p:txBody>
          <a:bodyPr/>
          <a:lstStyle/>
          <a:p>
            <a:endParaRPr lang="ko-KR" altLang="en-US"/>
          </a:p>
        </p:txBody>
      </p:sp>
      <p:sp>
        <p:nvSpPr>
          <p:cNvPr id="4" name="Shape 1"/>
          <p:cNvSpPr/>
          <p:nvPr/>
        </p:nvSpPr>
        <p:spPr>
          <a:xfrm>
            <a:off x="0" y="3200400"/>
            <a:ext cx="9144000" cy="1943100"/>
          </a:xfrm>
          <a:prstGeom prst="rect">
            <a:avLst/>
          </a:prstGeom>
          <a:solidFill>
            <a:srgbClr val="3B0764">
              <a:alpha val="90000"/>
            </a:srgbClr>
          </a:solidFill>
          <a:ln w="12700">
            <a:solidFill>
              <a:srgbClr val="3B0764"/>
            </a:solidFill>
            <a:prstDash val="solid"/>
          </a:ln>
        </p:spPr>
        <p:txBody>
          <a:bodyPr/>
          <a:lstStyle/>
          <a:p>
            <a:endParaRPr lang="ko-KR" altLang="en-US"/>
          </a:p>
        </p:txBody>
      </p:sp>
      <p:sp>
        <p:nvSpPr>
          <p:cNvPr id="5" name="Shape 2"/>
          <p:cNvSpPr/>
          <p:nvPr/>
        </p:nvSpPr>
        <p:spPr>
          <a:xfrm>
            <a:off x="0" y="0"/>
            <a:ext cx="9144000" cy="54864"/>
          </a:xfrm>
          <a:prstGeom prst="rect">
            <a:avLst/>
          </a:prstGeom>
          <a:solidFill>
            <a:srgbClr val="A78BFA"/>
          </a:solidFill>
          <a:ln w="12700">
            <a:solidFill>
              <a:srgbClr val="A78BFA"/>
            </a:solidFill>
            <a:prstDash val="solid"/>
          </a:ln>
        </p:spPr>
        <p:txBody>
          <a:bodyPr/>
          <a:lstStyle/>
          <a:p>
            <a:endParaRPr lang="ko-KR" altLang="en-US"/>
          </a:p>
        </p:txBody>
      </p:sp>
      <p:sp>
        <p:nvSpPr>
          <p:cNvPr id="6" name="Text 3"/>
          <p:cNvSpPr/>
          <p:nvPr/>
        </p:nvSpPr>
        <p:spPr>
          <a:xfrm>
            <a:off x="457200" y="640080"/>
            <a:ext cx="8229600" cy="411480"/>
          </a:xfrm>
          <a:prstGeom prst="rect">
            <a:avLst/>
          </a:prstGeom>
          <a:noFill/>
          <a:ln/>
        </p:spPr>
        <p:txBody>
          <a:bodyPr wrap="square" rtlCol="0" anchor="ctr"/>
          <a:lstStyle/>
          <a:p>
            <a:pPr marL="0" indent="0" algn="ctr">
              <a:buNone/>
            </a:pPr>
            <a:r>
              <a:rPr lang="en-US" sz="2200" b="1" dirty="0">
                <a:solidFill>
                  <a:srgbClr val="FFFFFF"/>
                </a:solidFill>
                <a:latin typeface="맑은 고딕" pitchFamily="34" charset="0"/>
                <a:ea typeface="맑은 고딕" pitchFamily="34" charset="-122"/>
                <a:cs typeface="맑은 고딕" pitchFamily="34" charset="-120"/>
              </a:rPr>
              <a:t>C++ 자료형 레슨</a:t>
            </a:r>
            <a:endParaRPr lang="en-US" sz="2200" dirty="0"/>
          </a:p>
        </p:txBody>
      </p:sp>
      <p:sp>
        <p:nvSpPr>
          <p:cNvPr id="7" name="Text 4"/>
          <p:cNvSpPr/>
          <p:nvPr/>
        </p:nvSpPr>
        <p:spPr>
          <a:xfrm>
            <a:off x="457200" y="1463040"/>
            <a:ext cx="8229600" cy="1005840"/>
          </a:xfrm>
          <a:prstGeom prst="rect">
            <a:avLst/>
          </a:prstGeom>
          <a:noFill/>
          <a:ln/>
        </p:spPr>
        <p:txBody>
          <a:bodyPr wrap="square" rtlCol="0" anchor="ctr"/>
          <a:lstStyle/>
          <a:p>
            <a:pPr marL="0" indent="0" algn="ctr">
              <a:buNone/>
            </a:pPr>
            <a:r>
              <a:rPr lang="en-US" sz="3600" b="1" dirty="0">
                <a:solidFill>
                  <a:srgbClr val="FFFFFF"/>
                </a:solidFill>
                <a:latin typeface="맑은 고딕" pitchFamily="34" charset="0"/>
                <a:ea typeface="맑은 고딕" pitchFamily="34" charset="-122"/>
                <a:cs typeface="맑은 고딕" pitchFamily="34" charset="-120"/>
              </a:rPr>
              <a:t>보너스 코딩 타임!</a:t>
            </a:r>
            <a:endParaRPr lang="en-US" sz="3600" dirty="0"/>
          </a:p>
        </p:txBody>
      </p:sp>
      <p:sp>
        <p:nvSpPr>
          <p:cNvPr id="8" name="Text 5"/>
          <p:cNvSpPr/>
          <p:nvPr/>
        </p:nvSpPr>
        <p:spPr>
          <a:xfrm>
            <a:off x="914400" y="2651760"/>
            <a:ext cx="7315200" cy="731520"/>
          </a:xfrm>
          <a:prstGeom prst="rect">
            <a:avLst/>
          </a:prstGeom>
          <a:noFill/>
          <a:ln/>
        </p:spPr>
        <p:txBody>
          <a:bodyPr wrap="square" rtlCol="0" anchor="ctr"/>
          <a:lstStyle/>
          <a:p>
            <a:pPr marL="0" indent="0" algn="ctr">
              <a:lnSpc>
                <a:spcPct val="130000"/>
              </a:lnSpc>
              <a:buNone/>
            </a:pPr>
            <a:r>
              <a:rPr lang="en-US" sz="2000" dirty="0">
                <a:solidFill>
                  <a:srgbClr val="FFFFFF"/>
                </a:solidFill>
                <a:latin typeface="맑은 고딕" pitchFamily="34" charset="0"/>
                <a:ea typeface="맑은 고딕" pitchFamily="34" charset="-122"/>
                <a:cs typeface="맑은 고딕" pitchFamily="34" charset="-120"/>
              </a:rPr>
              <a:t>Python </a:t>
            </a:r>
            <a:r>
              <a:rPr lang="en-US" sz="2000" dirty="0" err="1">
                <a:solidFill>
                  <a:srgbClr val="FFFFFF"/>
                </a:solidFill>
                <a:latin typeface="맑은 고딕" pitchFamily="34" charset="0"/>
                <a:ea typeface="맑은 고딕" pitchFamily="34" charset="-122"/>
                <a:cs typeface="맑은 고딕" pitchFamily="34" charset="-120"/>
              </a:rPr>
              <a:t>레슨</a:t>
            </a:r>
            <a:r>
              <a:rPr lang="en-US" sz="2000" dirty="0">
                <a:solidFill>
                  <a:srgbClr val="FFFFFF"/>
                </a:solidFill>
                <a:latin typeface="맑은 고딕" pitchFamily="34" charset="0"/>
                <a:ea typeface="맑은 고딕" pitchFamily="34" charset="-122"/>
                <a:cs typeface="맑은 고딕" pitchFamily="34" charset="-120"/>
              </a:rPr>
              <a:t> 3 — 자료형: 숫자·글자·참거짓을 구분하자!</a:t>
            </a:r>
            <a:endParaRPr lang="en-US" sz="2000" dirty="0"/>
          </a:p>
        </p:txBody>
      </p:sp>
      <p:sp>
        <p:nvSpPr>
          <p:cNvPr id="9" name="Text 6"/>
          <p:cNvSpPr/>
          <p:nvPr/>
        </p:nvSpPr>
        <p:spPr>
          <a:xfrm>
            <a:off x="457200" y="4389120"/>
            <a:ext cx="8229600" cy="320040"/>
          </a:xfrm>
          <a:prstGeom prst="rect">
            <a:avLst/>
          </a:prstGeom>
          <a:noFill/>
          <a:ln/>
        </p:spPr>
        <p:txBody>
          <a:bodyPr wrap="square" rtlCol="0" anchor="ctr"/>
          <a:lstStyle/>
          <a:p>
            <a:pPr marL="0" indent="0" algn="ctr">
              <a:buNone/>
            </a:pPr>
            <a:r>
              <a:rPr lang="en-US" sz="1400" dirty="0">
                <a:solidFill>
                  <a:srgbClr val="FFFFFF"/>
                </a:solidFill>
                <a:latin typeface="맑은 고딕" pitchFamily="34" charset="0"/>
                <a:ea typeface="맑은 고딕" pitchFamily="34" charset="-122"/>
                <a:cs typeface="맑은 고딕" pitchFamily="34" charset="-120"/>
              </a:rPr>
              <a:t>int, double, string, bool 네 가지</a:t>
            </a:r>
            <a:endParaRPr lang="en-US" sz="1400" dirty="0"/>
          </a:p>
        </p:txBody>
      </p:sp>
      <p:sp>
        <p:nvSpPr>
          <p:cNvPr id="11" name="Text 7"/>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2" name="Text 8"/>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14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8B5CF6"/>
          </a:solidFill>
          <a:ln w="12700">
            <a:solidFill>
              <a:srgbClr val="8B5CF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Python </a:t>
            </a:r>
            <a:r>
              <a:rPr lang="en-US" sz="2800" b="1" dirty="0" err="1">
                <a:solidFill>
                  <a:srgbClr val="FFFFFF"/>
                </a:solidFill>
                <a:latin typeface="맑은 고딕" pitchFamily="34" charset="0"/>
                <a:ea typeface="맑은 고딕" pitchFamily="34" charset="-122"/>
                <a:cs typeface="맑은 고딕" pitchFamily="34" charset="-120"/>
              </a:rPr>
              <a:t>자료형</a:t>
            </a:r>
            <a:r>
              <a:rPr lang="en-US" sz="2800" b="1" dirty="0">
                <a:solidFill>
                  <a:srgbClr val="FFFFFF"/>
                </a:solidFill>
                <a:latin typeface="맑은 고딕" pitchFamily="34" charset="0"/>
                <a:ea typeface="맑은 고딕" pitchFamily="34" charset="-122"/>
                <a:cs typeface="맑은 고딕" pitchFamily="34" charset="-120"/>
              </a:rPr>
              <a:t> 4가지</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Text 7"/>
          <p:cNvSpPr/>
          <p:nvPr/>
        </p:nvSpPr>
        <p:spPr>
          <a:xfrm>
            <a:off x="640080" y="804672"/>
            <a:ext cx="7863840" cy="365760"/>
          </a:xfrm>
          <a:prstGeom prst="rect">
            <a:avLst/>
          </a:prstGeom>
          <a:noFill/>
          <a:ln/>
        </p:spPr>
        <p:txBody>
          <a:bodyPr wrap="square" rtlCol="0" anchor="ctr"/>
          <a:lstStyle/>
          <a:p>
            <a:pPr marL="0" indent="0">
              <a:buNone/>
            </a:pPr>
            <a:r>
              <a:rPr lang="en-US" sz="1800" b="1" dirty="0">
                <a:solidFill>
                  <a:srgbClr val="7C3AED"/>
                </a:solidFill>
                <a:latin typeface="맑은 고딕" pitchFamily="34" charset="0"/>
                <a:ea typeface="맑은 고딕" pitchFamily="34" charset="-122"/>
                <a:cs typeface="맑은 고딕" pitchFamily="34" charset="-120"/>
              </a:rPr>
              <a:t>저장하는 데이터 종류에 따라 자료형이 다르다</a:t>
            </a:r>
            <a:endParaRPr lang="en-US" sz="1800" dirty="0"/>
          </a:p>
        </p:txBody>
      </p:sp>
      <p:sp>
        <p:nvSpPr>
          <p:cNvPr id="10" name="Shape 8"/>
          <p:cNvSpPr/>
          <p:nvPr/>
        </p:nvSpPr>
        <p:spPr>
          <a:xfrm>
            <a:off x="640080" y="1280160"/>
            <a:ext cx="502920" cy="502920"/>
          </a:xfrm>
          <a:prstGeom prst="ellipse">
            <a:avLst/>
          </a:prstGeom>
          <a:solidFill>
            <a:srgbClr val="8B5CF6"/>
          </a:solidFill>
          <a:ln w="12700">
            <a:solidFill>
              <a:srgbClr val="8B5CF6"/>
            </a:solidFill>
            <a:prstDash val="solid"/>
          </a:ln>
        </p:spPr>
        <p:txBody>
          <a:bodyPr/>
          <a:lstStyle/>
          <a:p>
            <a:endParaRPr lang="ko-KR" altLang="en-US"/>
          </a:p>
        </p:txBody>
      </p:sp>
      <p:sp>
        <p:nvSpPr>
          <p:cNvPr id="11" name="Text 9"/>
          <p:cNvSpPr/>
          <p:nvPr/>
        </p:nvSpPr>
        <p:spPr>
          <a:xfrm>
            <a:off x="640080" y="1399032"/>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01</a:t>
            </a:r>
            <a:endParaRPr lang="en-US" sz="1400" dirty="0"/>
          </a:p>
        </p:txBody>
      </p:sp>
      <p:sp>
        <p:nvSpPr>
          <p:cNvPr id="12" name="Text 10"/>
          <p:cNvSpPr/>
          <p:nvPr/>
        </p:nvSpPr>
        <p:spPr>
          <a:xfrm>
            <a:off x="1280160" y="1298448"/>
            <a:ext cx="7223760" cy="420624"/>
          </a:xfrm>
          <a:prstGeom prst="rect">
            <a:avLst/>
          </a:prstGeom>
          <a:noFill/>
          <a:ln/>
        </p:spPr>
        <p:txBody>
          <a:bodyPr wrap="square" rtlCol="0" anchor="ctr"/>
          <a:lstStyle/>
          <a:p>
            <a:pPr marL="0" indent="0">
              <a:lnSpc>
                <a:spcPct val="130000"/>
              </a:lnSpc>
              <a:buNone/>
            </a:pPr>
            <a:r>
              <a:rPr lang="en-US" sz="1600" dirty="0">
                <a:solidFill>
                  <a:srgbClr val="3B0764"/>
                </a:solidFill>
                <a:latin typeface="맑은 고딕" pitchFamily="34" charset="0"/>
                <a:ea typeface="맑은 고딕" pitchFamily="34" charset="-122"/>
                <a:cs typeface="맑은 고딕" pitchFamily="34" charset="-120"/>
              </a:rPr>
              <a:t>int — 정수 저장 (예: int age = 10;)</a:t>
            </a:r>
            <a:endParaRPr lang="en-US" sz="1600" dirty="0"/>
          </a:p>
        </p:txBody>
      </p:sp>
      <p:sp>
        <p:nvSpPr>
          <p:cNvPr id="13" name="Shape 11"/>
          <p:cNvSpPr/>
          <p:nvPr/>
        </p:nvSpPr>
        <p:spPr>
          <a:xfrm>
            <a:off x="640080" y="1938528"/>
            <a:ext cx="502920" cy="502920"/>
          </a:xfrm>
          <a:prstGeom prst="ellipse">
            <a:avLst/>
          </a:prstGeom>
          <a:solidFill>
            <a:srgbClr val="7C3AED"/>
          </a:solidFill>
          <a:ln w="12700">
            <a:solidFill>
              <a:srgbClr val="7C3AED"/>
            </a:solidFill>
            <a:prstDash val="solid"/>
          </a:ln>
        </p:spPr>
        <p:txBody>
          <a:bodyPr/>
          <a:lstStyle/>
          <a:p>
            <a:endParaRPr lang="ko-KR" altLang="en-US"/>
          </a:p>
        </p:txBody>
      </p:sp>
      <p:sp>
        <p:nvSpPr>
          <p:cNvPr id="14" name="Text 12"/>
          <p:cNvSpPr/>
          <p:nvPr/>
        </p:nvSpPr>
        <p:spPr>
          <a:xfrm>
            <a:off x="640080" y="2057400"/>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02</a:t>
            </a:r>
            <a:endParaRPr lang="en-US" sz="1400" dirty="0"/>
          </a:p>
        </p:txBody>
      </p:sp>
      <p:sp>
        <p:nvSpPr>
          <p:cNvPr id="15" name="Text 13"/>
          <p:cNvSpPr/>
          <p:nvPr/>
        </p:nvSpPr>
        <p:spPr>
          <a:xfrm>
            <a:off x="1280160" y="1956816"/>
            <a:ext cx="7223760" cy="420624"/>
          </a:xfrm>
          <a:prstGeom prst="rect">
            <a:avLst/>
          </a:prstGeom>
          <a:noFill/>
          <a:ln/>
        </p:spPr>
        <p:txBody>
          <a:bodyPr wrap="square" rtlCol="0" anchor="ctr"/>
          <a:lstStyle/>
          <a:p>
            <a:pPr marL="0" indent="0">
              <a:lnSpc>
                <a:spcPct val="130000"/>
              </a:lnSpc>
              <a:buNone/>
            </a:pPr>
            <a:r>
              <a:rPr lang="en-US" sz="1600" dirty="0">
                <a:solidFill>
                  <a:srgbClr val="3B0764"/>
                </a:solidFill>
                <a:latin typeface="맑은 고딕" pitchFamily="34" charset="0"/>
                <a:ea typeface="맑은 고딕" pitchFamily="34" charset="-122"/>
                <a:cs typeface="맑은 고딕" pitchFamily="34" charset="-120"/>
              </a:rPr>
              <a:t>double — 소수점 숫자 저장 (예: double height = 1.5;)</a:t>
            </a:r>
            <a:endParaRPr lang="en-US" sz="1600" dirty="0"/>
          </a:p>
        </p:txBody>
      </p:sp>
      <p:sp>
        <p:nvSpPr>
          <p:cNvPr id="16" name="Shape 14"/>
          <p:cNvSpPr/>
          <p:nvPr/>
        </p:nvSpPr>
        <p:spPr>
          <a:xfrm>
            <a:off x="640080" y="2596896"/>
            <a:ext cx="502920" cy="502920"/>
          </a:xfrm>
          <a:prstGeom prst="ellipse">
            <a:avLst/>
          </a:prstGeom>
          <a:solidFill>
            <a:srgbClr val="A78BFA"/>
          </a:solidFill>
          <a:ln w="12700">
            <a:solidFill>
              <a:srgbClr val="A78BFA"/>
            </a:solidFill>
            <a:prstDash val="solid"/>
          </a:ln>
        </p:spPr>
        <p:txBody>
          <a:bodyPr/>
          <a:lstStyle/>
          <a:p>
            <a:endParaRPr lang="ko-KR" altLang="en-US"/>
          </a:p>
        </p:txBody>
      </p:sp>
      <p:sp>
        <p:nvSpPr>
          <p:cNvPr id="17" name="Text 15"/>
          <p:cNvSpPr/>
          <p:nvPr/>
        </p:nvSpPr>
        <p:spPr>
          <a:xfrm>
            <a:off x="640080" y="2715768"/>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03</a:t>
            </a:r>
            <a:endParaRPr lang="en-US" sz="1400" dirty="0"/>
          </a:p>
        </p:txBody>
      </p:sp>
      <p:sp>
        <p:nvSpPr>
          <p:cNvPr id="18" name="Text 16"/>
          <p:cNvSpPr/>
          <p:nvPr/>
        </p:nvSpPr>
        <p:spPr>
          <a:xfrm>
            <a:off x="1280160" y="2615184"/>
            <a:ext cx="7223760" cy="420624"/>
          </a:xfrm>
          <a:prstGeom prst="rect">
            <a:avLst/>
          </a:prstGeom>
          <a:noFill/>
          <a:ln/>
        </p:spPr>
        <p:txBody>
          <a:bodyPr wrap="square" rtlCol="0" anchor="ctr"/>
          <a:lstStyle/>
          <a:p>
            <a:pPr marL="0" indent="0">
              <a:lnSpc>
                <a:spcPct val="130000"/>
              </a:lnSpc>
              <a:buNone/>
            </a:pPr>
            <a:r>
              <a:rPr lang="en-US" sz="1600" dirty="0">
                <a:solidFill>
                  <a:srgbClr val="3B0764"/>
                </a:solidFill>
                <a:latin typeface="맑은 고딕" pitchFamily="34" charset="0"/>
                <a:ea typeface="맑은 고딕" pitchFamily="34" charset="-122"/>
                <a:cs typeface="맑은 고딕" pitchFamily="34" charset="-120"/>
              </a:rPr>
              <a:t>string — 글자·문장 저장 (예: string name = "드론";)</a:t>
            </a:r>
            <a:endParaRPr lang="en-US" sz="1600" dirty="0"/>
          </a:p>
        </p:txBody>
      </p:sp>
      <p:sp>
        <p:nvSpPr>
          <p:cNvPr id="19" name="Shape 17"/>
          <p:cNvSpPr/>
          <p:nvPr/>
        </p:nvSpPr>
        <p:spPr>
          <a:xfrm>
            <a:off x="640080" y="3255264"/>
            <a:ext cx="502920" cy="502920"/>
          </a:xfrm>
          <a:prstGeom prst="ellipse">
            <a:avLst/>
          </a:prstGeom>
          <a:solidFill>
            <a:srgbClr val="8B5CF6"/>
          </a:solidFill>
          <a:ln w="12700">
            <a:solidFill>
              <a:srgbClr val="8B5CF6"/>
            </a:solidFill>
            <a:prstDash val="solid"/>
          </a:ln>
        </p:spPr>
        <p:txBody>
          <a:bodyPr/>
          <a:lstStyle/>
          <a:p>
            <a:endParaRPr lang="ko-KR" altLang="en-US"/>
          </a:p>
        </p:txBody>
      </p:sp>
      <p:sp>
        <p:nvSpPr>
          <p:cNvPr id="20" name="Text 18"/>
          <p:cNvSpPr/>
          <p:nvPr/>
        </p:nvSpPr>
        <p:spPr>
          <a:xfrm>
            <a:off x="640080" y="3374136"/>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04</a:t>
            </a:r>
            <a:endParaRPr lang="en-US" sz="1400" dirty="0"/>
          </a:p>
        </p:txBody>
      </p:sp>
      <p:sp>
        <p:nvSpPr>
          <p:cNvPr id="21" name="Text 19"/>
          <p:cNvSpPr/>
          <p:nvPr/>
        </p:nvSpPr>
        <p:spPr>
          <a:xfrm>
            <a:off x="1280160" y="3273552"/>
            <a:ext cx="7223760" cy="420624"/>
          </a:xfrm>
          <a:prstGeom prst="rect">
            <a:avLst/>
          </a:prstGeom>
          <a:noFill/>
          <a:ln/>
        </p:spPr>
        <p:txBody>
          <a:bodyPr wrap="square" rtlCol="0" anchor="ctr"/>
          <a:lstStyle/>
          <a:p>
            <a:pPr marL="0" indent="0">
              <a:lnSpc>
                <a:spcPct val="130000"/>
              </a:lnSpc>
              <a:buNone/>
            </a:pPr>
            <a:r>
              <a:rPr lang="en-US" sz="1600" dirty="0">
                <a:solidFill>
                  <a:srgbClr val="3B0764"/>
                </a:solidFill>
                <a:latin typeface="맑은 고딕" pitchFamily="34" charset="0"/>
                <a:ea typeface="맑은 고딕" pitchFamily="34" charset="-122"/>
                <a:cs typeface="맑은 고딕" pitchFamily="34" charset="-120"/>
              </a:rPr>
              <a:t>bool — 참(true) 또는 거짓(false) 저장 (예: bool flying = true;)</a:t>
            </a:r>
            <a:endParaRPr lang="en-US" sz="1600" dirty="0"/>
          </a:p>
        </p:txBody>
      </p:sp>
      <p:sp>
        <p:nvSpPr>
          <p:cNvPr id="22" name="Shape 20"/>
          <p:cNvSpPr/>
          <p:nvPr/>
        </p:nvSpPr>
        <p:spPr>
          <a:xfrm>
            <a:off x="640080" y="3913632"/>
            <a:ext cx="502920" cy="502920"/>
          </a:xfrm>
          <a:prstGeom prst="ellipse">
            <a:avLst/>
          </a:prstGeom>
          <a:solidFill>
            <a:srgbClr val="7C3AED"/>
          </a:solidFill>
          <a:ln w="12700">
            <a:solidFill>
              <a:srgbClr val="7C3AED"/>
            </a:solidFill>
            <a:prstDash val="solid"/>
          </a:ln>
        </p:spPr>
        <p:txBody>
          <a:bodyPr/>
          <a:lstStyle/>
          <a:p>
            <a:endParaRPr lang="ko-KR" altLang="en-US"/>
          </a:p>
        </p:txBody>
      </p:sp>
      <p:sp>
        <p:nvSpPr>
          <p:cNvPr id="23" name="Text 21"/>
          <p:cNvSpPr/>
          <p:nvPr/>
        </p:nvSpPr>
        <p:spPr>
          <a:xfrm>
            <a:off x="640080" y="4032504"/>
            <a:ext cx="502920" cy="228600"/>
          </a:xfrm>
          <a:prstGeom prst="rect">
            <a:avLst/>
          </a:prstGeom>
          <a:noFill/>
          <a:ln/>
        </p:spPr>
        <p:txBody>
          <a:bodyPr wrap="square"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05</a:t>
            </a:r>
            <a:endParaRPr lang="en-US" sz="1400" dirty="0"/>
          </a:p>
        </p:txBody>
      </p:sp>
      <p:sp>
        <p:nvSpPr>
          <p:cNvPr id="24" name="Text 22"/>
          <p:cNvSpPr/>
          <p:nvPr/>
        </p:nvSpPr>
        <p:spPr>
          <a:xfrm>
            <a:off x="1280160" y="3931920"/>
            <a:ext cx="7223760" cy="420624"/>
          </a:xfrm>
          <a:prstGeom prst="rect">
            <a:avLst/>
          </a:prstGeom>
          <a:noFill/>
          <a:ln/>
        </p:spPr>
        <p:txBody>
          <a:bodyPr wrap="square" rtlCol="0" anchor="ctr"/>
          <a:lstStyle/>
          <a:p>
            <a:pPr marL="0" indent="0">
              <a:lnSpc>
                <a:spcPct val="130000"/>
              </a:lnSpc>
              <a:buNone/>
            </a:pPr>
            <a:r>
              <a:rPr lang="en-US" sz="1600" dirty="0">
                <a:solidFill>
                  <a:srgbClr val="3B0764"/>
                </a:solidFill>
                <a:latin typeface="맑은 고딕" pitchFamily="34" charset="0"/>
                <a:ea typeface="맑은 고딕" pitchFamily="34" charset="-122"/>
                <a:cs typeface="맑은 고딕" pitchFamily="34" charset="-120"/>
              </a:rPr>
              <a:t>드론 고도 → double / 드론 이름 → string / 모터 상태 → bool</a:t>
            </a:r>
            <a:endParaRPr lang="en-US" sz="1600" dirty="0"/>
          </a:p>
        </p:txBody>
      </p:sp>
      <p:sp>
        <p:nvSpPr>
          <p:cNvPr id="26" name="Text 23"/>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27" name="Text 24"/>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15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8B5CF6"/>
          </a:solidFill>
          <a:ln w="12700">
            <a:solidFill>
              <a:srgbClr val="8B5CF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파이썬 vs C++</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p:cNvSpPr/>
          <p:nvPr/>
        </p:nvSpPr>
        <p:spPr>
          <a:xfrm>
            <a:off x="457200" y="868680"/>
            <a:ext cx="3931920" cy="3657600"/>
          </a:xfrm>
          <a:prstGeom prst="roundRect">
            <a:avLst>
              <a:gd name="adj" fmla="val 3000"/>
            </a:avLst>
          </a:prstGeom>
          <a:solidFill>
            <a:srgbClr val="F5F3FF"/>
          </a:solidFill>
          <a:ln w="12700">
            <a:solidFill>
              <a:srgbClr val="E2E8F0"/>
            </a:solidFill>
            <a:prstDash val="solid"/>
          </a:ln>
        </p:spPr>
        <p:txBody>
          <a:bodyPr/>
          <a:lstStyle/>
          <a:p>
            <a:endParaRPr lang="ko-KR" altLang="en-US"/>
          </a:p>
        </p:txBody>
      </p:sp>
      <p:sp>
        <p:nvSpPr>
          <p:cNvPr id="10" name="Text 8"/>
          <p:cNvSpPr/>
          <p:nvPr/>
        </p:nvSpPr>
        <p:spPr>
          <a:xfrm>
            <a:off x="640080" y="1051560"/>
            <a:ext cx="3566160" cy="329184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500" dirty="0">
                <a:solidFill>
                  <a:srgbClr val="3B0764"/>
                </a:solidFill>
                <a:latin typeface="맑은 고딕" pitchFamily="34" charset="0"/>
                <a:ea typeface="맑은 고딕" pitchFamily="34" charset="-122"/>
                <a:cs typeface="맑은 고딕" pitchFamily="34" charset="-120"/>
              </a:rPr>
              <a:t>[파이썬]</a:t>
            </a:r>
            <a:endParaRPr lang="en-US" sz="1500" dirty="0"/>
          </a:p>
          <a:p>
            <a:pPr marL="203200" indent="-203200">
              <a:lnSpc>
                <a:spcPct val="130000"/>
              </a:lnSpc>
              <a:spcAft>
                <a:spcPts val="1000"/>
              </a:spcAft>
              <a:buSzPct val="100000"/>
              <a:buChar char="•"/>
            </a:pPr>
            <a:r>
              <a:rPr lang="en-US" sz="1500" dirty="0">
                <a:solidFill>
                  <a:srgbClr val="3B0764"/>
                </a:solidFill>
                <a:latin typeface="맑은 고딕" pitchFamily="34" charset="0"/>
                <a:ea typeface="맑은 고딕" pitchFamily="34" charset="-122"/>
                <a:cs typeface="맑은 고딕" pitchFamily="34" charset="-120"/>
              </a:rPr>
              <a:t>age = 10</a:t>
            </a:r>
            <a:endParaRPr lang="en-US" sz="1500" dirty="0"/>
          </a:p>
          <a:p>
            <a:pPr marL="203200" indent="-203200">
              <a:lnSpc>
                <a:spcPct val="130000"/>
              </a:lnSpc>
              <a:spcAft>
                <a:spcPts val="1000"/>
              </a:spcAft>
              <a:buSzPct val="100000"/>
              <a:buChar char="•"/>
            </a:pPr>
            <a:r>
              <a:rPr lang="en-US" sz="1500" dirty="0">
                <a:solidFill>
                  <a:srgbClr val="3B0764"/>
                </a:solidFill>
                <a:latin typeface="맑은 고딕" pitchFamily="34" charset="0"/>
                <a:ea typeface="맑은 고딕" pitchFamily="34" charset="-122"/>
                <a:cs typeface="맑은 고딕" pitchFamily="34" charset="-120"/>
              </a:rPr>
              <a:t>height = 1.5</a:t>
            </a:r>
            <a:endParaRPr lang="en-US" sz="1500" dirty="0"/>
          </a:p>
          <a:p>
            <a:pPr marL="203200" indent="-203200">
              <a:lnSpc>
                <a:spcPct val="130000"/>
              </a:lnSpc>
              <a:spcAft>
                <a:spcPts val="1000"/>
              </a:spcAft>
              <a:buSzPct val="100000"/>
              <a:buChar char="•"/>
            </a:pPr>
            <a:r>
              <a:rPr lang="en-US" sz="1500" dirty="0">
                <a:solidFill>
                  <a:srgbClr val="3B0764"/>
                </a:solidFill>
                <a:latin typeface="맑은 고딕" pitchFamily="34" charset="0"/>
                <a:ea typeface="맑은 고딕" pitchFamily="34" charset="-122"/>
                <a:cs typeface="맑은 고딕" pitchFamily="34" charset="-120"/>
              </a:rPr>
              <a:t>name = "드론"</a:t>
            </a:r>
            <a:endParaRPr lang="en-US" sz="1500" dirty="0"/>
          </a:p>
          <a:p>
            <a:pPr marL="203200" indent="-203200">
              <a:lnSpc>
                <a:spcPct val="130000"/>
              </a:lnSpc>
              <a:spcAft>
                <a:spcPts val="1000"/>
              </a:spcAft>
              <a:buSzPct val="100000"/>
              <a:buChar char="•"/>
            </a:pPr>
            <a:r>
              <a:rPr lang="en-US" sz="1500" dirty="0">
                <a:solidFill>
                  <a:srgbClr val="3B0764"/>
                </a:solidFill>
                <a:latin typeface="맑은 고딕" pitchFamily="34" charset="0"/>
                <a:ea typeface="맑은 고딕" pitchFamily="34" charset="-122"/>
                <a:cs typeface="맑은 고딕" pitchFamily="34" charset="-120"/>
              </a:rPr>
              <a:t>flying = True</a:t>
            </a:r>
            <a:endParaRPr lang="en-US" sz="1500" dirty="0"/>
          </a:p>
          <a:p>
            <a:pPr marL="203200" indent="-203200">
              <a:lnSpc>
                <a:spcPct val="130000"/>
              </a:lnSpc>
              <a:spcAft>
                <a:spcPts val="1000"/>
              </a:spcAft>
              <a:buSzPct val="100000"/>
              <a:buChar char="•"/>
            </a:pPr>
            <a:r>
              <a:rPr lang="en-US" sz="1500" dirty="0">
                <a:solidFill>
                  <a:srgbClr val="3B0764"/>
                </a:solidFill>
                <a:latin typeface="맑은 고딕" pitchFamily="34" charset="0"/>
                <a:ea typeface="맑은 고딕" pitchFamily="34" charset="-122"/>
                <a:cs typeface="맑은 고딕" pitchFamily="34" charset="-120"/>
              </a:rPr>
              <a:t>(타입을 안 써도 알아서 결정!)</a:t>
            </a:r>
            <a:endParaRPr lang="en-US" sz="1500" dirty="0"/>
          </a:p>
        </p:txBody>
      </p:sp>
      <p:sp>
        <p:nvSpPr>
          <p:cNvPr id="11" name="Shape 9"/>
          <p:cNvSpPr/>
          <p:nvPr/>
        </p:nvSpPr>
        <p:spPr>
          <a:xfrm>
            <a:off x="4754880" y="868680"/>
            <a:ext cx="3931920" cy="3657600"/>
          </a:xfrm>
          <a:prstGeom prst="roundRect">
            <a:avLst>
              <a:gd name="adj" fmla="val 3000"/>
            </a:avLst>
          </a:prstGeom>
          <a:solidFill>
            <a:srgbClr val="FFFFFF"/>
          </a:solidFill>
          <a:ln w="12700">
            <a:solidFill>
              <a:srgbClr val="E2E8F0"/>
            </a:solidFill>
            <a:prstDash val="solid"/>
          </a:ln>
        </p:spPr>
        <p:txBody>
          <a:bodyPr/>
          <a:lstStyle/>
          <a:p>
            <a:endParaRPr lang="ko-KR" altLang="en-US"/>
          </a:p>
        </p:txBody>
      </p:sp>
      <p:sp>
        <p:nvSpPr>
          <p:cNvPr id="12" name="Text 10"/>
          <p:cNvSpPr/>
          <p:nvPr/>
        </p:nvSpPr>
        <p:spPr>
          <a:xfrm>
            <a:off x="4937760" y="1051560"/>
            <a:ext cx="3566160" cy="329184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500" dirty="0">
                <a:solidFill>
                  <a:srgbClr val="3B0764"/>
                </a:solidFill>
                <a:latin typeface="맑은 고딕" pitchFamily="34" charset="0"/>
                <a:ea typeface="맑은 고딕" pitchFamily="34" charset="-122"/>
                <a:cs typeface="맑은 고딕" pitchFamily="34" charset="-120"/>
              </a:rPr>
              <a:t>[C++]</a:t>
            </a:r>
            <a:endParaRPr lang="en-US" sz="1500" dirty="0"/>
          </a:p>
          <a:p>
            <a:pPr marL="203200" indent="-203200">
              <a:lnSpc>
                <a:spcPct val="130000"/>
              </a:lnSpc>
              <a:spcAft>
                <a:spcPts val="1000"/>
              </a:spcAft>
              <a:buSzPct val="100000"/>
              <a:buChar char="•"/>
            </a:pPr>
            <a:r>
              <a:rPr lang="en-US" sz="1500" dirty="0">
                <a:solidFill>
                  <a:srgbClr val="3B0764"/>
                </a:solidFill>
                <a:latin typeface="맑은 고딕" pitchFamily="34" charset="0"/>
                <a:ea typeface="맑은 고딕" pitchFamily="34" charset="-122"/>
                <a:cs typeface="맑은 고딕" pitchFamily="34" charset="-120"/>
              </a:rPr>
              <a:t>int age = 10;</a:t>
            </a:r>
            <a:endParaRPr lang="en-US" sz="1500" dirty="0"/>
          </a:p>
          <a:p>
            <a:pPr marL="203200" indent="-203200">
              <a:lnSpc>
                <a:spcPct val="130000"/>
              </a:lnSpc>
              <a:spcAft>
                <a:spcPts val="1000"/>
              </a:spcAft>
              <a:buSzPct val="100000"/>
              <a:buChar char="•"/>
            </a:pPr>
            <a:r>
              <a:rPr lang="en-US" sz="1500" dirty="0">
                <a:solidFill>
                  <a:srgbClr val="3B0764"/>
                </a:solidFill>
                <a:latin typeface="맑은 고딕" pitchFamily="34" charset="0"/>
                <a:ea typeface="맑은 고딕" pitchFamily="34" charset="-122"/>
                <a:cs typeface="맑은 고딕" pitchFamily="34" charset="-120"/>
              </a:rPr>
              <a:t>double height = 1.5;</a:t>
            </a:r>
            <a:endParaRPr lang="en-US" sz="1500" dirty="0"/>
          </a:p>
          <a:p>
            <a:pPr marL="203200" indent="-203200">
              <a:lnSpc>
                <a:spcPct val="130000"/>
              </a:lnSpc>
              <a:spcAft>
                <a:spcPts val="1000"/>
              </a:spcAft>
              <a:buSzPct val="100000"/>
              <a:buChar char="•"/>
            </a:pPr>
            <a:r>
              <a:rPr lang="en-US" sz="1500" dirty="0">
                <a:solidFill>
                  <a:srgbClr val="3B0764"/>
                </a:solidFill>
                <a:latin typeface="맑은 고딕" pitchFamily="34" charset="0"/>
                <a:ea typeface="맑은 고딕" pitchFamily="34" charset="-122"/>
                <a:cs typeface="맑은 고딕" pitchFamily="34" charset="-120"/>
              </a:rPr>
              <a:t>string name = "드론";</a:t>
            </a:r>
            <a:endParaRPr lang="en-US" sz="1500" dirty="0"/>
          </a:p>
          <a:p>
            <a:pPr marL="203200" indent="-203200">
              <a:lnSpc>
                <a:spcPct val="130000"/>
              </a:lnSpc>
              <a:spcAft>
                <a:spcPts val="1000"/>
              </a:spcAft>
              <a:buSzPct val="100000"/>
              <a:buChar char="•"/>
            </a:pPr>
            <a:r>
              <a:rPr lang="en-US" sz="1500" dirty="0">
                <a:solidFill>
                  <a:srgbClr val="3B0764"/>
                </a:solidFill>
                <a:latin typeface="맑은 고딕" pitchFamily="34" charset="0"/>
                <a:ea typeface="맑은 고딕" pitchFamily="34" charset="-122"/>
                <a:cs typeface="맑은 고딕" pitchFamily="34" charset="-120"/>
              </a:rPr>
              <a:t>bool flying = true;</a:t>
            </a:r>
            <a:endParaRPr lang="en-US" sz="1500" dirty="0"/>
          </a:p>
          <a:p>
            <a:pPr marL="203200" indent="-203200">
              <a:lnSpc>
                <a:spcPct val="130000"/>
              </a:lnSpc>
              <a:spcAft>
                <a:spcPts val="1000"/>
              </a:spcAft>
              <a:buSzPct val="100000"/>
              <a:buChar char="•"/>
            </a:pPr>
            <a:r>
              <a:rPr lang="en-US" sz="1500" dirty="0">
                <a:solidFill>
                  <a:srgbClr val="3B0764"/>
                </a:solidFill>
                <a:latin typeface="맑은 고딕" pitchFamily="34" charset="0"/>
                <a:ea typeface="맑은 고딕" pitchFamily="34" charset="-122"/>
                <a:cs typeface="맑은 고딕" pitchFamily="34" charset="-120"/>
              </a:rPr>
              <a:t>(타입을 꼭 직접 써야 함!)</a:t>
            </a:r>
            <a:endParaRPr lang="en-US" sz="1500" dirty="0"/>
          </a:p>
        </p:txBody>
      </p:sp>
      <p:sp>
        <p:nvSpPr>
          <p:cNvPr id="14" name="Text 11"/>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5" name="Text 12"/>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16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D28D9"/>
          </a:solidFill>
          <a:ln w="12700">
            <a:solidFill>
              <a:srgbClr val="6D28D9"/>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8B5CF6"/>
          </a:solidFill>
          <a:ln w="12700">
            <a:solidFill>
              <a:srgbClr val="8B5CF6"/>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8B5CF6">
              <a:alpha val="50000"/>
            </a:srgbClr>
          </a:solidFill>
          <a:ln w="12700">
            <a:solidFill>
              <a:srgbClr val="8B5CF6"/>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자료형 퀴즈</a:t>
            </a:r>
            <a:endParaRPr lang="en-US" sz="2800" dirty="0"/>
          </a:p>
        </p:txBody>
      </p:sp>
      <p:sp>
        <p:nvSpPr>
          <p:cNvPr id="7" name="Shape 5"/>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p:cNvSpPr/>
          <p:nvPr/>
        </p:nvSpPr>
        <p:spPr>
          <a:xfrm>
            <a:off x="457200" y="822960"/>
            <a:ext cx="8229600" cy="548640"/>
          </a:xfrm>
          <a:prstGeom prst="roundRect">
            <a:avLst>
              <a:gd name="adj" fmla="val 16667"/>
            </a:avLst>
          </a:prstGeom>
          <a:solidFill>
            <a:srgbClr val="A78BFA">
              <a:alpha val="15000"/>
            </a:srgbClr>
          </a:solidFill>
          <a:ln w="12700">
            <a:solidFill>
              <a:srgbClr val="A78BFA"/>
            </a:solidFill>
            <a:prstDash val="solid"/>
          </a:ln>
        </p:spPr>
        <p:txBody>
          <a:bodyPr/>
          <a:lstStyle/>
          <a:p>
            <a:endParaRPr lang="ko-KR" altLang="en-US"/>
          </a:p>
        </p:txBody>
      </p:sp>
      <p:sp>
        <p:nvSpPr>
          <p:cNvPr id="10" name="Text 8"/>
          <p:cNvSpPr/>
          <p:nvPr/>
        </p:nvSpPr>
        <p:spPr>
          <a:xfrm>
            <a:off x="640080" y="896112"/>
            <a:ext cx="7863840" cy="365760"/>
          </a:xfrm>
          <a:prstGeom prst="rect">
            <a:avLst/>
          </a:prstGeom>
          <a:noFill/>
          <a:ln/>
        </p:spPr>
        <p:txBody>
          <a:bodyPr wrap="square" rtlCol="0" anchor="ctr"/>
          <a:lstStyle/>
          <a:p>
            <a:pPr marL="0" indent="0" algn="ctr">
              <a:buNone/>
            </a:pPr>
            <a:r>
              <a:rPr lang="en-US" sz="1800" b="1" dirty="0">
                <a:solidFill>
                  <a:srgbClr val="3B0764"/>
                </a:solidFill>
                <a:latin typeface="맑은 고딕" pitchFamily="34" charset="0"/>
                <a:ea typeface="맑은 고딕" pitchFamily="34" charset="-122"/>
                <a:cs typeface="맑은 고딕" pitchFamily="34" charset="-120"/>
              </a:rPr>
              <a:t>상황에 맞는 C++ 자료형을 골라봐요!</a:t>
            </a:r>
            <a:endParaRPr lang="en-US" sz="1800" dirty="0"/>
          </a:p>
        </p:txBody>
      </p:sp>
      <p:sp>
        <p:nvSpPr>
          <p:cNvPr id="11" name="Text 9"/>
          <p:cNvSpPr/>
          <p:nvPr/>
        </p:nvSpPr>
        <p:spPr>
          <a:xfrm>
            <a:off x="640080" y="1554480"/>
            <a:ext cx="7863840" cy="283464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Q1. 배터리 잔량(%)을 저장하려면? → _____ battery = 80; </a:t>
            </a:r>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Q2. 정밀 고도(m)를 저장하려면? → _____ altitude = 2.35; </a:t>
            </a:r>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Q3. 드론 이름을 저장하려면? → _____ name = "코딩버드"; </a:t>
            </a:r>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Q4. 날고 있는지 여부를 저장하려면? → _____ isFlying = true; </a:t>
            </a:r>
            <a:endParaRPr lang="en-US" sz="1600" dirty="0"/>
          </a:p>
        </p:txBody>
      </p:sp>
      <p:sp>
        <p:nvSpPr>
          <p:cNvPr id="13" name="Text 10"/>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1"/>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17 / 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54587-DB80-74B9-F75D-8F25AC2A3C3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F24C353-FC98-A02F-2582-49AFEC133503}"/>
              </a:ext>
            </a:extLst>
          </p:cNvPr>
          <p:cNvSpPr/>
          <p:nvPr/>
        </p:nvSpPr>
        <p:spPr>
          <a:xfrm>
            <a:off x="0" y="0"/>
            <a:ext cx="9144000" cy="658368"/>
          </a:xfrm>
          <a:prstGeom prst="rect">
            <a:avLst/>
          </a:prstGeom>
          <a:solidFill>
            <a:srgbClr val="6D28D9"/>
          </a:solidFill>
          <a:ln w="12700">
            <a:solidFill>
              <a:srgbClr val="6D28D9"/>
            </a:solidFill>
            <a:prstDash val="solid"/>
          </a:ln>
        </p:spPr>
        <p:txBody>
          <a:bodyPr/>
          <a:lstStyle/>
          <a:p>
            <a:endParaRPr lang="ko-KR" altLang="en-US"/>
          </a:p>
        </p:txBody>
      </p:sp>
      <p:sp>
        <p:nvSpPr>
          <p:cNvPr id="3" name="Shape 1">
            <a:extLst>
              <a:ext uri="{FF2B5EF4-FFF2-40B4-BE49-F238E27FC236}">
                <a16:creationId xmlns:a16="http://schemas.microsoft.com/office/drawing/2014/main" id="{00DFED15-62DB-1FE3-5D43-E87C8C19D9EF}"/>
              </a:ext>
            </a:extLst>
          </p:cNvPr>
          <p:cNvSpPr/>
          <p:nvPr/>
        </p:nvSpPr>
        <p:spPr>
          <a:xfrm>
            <a:off x="0" y="0"/>
            <a:ext cx="5486400" cy="658368"/>
          </a:xfrm>
          <a:prstGeom prst="rect">
            <a:avLst/>
          </a:prstGeom>
          <a:solidFill>
            <a:srgbClr val="8B5CF6"/>
          </a:solidFill>
          <a:ln w="12700">
            <a:solidFill>
              <a:srgbClr val="8B5CF6"/>
            </a:solidFill>
            <a:prstDash val="solid"/>
          </a:ln>
        </p:spPr>
        <p:txBody>
          <a:bodyPr/>
          <a:lstStyle/>
          <a:p>
            <a:endParaRPr lang="ko-KR" altLang="en-US"/>
          </a:p>
        </p:txBody>
      </p:sp>
      <p:sp>
        <p:nvSpPr>
          <p:cNvPr id="4" name="Shape 2">
            <a:extLst>
              <a:ext uri="{FF2B5EF4-FFF2-40B4-BE49-F238E27FC236}">
                <a16:creationId xmlns:a16="http://schemas.microsoft.com/office/drawing/2014/main" id="{56C954F2-6749-D6EE-B842-26F13D425FFB}"/>
              </a:ext>
            </a:extLst>
          </p:cNvPr>
          <p:cNvSpPr/>
          <p:nvPr/>
        </p:nvSpPr>
        <p:spPr>
          <a:xfrm>
            <a:off x="3657600" y="0"/>
            <a:ext cx="3657600" cy="658368"/>
          </a:xfrm>
          <a:prstGeom prst="rect">
            <a:avLst/>
          </a:prstGeom>
          <a:solidFill>
            <a:srgbClr val="8B5CF6">
              <a:alpha val="50000"/>
            </a:srgbClr>
          </a:solidFill>
          <a:ln w="12700">
            <a:solidFill>
              <a:srgbClr val="8B5CF6"/>
            </a:solidFill>
            <a:prstDash val="solid"/>
          </a:ln>
        </p:spPr>
        <p:txBody>
          <a:bodyPr/>
          <a:lstStyle/>
          <a:p>
            <a:endParaRPr lang="ko-KR" altLang="en-US"/>
          </a:p>
        </p:txBody>
      </p:sp>
      <p:sp>
        <p:nvSpPr>
          <p:cNvPr id="5" name="Text 3">
            <a:extLst>
              <a:ext uri="{FF2B5EF4-FFF2-40B4-BE49-F238E27FC236}">
                <a16:creationId xmlns:a16="http://schemas.microsoft.com/office/drawing/2014/main" id="{C5EB60E3-F94B-4FB6-D09E-F186E7B57271}"/>
              </a:ext>
            </a:extLst>
          </p:cNvPr>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a:extLst>
              <a:ext uri="{FF2B5EF4-FFF2-40B4-BE49-F238E27FC236}">
                <a16:creationId xmlns:a16="http://schemas.microsoft.com/office/drawing/2014/main" id="{3E436702-65AC-98EE-19BE-CFEF23D935F1}"/>
              </a:ext>
            </a:extLst>
          </p:cNvPr>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자료형 퀴즈</a:t>
            </a:r>
            <a:endParaRPr lang="en-US" sz="2800" dirty="0"/>
          </a:p>
        </p:txBody>
      </p:sp>
      <p:sp>
        <p:nvSpPr>
          <p:cNvPr id="7" name="Shape 5">
            <a:extLst>
              <a:ext uri="{FF2B5EF4-FFF2-40B4-BE49-F238E27FC236}">
                <a16:creationId xmlns:a16="http://schemas.microsoft.com/office/drawing/2014/main" id="{28F35FC3-9F70-DFC6-2CE3-4B0B99927220}"/>
              </a:ext>
            </a:extLst>
          </p:cNvPr>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txBody>
          <a:bodyPr/>
          <a:lstStyle/>
          <a:p>
            <a:endParaRPr lang="ko-KR" altLang="en-US"/>
          </a:p>
        </p:txBody>
      </p:sp>
      <p:sp>
        <p:nvSpPr>
          <p:cNvPr id="8" name="Text 6">
            <a:extLst>
              <a:ext uri="{FF2B5EF4-FFF2-40B4-BE49-F238E27FC236}">
                <a16:creationId xmlns:a16="http://schemas.microsoft.com/office/drawing/2014/main" id="{DB91ADBE-8913-A402-AF53-FE9B0FCC6853}"/>
              </a:ext>
            </a:extLst>
          </p:cNvPr>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a:extLst>
              <a:ext uri="{FF2B5EF4-FFF2-40B4-BE49-F238E27FC236}">
                <a16:creationId xmlns:a16="http://schemas.microsoft.com/office/drawing/2014/main" id="{D675EB0C-B00C-0C22-179C-2E46DCCC11E1}"/>
              </a:ext>
            </a:extLst>
          </p:cNvPr>
          <p:cNvSpPr/>
          <p:nvPr/>
        </p:nvSpPr>
        <p:spPr>
          <a:xfrm>
            <a:off x="457200" y="822960"/>
            <a:ext cx="8229600" cy="548640"/>
          </a:xfrm>
          <a:prstGeom prst="roundRect">
            <a:avLst>
              <a:gd name="adj" fmla="val 16667"/>
            </a:avLst>
          </a:prstGeom>
          <a:solidFill>
            <a:srgbClr val="A78BFA">
              <a:alpha val="15000"/>
            </a:srgbClr>
          </a:solidFill>
          <a:ln w="12700">
            <a:solidFill>
              <a:srgbClr val="A78BFA"/>
            </a:solidFill>
            <a:prstDash val="solid"/>
          </a:ln>
        </p:spPr>
        <p:txBody>
          <a:bodyPr/>
          <a:lstStyle/>
          <a:p>
            <a:endParaRPr lang="ko-KR" altLang="en-US"/>
          </a:p>
        </p:txBody>
      </p:sp>
      <p:sp>
        <p:nvSpPr>
          <p:cNvPr id="10" name="Text 8">
            <a:extLst>
              <a:ext uri="{FF2B5EF4-FFF2-40B4-BE49-F238E27FC236}">
                <a16:creationId xmlns:a16="http://schemas.microsoft.com/office/drawing/2014/main" id="{8F2FAF49-8D6F-2D2C-0558-A0B861356103}"/>
              </a:ext>
            </a:extLst>
          </p:cNvPr>
          <p:cNvSpPr/>
          <p:nvPr/>
        </p:nvSpPr>
        <p:spPr>
          <a:xfrm>
            <a:off x="640080" y="896112"/>
            <a:ext cx="7863840" cy="365760"/>
          </a:xfrm>
          <a:prstGeom prst="rect">
            <a:avLst/>
          </a:prstGeom>
          <a:noFill/>
          <a:ln/>
        </p:spPr>
        <p:txBody>
          <a:bodyPr wrap="square" rtlCol="0" anchor="ctr"/>
          <a:lstStyle/>
          <a:p>
            <a:pPr marL="0" indent="0" algn="ctr">
              <a:buNone/>
            </a:pPr>
            <a:r>
              <a:rPr lang="en-US" sz="1800" b="1" dirty="0">
                <a:solidFill>
                  <a:srgbClr val="3B0764"/>
                </a:solidFill>
                <a:latin typeface="맑은 고딕" pitchFamily="34" charset="0"/>
                <a:ea typeface="맑은 고딕" pitchFamily="34" charset="-122"/>
                <a:cs typeface="맑은 고딕" pitchFamily="34" charset="-120"/>
              </a:rPr>
              <a:t>상황에 맞는 C++ 자료형을 골라봐요!</a:t>
            </a:r>
            <a:endParaRPr lang="en-US" sz="1800" dirty="0"/>
          </a:p>
        </p:txBody>
      </p:sp>
      <p:sp>
        <p:nvSpPr>
          <p:cNvPr id="11" name="Text 9">
            <a:extLst>
              <a:ext uri="{FF2B5EF4-FFF2-40B4-BE49-F238E27FC236}">
                <a16:creationId xmlns:a16="http://schemas.microsoft.com/office/drawing/2014/main" id="{C2C7E178-0DDB-2B9C-9964-2D7F79A01247}"/>
              </a:ext>
            </a:extLst>
          </p:cNvPr>
          <p:cNvSpPr/>
          <p:nvPr/>
        </p:nvSpPr>
        <p:spPr>
          <a:xfrm>
            <a:off x="640080" y="1554480"/>
            <a:ext cx="7863840" cy="283464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Q1. 배터리 잔량(%)을 저장하려면? → _____ battery = 80; (정답: int)</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Q2. 정밀 고도(m)를 저장하려면? → _____ altitude = 2.35; (정답: double)</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Q3. 드론 이름을 저장하려면? → _____ name = "코딩버드"; (정답: string)</a:t>
            </a:r>
            <a:endParaRPr lang="en-US" sz="1600" dirty="0"/>
          </a:p>
          <a:p>
            <a:pPr marL="203200" indent="-203200">
              <a:lnSpc>
                <a:spcPct val="130000"/>
              </a:lnSpc>
              <a:spcAft>
                <a:spcPts val="1000"/>
              </a:spcAft>
              <a:buSzPct val="100000"/>
              <a:buChar char="•"/>
            </a:pPr>
            <a:r>
              <a:rPr lang="en-US" sz="1600" dirty="0">
                <a:solidFill>
                  <a:srgbClr val="3B0764"/>
                </a:solidFill>
                <a:latin typeface="맑은 고딕" pitchFamily="34" charset="0"/>
                <a:ea typeface="맑은 고딕" pitchFamily="34" charset="-122"/>
                <a:cs typeface="맑은 고딕" pitchFamily="34" charset="-120"/>
              </a:rPr>
              <a:t>Q4. 날고 있는지 여부를 저장하려면? → _____ isFlying = true; (정답: bool)</a:t>
            </a:r>
            <a:endParaRPr lang="en-US" sz="1600" dirty="0"/>
          </a:p>
        </p:txBody>
      </p:sp>
      <p:sp>
        <p:nvSpPr>
          <p:cNvPr id="13" name="Text 10">
            <a:extLst>
              <a:ext uri="{FF2B5EF4-FFF2-40B4-BE49-F238E27FC236}">
                <a16:creationId xmlns:a16="http://schemas.microsoft.com/office/drawing/2014/main" id="{395C5749-80E0-0F25-4A0C-9B3DAE7554AC}"/>
              </a:ext>
            </a:extLst>
          </p:cNvPr>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1">
            <a:extLst>
              <a:ext uri="{FF2B5EF4-FFF2-40B4-BE49-F238E27FC236}">
                <a16:creationId xmlns:a16="http://schemas.microsoft.com/office/drawing/2014/main" id="{A563FF34-D4B4-7AA0-C2B8-0C12FAA65AD8}"/>
              </a:ext>
            </a:extLst>
          </p:cNvPr>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17 / 17</a:t>
            </a:r>
            <a:endParaRPr lang="en-US" sz="900" dirty="0"/>
          </a:p>
        </p:txBody>
      </p:sp>
    </p:spTree>
    <p:extLst>
      <p:ext uri="{BB962C8B-B14F-4D97-AF65-F5344CB8AC3E}">
        <p14:creationId xmlns:p14="http://schemas.microsoft.com/office/powerpoint/2010/main" val="11525253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0E67B-0BCB-7390-D0BC-FA29D68D602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9F824DE-3B4D-C330-42AB-8EBF84017363}"/>
              </a:ext>
            </a:extLst>
          </p:cNvPr>
          <p:cNvSpPr/>
          <p:nvPr/>
        </p:nvSpPr>
        <p:spPr>
          <a:xfrm>
            <a:off x="0" y="0"/>
            <a:ext cx="9144000" cy="658368"/>
          </a:xfrm>
          <a:prstGeom prst="rect">
            <a:avLst/>
          </a:prstGeom>
          <a:solidFill>
            <a:srgbClr val="6D28D9"/>
          </a:solidFill>
          <a:ln w="12700">
            <a:solidFill>
              <a:srgbClr val="6D28D9"/>
            </a:solidFill>
            <a:prstDash val="solid"/>
          </a:ln>
        </p:spPr>
        <p:txBody>
          <a:bodyPr/>
          <a:lstStyle/>
          <a:p>
            <a:endParaRPr lang="ko-KR" altLang="en-US"/>
          </a:p>
        </p:txBody>
      </p:sp>
      <p:sp>
        <p:nvSpPr>
          <p:cNvPr id="3" name="Shape 1">
            <a:extLst>
              <a:ext uri="{FF2B5EF4-FFF2-40B4-BE49-F238E27FC236}">
                <a16:creationId xmlns:a16="http://schemas.microsoft.com/office/drawing/2014/main" id="{7A086553-921D-2354-AA1D-C83D4C642ABB}"/>
              </a:ext>
            </a:extLst>
          </p:cNvPr>
          <p:cNvSpPr/>
          <p:nvPr/>
        </p:nvSpPr>
        <p:spPr>
          <a:xfrm>
            <a:off x="0" y="0"/>
            <a:ext cx="5486400" cy="658368"/>
          </a:xfrm>
          <a:prstGeom prst="rect">
            <a:avLst/>
          </a:prstGeom>
          <a:solidFill>
            <a:srgbClr val="8B5CF6"/>
          </a:solidFill>
          <a:ln w="12700">
            <a:solidFill>
              <a:srgbClr val="8B5CF6"/>
            </a:solidFill>
            <a:prstDash val="solid"/>
          </a:ln>
        </p:spPr>
        <p:txBody>
          <a:bodyPr/>
          <a:lstStyle/>
          <a:p>
            <a:endParaRPr lang="ko-KR" altLang="en-US"/>
          </a:p>
        </p:txBody>
      </p:sp>
      <p:sp>
        <p:nvSpPr>
          <p:cNvPr id="4" name="Shape 2">
            <a:extLst>
              <a:ext uri="{FF2B5EF4-FFF2-40B4-BE49-F238E27FC236}">
                <a16:creationId xmlns:a16="http://schemas.microsoft.com/office/drawing/2014/main" id="{3324050F-977D-40BF-423C-A3040A802CC8}"/>
              </a:ext>
            </a:extLst>
          </p:cNvPr>
          <p:cNvSpPr/>
          <p:nvPr/>
        </p:nvSpPr>
        <p:spPr>
          <a:xfrm>
            <a:off x="3657600" y="0"/>
            <a:ext cx="3657600" cy="658368"/>
          </a:xfrm>
          <a:prstGeom prst="rect">
            <a:avLst/>
          </a:prstGeom>
          <a:solidFill>
            <a:srgbClr val="8B5CF6">
              <a:alpha val="50000"/>
            </a:srgbClr>
          </a:solidFill>
          <a:ln w="12700">
            <a:solidFill>
              <a:srgbClr val="8B5CF6"/>
            </a:solidFill>
            <a:prstDash val="solid"/>
          </a:ln>
        </p:spPr>
        <p:txBody>
          <a:bodyPr/>
          <a:lstStyle/>
          <a:p>
            <a:endParaRPr lang="ko-KR" altLang="en-US"/>
          </a:p>
        </p:txBody>
      </p:sp>
      <p:sp>
        <p:nvSpPr>
          <p:cNvPr id="5" name="Text 3">
            <a:extLst>
              <a:ext uri="{FF2B5EF4-FFF2-40B4-BE49-F238E27FC236}">
                <a16:creationId xmlns:a16="http://schemas.microsoft.com/office/drawing/2014/main" id="{D744F61E-1880-06F0-285B-0DDCC40808D2}"/>
              </a:ext>
            </a:extLst>
          </p:cNvPr>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a:extLst>
              <a:ext uri="{FF2B5EF4-FFF2-40B4-BE49-F238E27FC236}">
                <a16:creationId xmlns:a16="http://schemas.microsoft.com/office/drawing/2014/main" id="{E5B649CC-B2C5-209F-05C9-5980FA3F16FB}"/>
              </a:ext>
            </a:extLst>
          </p:cNvPr>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자료형 퀴즈</a:t>
            </a:r>
            <a:endParaRPr lang="en-US" sz="2800" dirty="0"/>
          </a:p>
        </p:txBody>
      </p:sp>
      <p:sp>
        <p:nvSpPr>
          <p:cNvPr id="7" name="Shape 5">
            <a:extLst>
              <a:ext uri="{FF2B5EF4-FFF2-40B4-BE49-F238E27FC236}">
                <a16:creationId xmlns:a16="http://schemas.microsoft.com/office/drawing/2014/main" id="{709129F8-7064-6C9A-C36A-CA8CCF79A222}"/>
              </a:ext>
            </a:extLst>
          </p:cNvPr>
          <p:cNvSpPr/>
          <p:nvPr/>
        </p:nvSpPr>
        <p:spPr>
          <a:xfrm>
            <a:off x="7955280" y="91440"/>
            <a:ext cx="1005840" cy="320040"/>
          </a:xfrm>
          <a:prstGeom prst="roundRect">
            <a:avLst>
              <a:gd name="adj" fmla="val 34286"/>
            </a:avLst>
          </a:prstGeom>
          <a:solidFill>
            <a:srgbClr val="A78BFA"/>
          </a:solidFill>
          <a:ln w="12700">
            <a:solidFill>
              <a:srgbClr val="A78BFA"/>
            </a:solidFill>
            <a:prstDash val="solid"/>
          </a:ln>
        </p:spPr>
        <p:txBody>
          <a:bodyPr/>
          <a:lstStyle/>
          <a:p>
            <a:endParaRPr lang="ko-KR" altLang="en-US"/>
          </a:p>
        </p:txBody>
      </p:sp>
      <p:sp>
        <p:nvSpPr>
          <p:cNvPr id="8" name="Text 6">
            <a:extLst>
              <a:ext uri="{FF2B5EF4-FFF2-40B4-BE49-F238E27FC236}">
                <a16:creationId xmlns:a16="http://schemas.microsoft.com/office/drawing/2014/main" id="{0F569752-7D51-33B9-B9EF-A5BE3DE005E5}"/>
              </a:ext>
            </a:extLst>
          </p:cNvPr>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3주차</a:t>
            </a:r>
            <a:endParaRPr lang="en-US" sz="1200" dirty="0"/>
          </a:p>
        </p:txBody>
      </p:sp>
      <p:sp>
        <p:nvSpPr>
          <p:cNvPr id="9" name="Shape 7">
            <a:extLst>
              <a:ext uri="{FF2B5EF4-FFF2-40B4-BE49-F238E27FC236}">
                <a16:creationId xmlns:a16="http://schemas.microsoft.com/office/drawing/2014/main" id="{E08F318A-1765-0964-447B-8D92F09146B4}"/>
              </a:ext>
            </a:extLst>
          </p:cNvPr>
          <p:cNvSpPr/>
          <p:nvPr/>
        </p:nvSpPr>
        <p:spPr>
          <a:xfrm>
            <a:off x="457200" y="822960"/>
            <a:ext cx="8229600" cy="548640"/>
          </a:xfrm>
          <a:prstGeom prst="roundRect">
            <a:avLst>
              <a:gd name="adj" fmla="val 16667"/>
            </a:avLst>
          </a:prstGeom>
          <a:solidFill>
            <a:srgbClr val="A78BFA">
              <a:alpha val="15000"/>
            </a:srgbClr>
          </a:solidFill>
          <a:ln w="12700">
            <a:solidFill>
              <a:srgbClr val="A78BFA"/>
            </a:solidFill>
            <a:prstDash val="solid"/>
          </a:ln>
        </p:spPr>
        <p:txBody>
          <a:bodyPr/>
          <a:lstStyle/>
          <a:p>
            <a:endParaRPr lang="ko-KR" altLang="en-US"/>
          </a:p>
        </p:txBody>
      </p:sp>
      <p:sp>
        <p:nvSpPr>
          <p:cNvPr id="10" name="Text 8">
            <a:extLst>
              <a:ext uri="{FF2B5EF4-FFF2-40B4-BE49-F238E27FC236}">
                <a16:creationId xmlns:a16="http://schemas.microsoft.com/office/drawing/2014/main" id="{3DB6C53A-D1C8-3F17-6909-5165A0734444}"/>
              </a:ext>
            </a:extLst>
          </p:cNvPr>
          <p:cNvSpPr/>
          <p:nvPr/>
        </p:nvSpPr>
        <p:spPr>
          <a:xfrm>
            <a:off x="640080" y="896112"/>
            <a:ext cx="7863840" cy="365760"/>
          </a:xfrm>
          <a:prstGeom prst="rect">
            <a:avLst/>
          </a:prstGeom>
          <a:noFill/>
          <a:ln/>
        </p:spPr>
        <p:txBody>
          <a:bodyPr wrap="square" rtlCol="0" anchor="ctr"/>
          <a:lstStyle/>
          <a:p>
            <a:pPr marL="0" indent="0" algn="ctr">
              <a:buNone/>
            </a:pPr>
            <a:r>
              <a:rPr lang="en-US" sz="1800" b="1" dirty="0">
                <a:solidFill>
                  <a:srgbClr val="3B0764"/>
                </a:solidFill>
                <a:latin typeface="맑은 고딕" pitchFamily="34" charset="0"/>
                <a:ea typeface="맑은 고딕" pitchFamily="34" charset="-122"/>
                <a:cs typeface="맑은 고딕" pitchFamily="34" charset="-120"/>
              </a:rPr>
              <a:t>상황에 </a:t>
            </a:r>
            <a:r>
              <a:rPr lang="en-US" sz="1800" b="1" dirty="0" err="1">
                <a:solidFill>
                  <a:srgbClr val="3B0764"/>
                </a:solidFill>
                <a:latin typeface="맑은 고딕" pitchFamily="34" charset="0"/>
                <a:ea typeface="맑은 고딕" pitchFamily="34" charset="-122"/>
                <a:cs typeface="맑은 고딕" pitchFamily="34" charset="-120"/>
              </a:rPr>
              <a:t>맞는</a:t>
            </a:r>
            <a:r>
              <a:rPr lang="en-US" sz="1800" b="1" dirty="0">
                <a:solidFill>
                  <a:srgbClr val="3B0764"/>
                </a:solidFill>
                <a:latin typeface="맑은 고딕" pitchFamily="34" charset="0"/>
                <a:ea typeface="맑은 고딕" pitchFamily="34" charset="-122"/>
                <a:cs typeface="맑은 고딕" pitchFamily="34" charset="-120"/>
              </a:rPr>
              <a:t> python </a:t>
            </a:r>
            <a:r>
              <a:rPr lang="en-US" sz="1800" b="1" dirty="0" err="1">
                <a:solidFill>
                  <a:srgbClr val="3B0764"/>
                </a:solidFill>
                <a:latin typeface="맑은 고딕" pitchFamily="34" charset="0"/>
                <a:ea typeface="맑은 고딕" pitchFamily="34" charset="-122"/>
                <a:cs typeface="맑은 고딕" pitchFamily="34" charset="-120"/>
              </a:rPr>
              <a:t>자료형을</a:t>
            </a:r>
            <a:r>
              <a:rPr lang="en-US" sz="1800" b="1" dirty="0">
                <a:solidFill>
                  <a:srgbClr val="3B0764"/>
                </a:solidFill>
                <a:latin typeface="맑은 고딕" pitchFamily="34" charset="0"/>
                <a:ea typeface="맑은 고딕" pitchFamily="34" charset="-122"/>
                <a:cs typeface="맑은 고딕" pitchFamily="34" charset="-120"/>
              </a:rPr>
              <a:t> 골라봐요!</a:t>
            </a:r>
            <a:endParaRPr lang="en-US" sz="1800" dirty="0"/>
          </a:p>
        </p:txBody>
      </p:sp>
      <p:sp>
        <p:nvSpPr>
          <p:cNvPr id="11" name="Text 9">
            <a:extLst>
              <a:ext uri="{FF2B5EF4-FFF2-40B4-BE49-F238E27FC236}">
                <a16:creationId xmlns:a16="http://schemas.microsoft.com/office/drawing/2014/main" id="{C80D4767-3B54-5A2D-402A-A15726CADD08}"/>
              </a:ext>
            </a:extLst>
          </p:cNvPr>
          <p:cNvSpPr/>
          <p:nvPr/>
        </p:nvSpPr>
        <p:spPr>
          <a:xfrm>
            <a:off x="640080" y="1554480"/>
            <a:ext cx="7863840" cy="2834640"/>
          </a:xfrm>
          <a:prstGeom prst="rect">
            <a:avLst/>
          </a:prstGeom>
          <a:noFill/>
          <a:ln/>
        </p:spPr>
        <p:txBody>
          <a:bodyPr wrap="square" lIns="254" tIns="254" rIns="254" bIns="254" rtlCol="0" anchor="t">
            <a:normAutofit fontScale="25000" lnSpcReduction="20000"/>
          </a:bodyPr>
          <a:lstStyle/>
          <a:p>
            <a:pPr marL="285750" indent="-285750">
              <a:buFont typeface="Arial" panose="020B0604020202020204" pitchFamily="34" charset="0"/>
              <a:buChar char="•"/>
            </a:pPr>
            <a:r>
              <a:rPr lang="en-US" sz="6400" dirty="0">
                <a:solidFill>
                  <a:srgbClr val="3B0764"/>
                </a:solidFill>
                <a:latin typeface="맑은 고딕" pitchFamily="34" charset="0"/>
                <a:ea typeface="맑은 고딕" pitchFamily="34" charset="-122"/>
                <a:cs typeface="맑은 고딕" pitchFamily="34" charset="-120"/>
              </a:rPr>
              <a:t>Q1. </a:t>
            </a:r>
            <a:r>
              <a:rPr lang="ko-KR" altLang="en-US" sz="6400" dirty="0">
                <a:solidFill>
                  <a:srgbClr val="3B0764"/>
                </a:solidFill>
                <a:latin typeface="맑은 고딕" pitchFamily="34" charset="0"/>
                <a:ea typeface="맑은 고딕" pitchFamily="34" charset="-122"/>
                <a:cs typeface="맑은 고딕" pitchFamily="34" charset="-120"/>
              </a:rPr>
              <a:t>문제</a:t>
            </a:r>
            <a:r>
              <a:rPr lang="en-US" altLang="ko-KR" sz="6400" dirty="0">
                <a:solidFill>
                  <a:srgbClr val="3B0764"/>
                </a:solidFill>
                <a:latin typeface="맑은 고딕" pitchFamily="34" charset="0"/>
                <a:ea typeface="맑은 고딕" pitchFamily="34" charset="-122"/>
                <a:cs typeface="맑은 고딕" pitchFamily="34" charset="-120"/>
              </a:rPr>
              <a:t>:</a:t>
            </a:r>
            <a:r>
              <a:rPr lang="ko-KR" altLang="en-US" sz="6400" dirty="0"/>
              <a:t> 다음 값을 변수에 저장하려고 합니다</a:t>
            </a:r>
            <a:r>
              <a:rPr lang="en-US" altLang="ko-KR" sz="6400" dirty="0"/>
              <a:t>.</a:t>
            </a:r>
          </a:p>
          <a:p>
            <a:r>
              <a:rPr lang="ko-KR" altLang="en-US" sz="6400" dirty="0"/>
              <a:t>따옴표</a:t>
            </a:r>
            <a:r>
              <a:rPr lang="en-US" altLang="ko-KR" sz="6400" dirty="0"/>
              <a:t>("")</a:t>
            </a:r>
            <a:r>
              <a:rPr lang="ko-KR" altLang="en-US" sz="6400" dirty="0"/>
              <a:t>가 필요하면 ○</a:t>
            </a:r>
            <a:r>
              <a:rPr lang="en-US" altLang="ko-KR" sz="6400" dirty="0"/>
              <a:t>, </a:t>
            </a:r>
            <a:r>
              <a:rPr lang="ko-KR" altLang="en-US" sz="6400" dirty="0" err="1"/>
              <a:t>필요없으면</a:t>
            </a:r>
            <a:r>
              <a:rPr lang="ko-KR" altLang="en-US" sz="6400" dirty="0"/>
              <a:t> ✕ 하세요</a:t>
            </a:r>
          </a:p>
          <a:p>
            <a:pPr marL="285750" indent="-285750">
              <a:buFont typeface="Arial" panose="020B0604020202020204" pitchFamily="34" charset="0"/>
              <a:buChar char="•"/>
            </a:pPr>
            <a:endParaRPr lang="en-US" sz="6400" dirty="0">
              <a:solidFill>
                <a:srgbClr val="3B0764"/>
              </a:solidFill>
              <a:latin typeface="맑은 고딕" pitchFamily="34" charset="0"/>
              <a:ea typeface="맑은 고딕" pitchFamily="34" charset="-122"/>
              <a:cs typeface="맑은 고딕" pitchFamily="34" charset="-120"/>
            </a:endParaRPr>
          </a:p>
          <a:p>
            <a:r>
              <a:rPr lang="en-US" altLang="ko-KR" sz="6400" dirty="0"/>
              <a:t> name = </a:t>
            </a:r>
            <a:r>
              <a:rPr lang="ko-KR" altLang="en-US" sz="6400" dirty="0"/>
              <a:t>홍길동        </a:t>
            </a:r>
            <a:r>
              <a:rPr lang="en-US" altLang="ko-KR" sz="6400" dirty="0"/>
              <a:t>(  )</a:t>
            </a:r>
          </a:p>
          <a:p>
            <a:r>
              <a:rPr lang="en-US" altLang="ko-KR" sz="6400" dirty="0"/>
              <a:t>age = 12             (  )</a:t>
            </a:r>
          </a:p>
          <a:p>
            <a:r>
              <a:rPr lang="en-US" altLang="ko-KR" sz="6400" dirty="0"/>
              <a:t>ban = 3</a:t>
            </a:r>
            <a:r>
              <a:rPr lang="ko-KR" altLang="en-US" sz="6400" dirty="0"/>
              <a:t>학년 </a:t>
            </a:r>
            <a:r>
              <a:rPr lang="en-US" altLang="ko-KR" sz="6400" dirty="0"/>
              <a:t>2</a:t>
            </a:r>
            <a:r>
              <a:rPr lang="ko-KR" altLang="en-US" sz="6400" dirty="0"/>
              <a:t>반      </a:t>
            </a:r>
            <a:r>
              <a:rPr lang="en-US" altLang="ko-KR" sz="6400" dirty="0"/>
              <a:t>(  )</a:t>
            </a:r>
          </a:p>
          <a:p>
            <a:r>
              <a:rPr lang="en-US" altLang="ko-KR" sz="6400" dirty="0"/>
              <a:t>height = 152.5       (  )</a:t>
            </a:r>
          </a:p>
          <a:p>
            <a:r>
              <a:rPr lang="en-US" altLang="ko-KR" sz="6400" dirty="0"/>
              <a:t>phone = 010-1234-5678 (  )</a:t>
            </a:r>
          </a:p>
          <a:p>
            <a:pPr marL="285750" indent="-285750">
              <a:buFont typeface="Arial" panose="020B0604020202020204" pitchFamily="34" charset="0"/>
              <a:buChar char="•"/>
            </a:pPr>
            <a:endParaRPr lang="en-US" sz="6400" dirty="0">
              <a:solidFill>
                <a:srgbClr val="3B0764"/>
              </a:solidFill>
              <a:latin typeface="맑은 고딕" pitchFamily="34" charset="0"/>
              <a:ea typeface="맑은 고딕" pitchFamily="34" charset="-122"/>
              <a:cs typeface="맑은 고딕" pitchFamily="34" charset="-120"/>
            </a:endParaRPr>
          </a:p>
          <a:p>
            <a:endParaRPr lang="en-US" altLang="ko-KR" sz="6400" dirty="0"/>
          </a:p>
          <a:p>
            <a:pPr marL="285750" indent="-285750">
              <a:buFont typeface="Arial" panose="020B0604020202020204" pitchFamily="34" charset="0"/>
              <a:buChar char="•"/>
            </a:pPr>
            <a:r>
              <a:rPr lang="en-US" altLang="ko-KR" sz="6400" dirty="0">
                <a:solidFill>
                  <a:srgbClr val="3B0764"/>
                </a:solidFill>
                <a:latin typeface="맑은 고딕" pitchFamily="34" charset="0"/>
                <a:ea typeface="맑은 고딕" pitchFamily="34" charset="-122"/>
                <a:cs typeface="맑은 고딕" pitchFamily="34" charset="-120"/>
              </a:rPr>
              <a:t>Q2. </a:t>
            </a:r>
            <a:r>
              <a:rPr lang="ko-KR" altLang="en-US" sz="6400" dirty="0"/>
              <a:t>문제</a:t>
            </a:r>
            <a:r>
              <a:rPr lang="en-US" altLang="ko-KR" sz="6400" dirty="0"/>
              <a:t>: </a:t>
            </a:r>
            <a:r>
              <a:rPr lang="ko-KR" altLang="en-US" sz="6400" dirty="0"/>
              <a:t>이 코드를 실행하면 뭐가 나올까요</a:t>
            </a:r>
            <a:r>
              <a:rPr lang="en-US" altLang="ko-KR" sz="6400" dirty="0"/>
              <a:t>?</a:t>
            </a:r>
          </a:p>
          <a:p>
            <a:endParaRPr lang="en-US" altLang="ko-KR" sz="6400" dirty="0"/>
          </a:p>
          <a:p>
            <a:r>
              <a:rPr lang="en-US" altLang="ko-KR" sz="6400" dirty="0"/>
              <a:t>a = "7"</a:t>
            </a:r>
          </a:p>
          <a:p>
            <a:r>
              <a:rPr lang="en-US" altLang="ko-KR" sz="6400" dirty="0"/>
              <a:t>b = "3"</a:t>
            </a:r>
          </a:p>
          <a:p>
            <a:r>
              <a:rPr lang="en-US" altLang="ko-KR" sz="6400" dirty="0"/>
              <a:t>print(a + b)</a:t>
            </a:r>
          </a:p>
          <a:p>
            <a:br>
              <a:rPr lang="ko-KR" altLang="en-US" sz="1600" dirty="0"/>
            </a:br>
            <a:endParaRPr lang="en-US" sz="1600" dirty="0"/>
          </a:p>
        </p:txBody>
      </p:sp>
      <p:sp>
        <p:nvSpPr>
          <p:cNvPr id="13" name="Text 10">
            <a:extLst>
              <a:ext uri="{FF2B5EF4-FFF2-40B4-BE49-F238E27FC236}">
                <a16:creationId xmlns:a16="http://schemas.microsoft.com/office/drawing/2014/main" id="{3F2802C5-969C-7083-C31B-DD716F7AE28E}"/>
              </a:ext>
            </a:extLst>
          </p:cNvPr>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1">
            <a:extLst>
              <a:ext uri="{FF2B5EF4-FFF2-40B4-BE49-F238E27FC236}">
                <a16:creationId xmlns:a16="http://schemas.microsoft.com/office/drawing/2014/main" id="{65B4E8D0-E80B-B97B-F8EF-FAE480C5160B}"/>
              </a:ext>
            </a:extLst>
          </p:cNvPr>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17 / 17</a:t>
            </a:r>
            <a:endParaRPr lang="en-US" sz="900" dirty="0"/>
          </a:p>
        </p:txBody>
      </p:sp>
    </p:spTree>
    <p:extLst>
      <p:ext uri="{BB962C8B-B14F-4D97-AF65-F5344CB8AC3E}">
        <p14:creationId xmlns:p14="http://schemas.microsoft.com/office/powerpoint/2010/main" val="13000515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2572</Words>
  <Application>Microsoft Macintosh PowerPoint</Application>
  <PresentationFormat>화면 슬라이드 쇼(16:9)</PresentationFormat>
  <Paragraphs>300</Paragraphs>
  <Slides>20</Slides>
  <Notes>20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20</vt:i4>
      </vt:variant>
    </vt:vector>
  </HeadingPairs>
  <TitlesOfParts>
    <vt:vector size="23" baseType="lpstr">
      <vt:lpstr>맑은 고딕</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3주차 비행의 원리</dc:title>
  <dc:subject>초등생 드론 코딩 교실 3주차</dc:subject>
  <dc:creator>강경태 (UNIST)</dc:creator>
  <cp:lastModifiedBy>(대학원생) 강경태 (기계공학과)</cp:lastModifiedBy>
  <cp:revision>5</cp:revision>
  <dcterms:created xsi:type="dcterms:W3CDTF">2026-03-18T03:43:40Z</dcterms:created>
  <dcterms:modified xsi:type="dcterms:W3CDTF">2026-03-18T04:33:03Z</dcterms:modified>
</cp:coreProperties>
</file>