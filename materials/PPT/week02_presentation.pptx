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78" r:id="rId5"/>
    <p:sldId id="261" r:id="rId6"/>
    <p:sldId id="262" r:id="rId7"/>
    <p:sldId id="263" r:id="rId8"/>
    <p:sldId id="264" r:id="rId9"/>
    <p:sldId id="275" r:id="rId10"/>
    <p:sldId id="266" r:id="rId11"/>
    <p:sldId id="267" r:id="rId12"/>
    <p:sldId id="279" r:id="rId13"/>
    <p:sldId id="280" r:id="rId14"/>
    <p:sldId id="281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3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16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50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여러분! 지난 주에 드론이 무엇인지, 어떤 종류가 있는지 배웠죠? 오늘은 드론 몸통 안에 어떤 부품들이 들어있는지 한번 파헤쳐 볼 거예요. 마치 드론을 유리로 만들어서 속이 다 보이는 것처럼 하나하나 살펴볼 거예요. 재미있을 것 같죠?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우리가 달성할 목표를 같이 읽어봐요. 드론 안에 있는 다섯 가지 핵심 부품, 즉 프로펠러, 모터, 프레임, 배터리, 비행 컨트롤러를 배울 거예요. 이름이 좀 어렵게 느껴질 수 있지만, 하나씩 친숙한 예시로 설명해 줄 테니 걱정하지 마세요. 수업이 끝나면 여러분이 친구한테 직접 설명해줄 수 있을 정도로 이해하게 될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오늘 수업의 지도예요. 드론 그림에 번호가 붙어있는 것 보이죠? 1번부터 5번까지 하나씩 자세히 설명해 줄 거예요. 먼저 전체 그림을 보고, 이 부품들이 어디에 붙어있는지 대략 눈에 익혀두세요. 오늘 수업 끝에 다시 이 그림을 보면 훨씬 더 잘 보일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프로펠러는 드론에서 가장 눈에 잘 띄는 부품이에요. 선풍기 날개처럼 생겼는데, 아주 빠르게 돌아가면서 공기를 아래로 밀어내요. 공기가 아래로 밀리면 그 반대로 드론이 위로 올라가는 원리예요. 수영장에서 물을 아래로 차면 몸이 위로 올라오는 것과 같아요! 프로펠러는 조심해야 해요. 빠르게 돌면 손가락이 다칠 수 있으니 절대 손으로 잡지 마세요.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모터는 배터리에서 오는 전기를 받아서 프로펠러를 돌려주는 장치예요. 선풍기에도 모터가 들어있어서 날개를 돌려주죠? 드론에는 브러시리스 모터라는 특별한 종류가 쓰여요. 오래되어도 잘 닳지 않고 아주 빠르게 돌 수 있어요. 네 개의 모터 중 어떤 것은 빠르게, 어떤 것은 느리게 돌려서 드론이 앞뒤 좌우로 움직일 수 있답니다!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프레임은 드론의 뼈대예요. 우리 몸에도 뼈가 없으면 흐물흐물해서 설 수 없는 것처럼, 드론도 프레임이 없으면 부품들이 제자리를 못 잡아요. 드론 프레임은 가벼우면서 튼튼해야 해서 탄소 섬유나 특수 플라스틱으로 만들어요. 프레임 끝에 뻗어 나온 팔 모양의 암(Arm)이 모터와 프로펠러를 달고 있어요. X자 모양이 가장 흔하죠!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배터리는 드론의 에너지를 담아두는 창고예요. 스마트폰 배터리와 비슷하게 생겼지만 드론에는 LiPo, 즉 리튬 폴리머 배터리를 써요. 가볍고 전기를 많이 담을 수 있어서 드론에 딱 맞아요. 하지만 한 번 충전하면 대부분 10~25분 정도밖에 못 날아요. 배터리 경고음이 울리면 바로 착륙해야 해요, 안 그러면 드론이 갑자기 떨어질 수 있거든요!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비행 컨트롤러는 드론에서 가장 중요한 부품이에요. 우리 몸의 뇌처럼 모든 결정을 내리는 역할을 해요. 드론이 기울어지면 어떤 모터를 더 빠르게 돌려서 균형을 잡을지 계산하는 것도 FC가 해요. 나중에 우리가 코딩으로 드론에게 '앞으로 가', '왼쪽으로 돌아' 라고 명령을 내릴 때, 그 명령을 직접 받는 게 바로 이 비행 컨트롤러예요!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드론 부품이 아직 헷갈리나요? 그러면 우리 몸과 비교해볼게요! 비행 컨트롤러는 모든 걸 판단하는 뇌, 배터리는 에너지를 공급하는 심장, 프레임은 몸을 지탱하는 뼈대, 모터는 움직임을 만드는 근육, 프로펠러는 실제로 일을 하는 손발이에요. 이렇게 생각하면 훨씬 기억하기 쉽죠? 사람 몸과 드론이 정말 비슷하게 생겼네요!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각 부품을 다 배웠으니, 부품들이 어떻게 연결되어 있는지 알아볼게요. 배터리에서 나온 전기는 비행 컨트롤러와 모터로 흘러가요. 우리가 조종기로 '앞으로 가'라는 신호를 보내면, 그 신호가 비행 컨트롤러로 가서 '앞쪽 모터를 조금 느리게 해!'라는 명령을 내려요. 그러면 드론이 앞으로 기울면서 앞진하게 되죠. 모든 게 1초도 안 되는 시간에 일어나요!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 시간이에요! 오늘 배운 부품 이름을 잘 기억하고 있는지 확인해봐요. 선생님이 힌트를 하나씩 읽으면 손을 들고 답을 말해줘요. 첫 번째 문제, 드론의 두뇌 역할을 하는 부품은 무엇일까요? 맞아요, 비행 컨트롤러예요! 두 번째, 프로펠러를 직접 돌려주는 것은? 세 번째, 전기를 공급하는 창고 역할은? 다들 잘 알고 있네요!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3082-8FC9-13D0-EFE6-9AFCB94CF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2C75C-91C4-3652-201C-B698CE7F0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0638E-555F-A34F-F987-B64D7D90A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 시간이에요! 오늘 배운 부품 이름을 잘 기억하고 있는지 확인해봐요. 선생님이 힌트를 하나씩 읽으면 손을 들고 답을 말해줘요. 첫 번째 문제, 드론의 두뇌 역할을 하는 부품은 무엇일까요? 맞아요, 비행 컨트롤러예요! 두 번째, 프로펠러를 직접 돌려주는 것은? 세 번째, 전기를 공급하는 창고 역할은? 다들 잘 알고 있네요!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C16F9-51F7-6CFD-63F1-693932061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51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570B8-3BB8-405C-75DB-E7FD186F8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4ADC9-65F5-7065-412C-EDA1EF089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48A37-411B-1251-A1D9-07D624E9A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 시간이에요! 오늘 배운 부품 이름을 잘 기억하고 있는지 확인해봐요. 선생님이 힌트를 하나씩 읽으면 손을 들고 답을 말해줘요. 첫 번째 문제, 드론의 두뇌 역할을 하는 부품은 무엇일까요? 맞아요, 비행 컨트롤러예요! 두 번째, 프로펠러를 직접 돌려주는 것은? 세 번째, 전기를 공급하는 창고 역할은? 다들 잘 알고 있네요!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521A8-8744-563E-F1E7-0544D09120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05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6FEF6-02A4-79AC-5690-6639679F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A381F-4153-9C71-E20D-2AECB17EB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FFB8D-70EA-8CBD-4F8A-1C1900CB5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 시간이에요! 오늘 배운 부품 이름을 잘 기억하고 있는지 확인해봐요. 선생님이 힌트를 하나씩 읽으면 손을 들고 답을 말해줘요. 첫 번째 문제, 드론의 두뇌 역할을 하는 부품은 무엇일까요? 맞아요, 비행 컨트롤러예요! 두 번째, 프로펠러를 직접 돌려주는 것은? 세 번째, 전기를 공급하는 창고 역할은? 다들 잘 알고 있네요!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74D21-AEEC-43BB-7758-D4D68050CF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8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드론 부품을 모두 배웠어요, 정말 잘했어요! 다음 주엔 드론이 어떻게 앞뒤로 가고 좌우로 도는지, 그 움직임의 원리를 배울 거예요. 스로틀, 롤, 피치, 요라는 멋진 이름의 움직임들인데, 이름만 들으면 어렵지만 실제로 보면 금방 이해할 수 있어요. 집에 가서 오늘 배운 부품 이름을 가족한테 설명해보세요. 설명할 수 있으면 진짜 아는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코딩 타임이에요! 지난 시간에 print()를 배웠죠? 오늘은 변수를 배울 거예요. 변수는 값을 담아두는 상자와 같아요. 오늘 배운 드론 구조에서 프로펠러가 4개, 모터도 4개라고 했죠? 이런 숫자들을 코드에서 기억해두려면 변수를 사용하면 돼요!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변수를 이해하는 가장 쉬운 방법은 상자를 떠올리는 거예요. 상자에 "propellers"라는 이름표를 붙이고, 그 안에 숫자 4를 넣는 거예요. 나중에 propellers라고 부르면 상자를 열어서 4라는 값을 꺼내줘요. 드론의 프로펠러 수, 이름, 속도 같은 정보를 모두 변수에 저장할 수 있답니다!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코드를 보면, propellers라는 변수에 4를, name이라는 변수에 "CoDrone"이라는 글자를 넣었어요. 그리고 print()로 변수의 값을 출력하면 화면에 나타나요. 지난 시간에 배운 print()와 오늘 배운 변수를 합치면 더 멋진 코드를 만들 수 있죠!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시뮬레이터를 열고 학습 모드에서 레슨 2를 선택하세요. 변수에 값을 넣고 print()로 출력하는 예제를 직접 실행해보세요. 연습문제에서는 animal이라는 변수에 좋아하는 동물 이름을 넣고 출력하면 돼요. 다 한 친구는 변수 값을 바꿔서 다른 동물로 출력해보세요!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2/slide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064E3B">
              <a:alpha val="80000"/>
            </a:srgbClr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2주차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구조 — 드론 몸속 여행!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각 부품이 어떤 역할을 하는지 오늘 모두 배운다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프로펠러·모터·프레임·배터리·비행 컨트롤러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수업이 끝나면 드론 5대 부품의 이름과 역할을 모두 설명할 수 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프로펠러의 역할을 설명할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모터가 프로펠러를 돌리는 원리를 말할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프레임·배터리·비행 컨트롤러(FC)의 기능을 각각 설명할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부품들이 서로 어떻게 연결되는지 말할 수 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전체 구조 한눈에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드론은 프로펠러·모터·프레임·배터리·비행 컨트롤러 5가지 핵심 부품으로 이루어진다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프로펠러 — 공기를 아래로 밀어 드론을 띄운다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모터 — 프로펠러를 빠르게 돌린다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프레임 — 모든 부품을 잡아주는 뼈대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배터리 — 드론에 전기를 공급한다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비행 컨트롤러(FC) — 드론의 두뇌, 모든 것을 제어한다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Users/admin/Desktop/codrone/materials/PPT/.ppt-work/images/week02/slide0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프로펠러 (Propeller)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664387"/>
            <a:ext cx="4572000" cy="646331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프로펠러 회전 → 양력 발생 → 드론이 하늘로!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21610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spAutoFit/>
          </a:bodyPr>
          <a:lstStyle/>
          <a:p>
            <a:pPr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양력이란?</a:t>
            </a: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프로펠러가 돌면서 공기를 아래로 밀어내면, 반작용으로 드론을 위로 밀어 올리는 힘</a:t>
            </a:r>
          </a:p>
          <a:p>
            <a:pPr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⬆ 상승:</a:t>
            </a: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프로펠러를 더 빠르게 돌리면 양력 &gt; 중력 → 위로 떠오름!</a:t>
            </a:r>
          </a:p>
          <a:p>
            <a:pPr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⬇ 하강:</a:t>
            </a: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프로펠러를 느리게 돌리면 양력 &lt; 중력 → 아래로 내려감</a:t>
            </a:r>
          </a:p>
          <a:p>
            <a:pPr marL="203200" indent="-2032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호버링:</a:t>
            </a: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양력 = 중력이면 제자리에서 떠 있음</a:t>
            </a:r>
          </a:p>
        </p:txBody>
      </p:sp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17</a:t>
            </a:r>
            <a:endParaRPr lang="en-US" sz="900" dirty="0"/>
          </a:p>
        </p:txBody>
      </p:sp>
      <p:pic>
        <p:nvPicPr>
          <p:cNvPr id="20" name="그림 1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C05419-7A84-748D-5C3D-8E4938A9C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371" y="3312174"/>
            <a:ext cx="3175000" cy="161745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28DC76B-637E-AE88-AE19-CEC86297862F}"/>
              </a:ext>
            </a:extLst>
          </p:cNvPr>
          <p:cNvSpPr txBox="1"/>
          <p:nvPr/>
        </p:nvSpPr>
        <p:spPr>
          <a:xfrm>
            <a:off x="5294811" y="1245326"/>
            <a:ext cx="3666309" cy="1844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altLang="ko-KR" sz="1400" b="1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CW(시계 방향)</a:t>
            </a:r>
            <a:r>
              <a:rPr lang="en-US" altLang="ko-KR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</a:t>
            </a:r>
            <a:r>
              <a:rPr lang="en-US" altLang="ko-KR" sz="1400" b="1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CCW(반시계 방향)</a:t>
            </a:r>
            <a:r>
              <a:rPr lang="en-US" altLang="ko-KR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프로펠러가 대각선으로 짝을 이뤄 서로 반대로 회전</a:t>
            </a:r>
          </a:p>
          <a:p>
            <a:pPr marL="203200" indent="-2032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altLang="ko-KR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회전력(토크)을 상쇄해서 드론이 빙글빙글 안 돌고 안정 비행!</a:t>
            </a:r>
          </a:p>
          <a:p>
            <a:pPr marL="203200" indent="-2032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altLang="ko-KR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쿼드콥터: 4개 / 헥사콥터: 6개</a:t>
            </a:r>
          </a:p>
        </p:txBody>
      </p:sp>
    </p:spTree>
    <p:extLst>
      <p:ext uri="{BB962C8B-B14F-4D97-AF65-F5344CB8AC3E}">
        <p14:creationId xmlns:p14="http://schemas.microsoft.com/office/powerpoint/2010/main" val="258511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모터 (Motor)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모터는 전기 에너지를 받아 프로펠러를 회전시키는 드론의 심장이다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→ 회전 운동으로 변환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브러시리스(Brushless) 모터 사용 — 빠르고 오래가요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프로펠러마다 모터 1개씩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 회전 속도를 바꿔 드론 방향을 제어해요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Users/admin/Desktop/codrone/materials/PPT/.ppt-work/images/week02/slide0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프레임 (Frame)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프레임은 모든 부품을 제자리에 붙들어 주는 드론의 뼈대이다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몸통, 뼈대 역할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가볍고 튼튼한 카본 파이버(탄소섬유) 또는 플라스틱 소재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암(Arm): 프레임에서 뻗어 나온 팔, 모터를 지지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무게와 강도의 균형이 중요해요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Users/admin/Desktop/codrone/materials/PPT/.ppt-work/images/week02/slide0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배터리 (Battery)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배터리는 드론에 전기를 공급하는 에너지원으로 LiPo 배터리가 주로 쓰인다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에너지 창고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LiPo(리튬 폴리머) 배터리 — 가볍고 많은 전기 저장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충전 시 비행 시간 약 10~25분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잔량 부족 시 경고음 → 즉시 착륙!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Users/admin/Desktop/codrone/materials/PPT/.ppt-work/images/week02/slide0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비행 컨트롤러 (FC, Flight Controller)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 컨트롤러는 센서 정보를 받아 모터를 제어하는 드론의 두뇌이다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두뇌(컴퓨터)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자이로·가속도 센서로 기울기·속도 측정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조종 신호를 받아 4개 모터 속도를 계산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코딩으로 명령을 내리는 대상이 바로 FC!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Users/admin/Desktop/codrone/materials/PPT/.ppt-work/images/week02/slide0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ody201"/>
          <p:cNvSpPr/>
          <p:nvPr/>
        </p:nvSpPr>
        <p:spPr>
          <a:xfrm>
            <a:off x="457200" y="863600"/>
            <a:ext cx="3835400" cy="351790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064E3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드론과 사람 몸 비교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 컨트롤러 = 뇌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= 심장(에너지 공급)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 = 뼈대(골격)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 = 근육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프로펠러 = 손발(직접 일하는 부분)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 → 심장 → 뼈 → 근육 → 손발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17</a:t>
            </a:r>
            <a:endParaRPr lang="en-US" sz="900" dirty="0"/>
          </a:p>
        </p:txBody>
      </p:sp>
      <p:sp>
        <p:nvSpPr>
          <p:cNvPr id="201" name="Body202"/>
          <p:cNvSpPr/>
          <p:nvPr/>
        </p:nvSpPr>
        <p:spPr>
          <a:xfrm>
            <a:off x="1993900" y="990600"/>
            <a:ext cx="457200" cy="457200"/>
          </a:xfrm>
          <a:prstGeom prst="ellipse">
            <a:avLst/>
          </a:prstGeom>
          <a:solidFill>
            <a:srgbClr val="C084FC"/>
          </a:solidFill>
          <a:ln w="15875">
            <a:solidFill>
              <a:srgbClr val="7C3AE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2" name="Body203"/>
          <p:cNvSpPr/>
          <p:nvPr/>
        </p:nvSpPr>
        <p:spPr>
          <a:xfrm>
            <a:off x="2146300" y="1447800"/>
            <a:ext cx="152400" cy="1524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03" name="Body204"/>
          <p:cNvSpPr/>
          <p:nvPr/>
        </p:nvSpPr>
        <p:spPr>
          <a:xfrm>
            <a:off x="1841500" y="1600200"/>
            <a:ext cx="762000" cy="571500"/>
          </a:xfrm>
          <a:prstGeom prst="roundRect">
            <a:avLst/>
          </a:prstGeom>
          <a:solidFill>
            <a:srgbClr val="FCA5A5"/>
          </a:solidFill>
          <a:ln w="15875">
            <a:solidFill>
              <a:srgbClr val="DC2626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4" name="Body205"/>
          <p:cNvSpPr/>
          <p:nvPr/>
        </p:nvSpPr>
        <p:spPr>
          <a:xfrm>
            <a:off x="1866900" y="2171700"/>
            <a:ext cx="711200" cy="635000"/>
          </a:xfrm>
          <a:prstGeom prst="roundRect">
            <a:avLst/>
          </a:prstGeom>
          <a:solidFill>
            <a:srgbClr val="93C5FD"/>
          </a:solidFill>
          <a:ln w="15875">
            <a:solidFill>
              <a:srgbClr val="2563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5" name="Body206"/>
          <p:cNvSpPr/>
          <p:nvPr/>
        </p:nvSpPr>
        <p:spPr>
          <a:xfrm>
            <a:off x="1562100" y="1651000"/>
            <a:ext cx="228600" cy="825500"/>
          </a:xfrm>
          <a:prstGeom prst="roundRect">
            <a:avLst/>
          </a:prstGeom>
          <a:solidFill>
            <a:srgbClr val="86EFAC"/>
          </a:solidFill>
          <a:ln w="15875">
            <a:solidFill>
              <a:srgbClr val="16A34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6" name="Body207"/>
          <p:cNvSpPr/>
          <p:nvPr/>
        </p:nvSpPr>
        <p:spPr>
          <a:xfrm>
            <a:off x="2654300" y="1651000"/>
            <a:ext cx="228600" cy="825500"/>
          </a:xfrm>
          <a:prstGeom prst="roundRect">
            <a:avLst/>
          </a:prstGeom>
          <a:solidFill>
            <a:srgbClr val="86EFAC"/>
          </a:solidFill>
          <a:ln w="15875">
            <a:solidFill>
              <a:srgbClr val="16A34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7" name="Body208"/>
          <p:cNvSpPr/>
          <p:nvPr/>
        </p:nvSpPr>
        <p:spPr>
          <a:xfrm>
            <a:off x="1524000" y="2476500"/>
            <a:ext cx="203200" cy="203200"/>
          </a:xfrm>
          <a:prstGeom prst="ellipse">
            <a:avLst/>
          </a:prstGeom>
          <a:solidFill>
            <a:srgbClr val="FDBA74"/>
          </a:solidFill>
          <a:ln w="15875">
            <a:solidFill>
              <a:srgbClr val="EA580C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8" name="Body209"/>
          <p:cNvSpPr/>
          <p:nvPr/>
        </p:nvSpPr>
        <p:spPr>
          <a:xfrm>
            <a:off x="2717800" y="2476500"/>
            <a:ext cx="203200" cy="203200"/>
          </a:xfrm>
          <a:prstGeom prst="ellipse">
            <a:avLst/>
          </a:prstGeom>
          <a:solidFill>
            <a:srgbClr val="FDBA74"/>
          </a:solidFill>
          <a:ln w="15875">
            <a:solidFill>
              <a:srgbClr val="EA580C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09" name="Body210"/>
          <p:cNvSpPr/>
          <p:nvPr/>
        </p:nvSpPr>
        <p:spPr>
          <a:xfrm>
            <a:off x="1943100" y="2806700"/>
            <a:ext cx="228600" cy="889000"/>
          </a:xfrm>
          <a:prstGeom prst="roundRect">
            <a:avLst/>
          </a:prstGeom>
          <a:solidFill>
            <a:srgbClr val="93C5FD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0" name="Body211"/>
          <p:cNvSpPr/>
          <p:nvPr/>
        </p:nvSpPr>
        <p:spPr>
          <a:xfrm>
            <a:off x="2273300" y="2806700"/>
            <a:ext cx="228600" cy="889000"/>
          </a:xfrm>
          <a:prstGeom prst="roundRect">
            <a:avLst/>
          </a:prstGeom>
          <a:solidFill>
            <a:srgbClr val="93C5FD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1" name="Body212"/>
          <p:cNvSpPr/>
          <p:nvPr/>
        </p:nvSpPr>
        <p:spPr>
          <a:xfrm>
            <a:off x="1892300" y="3695700"/>
            <a:ext cx="304800" cy="177800"/>
          </a:xfrm>
          <a:prstGeom prst="roundRect">
            <a:avLst/>
          </a:prstGeom>
          <a:solidFill>
            <a:srgbClr val="FDBA74"/>
          </a:solidFill>
          <a:ln w="15875">
            <a:solidFill>
              <a:srgbClr val="EA580C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2" name="Body213"/>
          <p:cNvSpPr/>
          <p:nvPr/>
        </p:nvSpPr>
        <p:spPr>
          <a:xfrm>
            <a:off x="2247900" y="3695700"/>
            <a:ext cx="304800" cy="177800"/>
          </a:xfrm>
          <a:prstGeom prst="roundRect">
            <a:avLst/>
          </a:prstGeom>
          <a:solidFill>
            <a:srgbClr val="FDBA74"/>
          </a:solidFill>
          <a:ln w="15875">
            <a:solidFill>
              <a:srgbClr val="EA580C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3" name="Lbl214"/>
          <p:cNvSpPr/>
          <p:nvPr/>
        </p:nvSpPr>
        <p:spPr>
          <a:xfrm>
            <a:off x="584200" y="952500"/>
            <a:ext cx="914400" cy="30480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27000" tIns="18000" rIns="27000" bIns="18000" anchor="ctr"/>
          <a:lstStyle/>
          <a:p>
            <a:pPr algn="ctr"/>
            <a:r>
              <a:rPr lang="ko-KR" sz="12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</a:rPr>
              <a:t>🧠 뇌</a:t>
            </a:r>
          </a:p>
        </p:txBody>
      </p:sp>
      <p:cxnSp>
        <p:nvCxnSpPr>
          <p:cNvPr id="214" name="Cn215"/>
          <p:cNvCxnSpPr/>
          <p:nvPr/>
        </p:nvCxnSpPr>
        <p:spPr>
          <a:xfrm>
            <a:off x="1498600" y="1143000"/>
            <a:ext cx="495300" cy="38100"/>
          </a:xfrm>
          <a:prstGeom prst="line">
            <a:avLst/>
          </a:prstGeom>
          <a:ln w="19050">
            <a:solidFill>
              <a:srgbClr val="7C3AED"/>
            </a:solidFill>
            <a:prstDash val="dash"/>
            <a:round/>
          </a:ln>
        </p:spPr>
      </p:cxnSp>
      <p:sp>
        <p:nvSpPr>
          <p:cNvPr id="215" name="Lbl216"/>
          <p:cNvSpPr/>
          <p:nvPr/>
        </p:nvSpPr>
        <p:spPr>
          <a:xfrm>
            <a:off x="482600" y="1739900"/>
            <a:ext cx="990600" cy="30480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27000" tIns="18000" rIns="27000" bIns="18000" anchor="ctr"/>
          <a:lstStyle/>
          <a:p>
            <a:pPr algn="ctr"/>
            <a:r>
              <a:rPr lang="ko-KR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</a:rPr>
              <a:t>❤️ 심장</a:t>
            </a:r>
          </a:p>
        </p:txBody>
      </p:sp>
      <p:cxnSp>
        <p:nvCxnSpPr>
          <p:cNvPr id="216" name="Cn217"/>
          <p:cNvCxnSpPr/>
          <p:nvPr/>
        </p:nvCxnSpPr>
        <p:spPr>
          <a:xfrm flipV="1">
            <a:off x="1473200" y="1879600"/>
            <a:ext cx="368300" cy="12700"/>
          </a:xfrm>
          <a:prstGeom prst="line">
            <a:avLst/>
          </a:prstGeom>
          <a:ln w="19050">
            <a:solidFill>
              <a:srgbClr val="DC2626"/>
            </a:solidFill>
            <a:prstDash val="dash"/>
            <a:round/>
          </a:ln>
        </p:spPr>
      </p:cxnSp>
      <p:sp>
        <p:nvSpPr>
          <p:cNvPr id="217" name="Lbl218"/>
          <p:cNvSpPr/>
          <p:nvPr/>
        </p:nvSpPr>
        <p:spPr>
          <a:xfrm>
            <a:off x="3175000" y="2222500"/>
            <a:ext cx="990600" cy="30480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27000" tIns="18000" rIns="27000" bIns="18000" anchor="ctr"/>
          <a:lstStyle/>
          <a:p>
            <a:pPr algn="ctr"/>
            <a:r>
              <a:rPr lang="ko-KR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</a:rPr>
              <a:t>🦴 뼈대</a:t>
            </a:r>
          </a:p>
        </p:txBody>
      </p:sp>
      <p:cxnSp>
        <p:nvCxnSpPr>
          <p:cNvPr id="218" name="Cn219"/>
          <p:cNvCxnSpPr/>
          <p:nvPr/>
        </p:nvCxnSpPr>
        <p:spPr>
          <a:xfrm flipH="1">
            <a:off x="2578100" y="2374900"/>
            <a:ext cx="596900" cy="63500"/>
          </a:xfrm>
          <a:prstGeom prst="line">
            <a:avLst/>
          </a:prstGeom>
          <a:ln w="19050">
            <a:solidFill>
              <a:srgbClr val="2563EB"/>
            </a:solidFill>
            <a:prstDash val="dash"/>
            <a:round/>
          </a:ln>
        </p:spPr>
      </p:cxnSp>
      <p:sp>
        <p:nvSpPr>
          <p:cNvPr id="219" name="Lbl220"/>
          <p:cNvSpPr/>
          <p:nvPr/>
        </p:nvSpPr>
        <p:spPr>
          <a:xfrm>
            <a:off x="3175000" y="1676400"/>
            <a:ext cx="990600" cy="3048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27000" tIns="18000" rIns="27000" bIns="18000" anchor="ctr"/>
          <a:lstStyle/>
          <a:p>
            <a:pPr algn="ctr"/>
            <a:r>
              <a:rPr lang="ko-KR" sz="12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</a:rPr>
              <a:t>💪 근육</a:t>
            </a:r>
          </a:p>
        </p:txBody>
      </p:sp>
      <p:cxnSp>
        <p:nvCxnSpPr>
          <p:cNvPr id="220" name="Cn221"/>
          <p:cNvCxnSpPr/>
          <p:nvPr/>
        </p:nvCxnSpPr>
        <p:spPr>
          <a:xfrm flipH="1">
            <a:off x="2882900" y="1828800"/>
            <a:ext cx="292100" cy="139700"/>
          </a:xfrm>
          <a:prstGeom prst="line">
            <a:avLst/>
          </a:prstGeom>
          <a:ln w="19050">
            <a:solidFill>
              <a:srgbClr val="16A34A"/>
            </a:solidFill>
            <a:prstDash val="dash"/>
            <a:round/>
          </a:ln>
        </p:spPr>
      </p:cxnSp>
      <p:sp>
        <p:nvSpPr>
          <p:cNvPr id="221" name="Lbl222"/>
          <p:cNvSpPr/>
          <p:nvPr/>
        </p:nvSpPr>
        <p:spPr>
          <a:xfrm>
            <a:off x="3175000" y="3136900"/>
            <a:ext cx="990600" cy="30480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lIns="27000" tIns="18000" rIns="27000" bIns="18000" anchor="ctr"/>
          <a:lstStyle/>
          <a:p>
            <a:pPr algn="ctr"/>
            <a:r>
              <a:rPr lang="ko-KR" sz="12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</a:rPr>
              <a:t>🖐️ 손발</a:t>
            </a:r>
          </a:p>
        </p:txBody>
      </p:sp>
      <p:cxnSp>
        <p:nvCxnSpPr>
          <p:cNvPr id="222" name="Cn223"/>
          <p:cNvCxnSpPr/>
          <p:nvPr/>
        </p:nvCxnSpPr>
        <p:spPr>
          <a:xfrm flipH="1" flipV="1">
            <a:off x="2921000" y="2578100"/>
            <a:ext cx="254000" cy="711200"/>
          </a:xfrm>
          <a:prstGeom prst="line">
            <a:avLst/>
          </a:prstGeom>
          <a:ln w="19050">
            <a:solidFill>
              <a:srgbClr val="EA580C"/>
            </a:solidFill>
            <a:prstDash val="dash"/>
            <a:round/>
          </a:ln>
        </p:spPr>
      </p:cxnSp>
    </p:spTree>
    <p:extLst>
      <p:ext uri="{BB962C8B-B14F-4D97-AF65-F5344CB8AC3E}">
        <p14:creationId xmlns:p14="http://schemas.microsoft.com/office/powerpoint/2010/main" val="492863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연결 관계도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→ 비행 컨트롤러 → 모터 → 프로펠러 순서로 에너지와 신호가 흐른다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→ 전기 공급 → FC &amp; 모터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 → 신호 → 모터 4개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 → 회전 → 프로펠러 4개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조종기 → 무선 신호 → FC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 → 센서 피드백 → 자동 균형 유지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Users/admin/Desktop/codrone/materials/PPT/.ppt-work/images/week02/slide1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퀴즈 — 맞혀봐요!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37160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7160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'두뇌' 역할을 하는 부품은?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6052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C6F5-DCD6-C48E-7465-D2B83B8FD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7052D8-5598-FAF9-244F-59CA92CED826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08C9C8-2498-6ADB-FC69-C4E35A8B86B9}"/>
              </a:ext>
            </a:extLst>
          </p:cNvPr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AEF3627-7D64-DA87-C50D-D4B844E145C5}"/>
              </a:ext>
            </a:extLst>
          </p:cNvPr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B624D2-14DA-9DED-CD59-FEC23AA601FD}"/>
              </a:ext>
            </a:extLst>
          </p:cNvPr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E9F5A9C-6204-AB69-8F36-EFD4128D6358}"/>
              </a:ext>
            </a:extLst>
          </p:cNvPr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퀴즈 — 맞혀봐요!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754CF4C-8499-6B0E-7D86-402DE0E86328}"/>
              </a:ext>
            </a:extLst>
          </p:cNvPr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8F98ECF-5ACD-4E9D-DAF8-01E225C9AD77}"/>
              </a:ext>
            </a:extLst>
          </p:cNvPr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095A9E-8FDF-9ACD-1F8A-C9159C3B2314}"/>
              </a:ext>
            </a:extLst>
          </p:cNvPr>
          <p:cNvSpPr/>
          <p:nvPr/>
        </p:nvSpPr>
        <p:spPr>
          <a:xfrm>
            <a:off x="48463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A0C042F-220F-1EC0-D00D-40601E7FA330}"/>
              </a:ext>
            </a:extLst>
          </p:cNvPr>
          <p:cNvSpPr/>
          <p:nvPr/>
        </p:nvSpPr>
        <p:spPr>
          <a:xfrm>
            <a:off x="45720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0017F19-F164-9793-885C-DA5DBBD5B34B}"/>
              </a:ext>
            </a:extLst>
          </p:cNvPr>
          <p:cNvSpPr/>
          <p:nvPr/>
        </p:nvSpPr>
        <p:spPr>
          <a:xfrm>
            <a:off x="137160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1D6D36-6390-259E-37BB-DAE6CF958712}"/>
              </a:ext>
            </a:extLst>
          </p:cNvPr>
          <p:cNvSpPr/>
          <p:nvPr/>
        </p:nvSpPr>
        <p:spPr>
          <a:xfrm>
            <a:off x="137160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2B63218-A85E-9754-D06F-C19A733AF378}"/>
              </a:ext>
            </a:extLst>
          </p:cNvPr>
          <p:cNvSpPr/>
          <p:nvPr/>
        </p:nvSpPr>
        <p:spPr>
          <a:xfrm>
            <a:off x="62179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'두뇌' 역할을 하는 부품은?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4FABC37-C379-3430-72FA-8F8D4ADC2502}"/>
              </a:ext>
            </a:extLst>
          </p:cNvPr>
          <p:cNvSpPr/>
          <p:nvPr/>
        </p:nvSpPr>
        <p:spPr>
          <a:xfrm>
            <a:off x="594360" y="3291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862380E-13DD-EB9B-CB4D-EA47DE5D05F9}"/>
              </a:ext>
            </a:extLst>
          </p:cNvPr>
          <p:cNvSpPr/>
          <p:nvPr/>
        </p:nvSpPr>
        <p:spPr>
          <a:xfrm>
            <a:off x="685800" y="340156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비행 컨트롤러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65A068-6A31-0BE3-0493-0D372798DCEF}"/>
              </a:ext>
            </a:extLst>
          </p:cNvPr>
          <p:cNvSpPr/>
          <p:nvPr/>
        </p:nvSpPr>
        <p:spPr>
          <a:xfrm>
            <a:off x="685800" y="36576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판단을 내리는 드론의 두뇌예요.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C3A1F12-E5E3-2521-DDD4-5BA3A8AE81AE}"/>
              </a:ext>
            </a:extLst>
          </p:cNvPr>
          <p:cNvSpPr/>
          <p:nvPr/>
        </p:nvSpPr>
        <p:spPr>
          <a:xfrm>
            <a:off x="327355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D33DF11-8449-0DD3-5064-EE87A984D8F5}"/>
              </a:ext>
            </a:extLst>
          </p:cNvPr>
          <p:cNvSpPr/>
          <p:nvPr/>
        </p:nvSpPr>
        <p:spPr>
          <a:xfrm>
            <a:off x="324612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B6DB2F1-A225-8210-8ADB-19B6BD889E92}"/>
              </a:ext>
            </a:extLst>
          </p:cNvPr>
          <p:cNvSpPr/>
          <p:nvPr/>
        </p:nvSpPr>
        <p:spPr>
          <a:xfrm>
            <a:off x="416052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AC9C5D6-3C9E-C80C-B3ED-CB5EE6E7B466}"/>
              </a:ext>
            </a:extLst>
          </p:cNvPr>
          <p:cNvSpPr/>
          <p:nvPr/>
        </p:nvSpPr>
        <p:spPr>
          <a:xfrm>
            <a:off x="416052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887C69A-2E43-2828-0355-386584C84E3A}"/>
              </a:ext>
            </a:extLst>
          </p:cNvPr>
          <p:cNvSpPr/>
          <p:nvPr/>
        </p:nvSpPr>
        <p:spPr>
          <a:xfrm>
            <a:off x="341071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프로펠러를 직접 돌려주는 부품은?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E0E5E5E-9D55-A214-75D9-6850B8E06BE3}"/>
              </a:ext>
            </a:extLst>
          </p:cNvPr>
          <p:cNvSpPr/>
          <p:nvPr/>
        </p:nvSpPr>
        <p:spPr>
          <a:xfrm>
            <a:off x="606247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DB3469B-83C7-851D-F026-981FED890E9B}"/>
              </a:ext>
            </a:extLst>
          </p:cNvPr>
          <p:cNvSpPr/>
          <p:nvPr/>
        </p:nvSpPr>
        <p:spPr>
          <a:xfrm>
            <a:off x="603504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3EC75D4-BCC4-105C-29D3-3FDFCE0706EB}"/>
              </a:ext>
            </a:extLst>
          </p:cNvPr>
          <p:cNvSpPr/>
          <p:nvPr/>
        </p:nvSpPr>
        <p:spPr>
          <a:xfrm>
            <a:off x="694944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0FE8E95-0947-4AF0-8BB3-F2600B96054B}"/>
              </a:ext>
            </a:extLst>
          </p:cNvPr>
          <p:cNvSpPr/>
          <p:nvPr/>
        </p:nvSpPr>
        <p:spPr>
          <a:xfrm>
            <a:off x="694944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7B5D5EB-46C8-3D05-E4D3-C989598C6FBC}"/>
              </a:ext>
            </a:extLst>
          </p:cNvPr>
          <p:cNvSpPr/>
          <p:nvPr/>
        </p:nvSpPr>
        <p:spPr>
          <a:xfrm>
            <a:off x="619963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드론에 전기 에너지를 공급하는 부품은?</a:t>
            </a:r>
            <a:endParaRPr lang="en-US" sz="14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D16EFBBF-33BE-B902-243F-0A12853700FB}"/>
              </a:ext>
            </a:extLst>
          </p:cNvPr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B1C1ACE6-317D-B053-7A40-054AE1C28780}"/>
              </a:ext>
            </a:extLst>
          </p:cNvPr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38632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1389E-160D-CE75-1D83-E49C0253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67546B-1449-E2AF-9220-989B6FA93CC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4E4DE1-753D-91A2-487C-4A885929C6BA}"/>
              </a:ext>
            </a:extLst>
          </p:cNvPr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0FBD339-D53D-A61D-B021-C6DF16B0807E}"/>
              </a:ext>
            </a:extLst>
          </p:cNvPr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1BF4D6-0B2A-77CC-A34A-4BCB542895EB}"/>
              </a:ext>
            </a:extLst>
          </p:cNvPr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C818C87-2B78-2D22-A385-5969549EDE3F}"/>
              </a:ext>
            </a:extLst>
          </p:cNvPr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퀴즈 — 맞혀봐요!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A6ED280-404E-B78C-6F8C-52C48840028A}"/>
              </a:ext>
            </a:extLst>
          </p:cNvPr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7F17E2-F205-8404-677C-7B58C9028763}"/>
              </a:ext>
            </a:extLst>
          </p:cNvPr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C99E9B-2927-C55A-321F-3A878CA2D43F}"/>
              </a:ext>
            </a:extLst>
          </p:cNvPr>
          <p:cNvSpPr/>
          <p:nvPr/>
        </p:nvSpPr>
        <p:spPr>
          <a:xfrm>
            <a:off x="48463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4D35886-F936-8E81-2E52-91448767F7E8}"/>
              </a:ext>
            </a:extLst>
          </p:cNvPr>
          <p:cNvSpPr/>
          <p:nvPr/>
        </p:nvSpPr>
        <p:spPr>
          <a:xfrm>
            <a:off x="45720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A8B6EBE-BF1C-57CF-D41E-83020651CDDA}"/>
              </a:ext>
            </a:extLst>
          </p:cNvPr>
          <p:cNvSpPr/>
          <p:nvPr/>
        </p:nvSpPr>
        <p:spPr>
          <a:xfrm>
            <a:off x="137160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957D594-6232-B3CA-9DAE-8A7DBC4F717F}"/>
              </a:ext>
            </a:extLst>
          </p:cNvPr>
          <p:cNvSpPr/>
          <p:nvPr/>
        </p:nvSpPr>
        <p:spPr>
          <a:xfrm>
            <a:off x="137160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6AB2341-3478-D198-C9F8-996E15A0DC1F}"/>
              </a:ext>
            </a:extLst>
          </p:cNvPr>
          <p:cNvSpPr/>
          <p:nvPr/>
        </p:nvSpPr>
        <p:spPr>
          <a:xfrm>
            <a:off x="62179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'두뇌' 역할을 하는 부품은?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B927F90-59BB-87DA-E5E3-72E5EFC60B54}"/>
              </a:ext>
            </a:extLst>
          </p:cNvPr>
          <p:cNvSpPr/>
          <p:nvPr/>
        </p:nvSpPr>
        <p:spPr>
          <a:xfrm>
            <a:off x="594360" y="3291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78254F3-994D-A306-6D93-310FFDAD31C2}"/>
              </a:ext>
            </a:extLst>
          </p:cNvPr>
          <p:cNvSpPr/>
          <p:nvPr/>
        </p:nvSpPr>
        <p:spPr>
          <a:xfrm>
            <a:off x="685800" y="340156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비행 컨트롤러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4EF73B7-445F-7925-7312-DE403A2750FD}"/>
              </a:ext>
            </a:extLst>
          </p:cNvPr>
          <p:cNvSpPr/>
          <p:nvPr/>
        </p:nvSpPr>
        <p:spPr>
          <a:xfrm>
            <a:off x="685800" y="36576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판단을 내리는 드론의 두뇌예요.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D187817-F6DF-C06F-14C2-E3449E26DAB5}"/>
              </a:ext>
            </a:extLst>
          </p:cNvPr>
          <p:cNvSpPr/>
          <p:nvPr/>
        </p:nvSpPr>
        <p:spPr>
          <a:xfrm>
            <a:off x="327355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300BF3B-7AB8-6BEE-D02E-CD49A6988B67}"/>
              </a:ext>
            </a:extLst>
          </p:cNvPr>
          <p:cNvSpPr/>
          <p:nvPr/>
        </p:nvSpPr>
        <p:spPr>
          <a:xfrm>
            <a:off x="324612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33B239B-0751-9E68-5ED9-F6F39A882AF5}"/>
              </a:ext>
            </a:extLst>
          </p:cNvPr>
          <p:cNvSpPr/>
          <p:nvPr/>
        </p:nvSpPr>
        <p:spPr>
          <a:xfrm>
            <a:off x="416052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DEF9859-0901-AF73-D359-4E506B2F4445}"/>
              </a:ext>
            </a:extLst>
          </p:cNvPr>
          <p:cNvSpPr/>
          <p:nvPr/>
        </p:nvSpPr>
        <p:spPr>
          <a:xfrm>
            <a:off x="416052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966452C-919A-2358-B0FE-8530527017A5}"/>
              </a:ext>
            </a:extLst>
          </p:cNvPr>
          <p:cNvSpPr/>
          <p:nvPr/>
        </p:nvSpPr>
        <p:spPr>
          <a:xfrm>
            <a:off x="341071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프로펠러를 직접 돌려주는 부품은?</a:t>
            </a:r>
            <a:endParaRPr lang="en-US" sz="1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13E90D4-E962-DE8C-7490-374850661D23}"/>
              </a:ext>
            </a:extLst>
          </p:cNvPr>
          <p:cNvSpPr/>
          <p:nvPr/>
        </p:nvSpPr>
        <p:spPr>
          <a:xfrm>
            <a:off x="3383280" y="3291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3B0464B-AD35-9DC5-1304-80884C654C4A}"/>
              </a:ext>
            </a:extLst>
          </p:cNvPr>
          <p:cNvSpPr/>
          <p:nvPr/>
        </p:nvSpPr>
        <p:spPr>
          <a:xfrm>
            <a:off x="3474720" y="340156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모터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A6EE6E5-90F5-01C2-B5FF-61AFB9D2F100}"/>
              </a:ext>
            </a:extLst>
          </p:cNvPr>
          <p:cNvSpPr/>
          <p:nvPr/>
        </p:nvSpPr>
        <p:spPr>
          <a:xfrm>
            <a:off x="3474720" y="36576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받아 프로펠러를 돌려줘요.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4E5C170-A8E9-07B1-F60A-28048B63A9DC}"/>
              </a:ext>
            </a:extLst>
          </p:cNvPr>
          <p:cNvSpPr/>
          <p:nvPr/>
        </p:nvSpPr>
        <p:spPr>
          <a:xfrm>
            <a:off x="606247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8CBF7C7-A84A-BBE0-48D9-20BF010C4375}"/>
              </a:ext>
            </a:extLst>
          </p:cNvPr>
          <p:cNvSpPr/>
          <p:nvPr/>
        </p:nvSpPr>
        <p:spPr>
          <a:xfrm>
            <a:off x="603504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859909E-8F50-E54E-9F8F-C90040A2F8B0}"/>
              </a:ext>
            </a:extLst>
          </p:cNvPr>
          <p:cNvSpPr/>
          <p:nvPr/>
        </p:nvSpPr>
        <p:spPr>
          <a:xfrm>
            <a:off x="694944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40FAE17-D5C5-8530-88BA-0BA1142C6A44}"/>
              </a:ext>
            </a:extLst>
          </p:cNvPr>
          <p:cNvSpPr/>
          <p:nvPr/>
        </p:nvSpPr>
        <p:spPr>
          <a:xfrm>
            <a:off x="694944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28AB870-7D83-BE98-D9AF-D5C290996DE0}"/>
              </a:ext>
            </a:extLst>
          </p:cNvPr>
          <p:cNvSpPr/>
          <p:nvPr/>
        </p:nvSpPr>
        <p:spPr>
          <a:xfrm>
            <a:off x="619963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드론에 전기 에너지를 공급하는 부품은?</a:t>
            </a:r>
            <a:endParaRPr lang="en-US" sz="14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2971C80F-1584-18B7-65D1-55E6C6D6E56E}"/>
              </a:ext>
            </a:extLst>
          </p:cNvPr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D36DBF26-0F6C-F5C4-672A-BC6235E1BE45}"/>
              </a:ext>
            </a:extLst>
          </p:cNvPr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03025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32D2D-8F4F-4EE9-9B1B-93A43F56B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CAED68-32DD-05B8-7382-2074E6D6EC2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7A28AD-B884-5F45-F8F6-72867E9358D8}"/>
              </a:ext>
            </a:extLst>
          </p:cNvPr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6A983A-2F4B-0190-1007-2ADDDE163CF5}"/>
              </a:ext>
            </a:extLst>
          </p:cNvPr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2951EF-53BE-F21A-1CF5-909C309AB77C}"/>
              </a:ext>
            </a:extLst>
          </p:cNvPr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E229F9-4F9C-53AF-6961-96C1DB088AF9}"/>
              </a:ext>
            </a:extLst>
          </p:cNvPr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퀴즈 — 맞혀봐요!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ED560F8-9BFA-6096-7366-390517D8B4AE}"/>
              </a:ext>
            </a:extLst>
          </p:cNvPr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B5DED3A-83E6-A64F-386A-69DD834CA8AA}"/>
              </a:ext>
            </a:extLst>
          </p:cNvPr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30AD628-FDC4-3190-08A6-928654905420}"/>
              </a:ext>
            </a:extLst>
          </p:cNvPr>
          <p:cNvSpPr/>
          <p:nvPr/>
        </p:nvSpPr>
        <p:spPr>
          <a:xfrm>
            <a:off x="48463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BFC2EA0-1237-F617-DB4B-3092BAD1E333}"/>
              </a:ext>
            </a:extLst>
          </p:cNvPr>
          <p:cNvSpPr/>
          <p:nvPr/>
        </p:nvSpPr>
        <p:spPr>
          <a:xfrm>
            <a:off x="45720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85AEF8C-5302-174D-8A05-7079ABA091D9}"/>
              </a:ext>
            </a:extLst>
          </p:cNvPr>
          <p:cNvSpPr/>
          <p:nvPr/>
        </p:nvSpPr>
        <p:spPr>
          <a:xfrm>
            <a:off x="137160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8746AE5-DA17-C9F7-916E-844785E743DA}"/>
              </a:ext>
            </a:extLst>
          </p:cNvPr>
          <p:cNvSpPr/>
          <p:nvPr/>
        </p:nvSpPr>
        <p:spPr>
          <a:xfrm>
            <a:off x="137160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B245D49-EBF9-249C-9605-6CEC12216946}"/>
              </a:ext>
            </a:extLst>
          </p:cNvPr>
          <p:cNvSpPr/>
          <p:nvPr/>
        </p:nvSpPr>
        <p:spPr>
          <a:xfrm>
            <a:off x="62179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드론의 '두뇌' 역할을 하는 부품은?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EC1753E-1580-C5E5-E357-99D2D15C9AA8}"/>
              </a:ext>
            </a:extLst>
          </p:cNvPr>
          <p:cNvSpPr/>
          <p:nvPr/>
        </p:nvSpPr>
        <p:spPr>
          <a:xfrm>
            <a:off x="594360" y="3291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CC0B56C-E3B4-769A-9D9B-B493E856ECE6}"/>
              </a:ext>
            </a:extLst>
          </p:cNvPr>
          <p:cNvSpPr/>
          <p:nvPr/>
        </p:nvSpPr>
        <p:spPr>
          <a:xfrm>
            <a:off x="685800" y="340156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비행 컨트롤러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2D1F35B-9955-41CB-AC0A-331E6BCA1B56}"/>
              </a:ext>
            </a:extLst>
          </p:cNvPr>
          <p:cNvSpPr/>
          <p:nvPr/>
        </p:nvSpPr>
        <p:spPr>
          <a:xfrm>
            <a:off x="685800" y="36576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판단을 내리는 드론의 두뇌예요.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6D76716-8146-FE4A-E558-CFD292182E6E}"/>
              </a:ext>
            </a:extLst>
          </p:cNvPr>
          <p:cNvSpPr/>
          <p:nvPr/>
        </p:nvSpPr>
        <p:spPr>
          <a:xfrm>
            <a:off x="327355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AFB076E-411B-95AA-A169-A5BB776E3457}"/>
              </a:ext>
            </a:extLst>
          </p:cNvPr>
          <p:cNvSpPr/>
          <p:nvPr/>
        </p:nvSpPr>
        <p:spPr>
          <a:xfrm>
            <a:off x="324612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2B8440F-42E8-506F-4B76-D8D6E79ECE87}"/>
              </a:ext>
            </a:extLst>
          </p:cNvPr>
          <p:cNvSpPr/>
          <p:nvPr/>
        </p:nvSpPr>
        <p:spPr>
          <a:xfrm>
            <a:off x="416052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CAE0603-1C27-EBC7-F1E0-022B0FEE268D}"/>
              </a:ext>
            </a:extLst>
          </p:cNvPr>
          <p:cNvSpPr/>
          <p:nvPr/>
        </p:nvSpPr>
        <p:spPr>
          <a:xfrm>
            <a:off x="416052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894A023-6E58-7878-3A72-8C0C161128DD}"/>
              </a:ext>
            </a:extLst>
          </p:cNvPr>
          <p:cNvSpPr/>
          <p:nvPr/>
        </p:nvSpPr>
        <p:spPr>
          <a:xfrm>
            <a:off x="341071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프로펠러를 직접 돌려주는 부품은?</a:t>
            </a:r>
            <a:endParaRPr lang="en-US" sz="1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B8EC553-AE97-F710-E4DE-0EC72E65C83C}"/>
              </a:ext>
            </a:extLst>
          </p:cNvPr>
          <p:cNvSpPr/>
          <p:nvPr/>
        </p:nvSpPr>
        <p:spPr>
          <a:xfrm>
            <a:off x="3383280" y="3291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F56E388-5A3A-FA7E-A500-9F0DD88C86A4}"/>
              </a:ext>
            </a:extLst>
          </p:cNvPr>
          <p:cNvSpPr/>
          <p:nvPr/>
        </p:nvSpPr>
        <p:spPr>
          <a:xfrm>
            <a:off x="3474720" y="340156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모터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DAD9AC6-47DC-CEFC-D98A-123DEE576284}"/>
              </a:ext>
            </a:extLst>
          </p:cNvPr>
          <p:cNvSpPr/>
          <p:nvPr/>
        </p:nvSpPr>
        <p:spPr>
          <a:xfrm>
            <a:off x="3474720" y="36576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받아 프로펠러를 돌려줘요.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0F91A10-C504-600B-2746-39BCAAF48134}"/>
              </a:ext>
            </a:extLst>
          </p:cNvPr>
          <p:cNvSpPr/>
          <p:nvPr/>
        </p:nvSpPr>
        <p:spPr>
          <a:xfrm>
            <a:off x="6062472" y="1033272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5B777CD-C8EF-008D-9B1E-886DC28C99FD}"/>
              </a:ext>
            </a:extLst>
          </p:cNvPr>
          <p:cNvSpPr/>
          <p:nvPr/>
        </p:nvSpPr>
        <p:spPr>
          <a:xfrm>
            <a:off x="6035040" y="100584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3A1EE0E-AEF6-9360-5AA2-A3AFB19CFB21}"/>
              </a:ext>
            </a:extLst>
          </p:cNvPr>
          <p:cNvSpPr/>
          <p:nvPr/>
        </p:nvSpPr>
        <p:spPr>
          <a:xfrm>
            <a:off x="6949440" y="1234440"/>
            <a:ext cx="77724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E0E3232-C2A0-41DF-2107-816A4C70DC9F}"/>
              </a:ext>
            </a:extLst>
          </p:cNvPr>
          <p:cNvSpPr/>
          <p:nvPr/>
        </p:nvSpPr>
        <p:spPr>
          <a:xfrm>
            <a:off x="694944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618B271-9E2F-CF7B-8557-8600921CA92A}"/>
              </a:ext>
            </a:extLst>
          </p:cNvPr>
          <p:cNvSpPr/>
          <p:nvPr/>
        </p:nvSpPr>
        <p:spPr>
          <a:xfrm>
            <a:off x="6199632" y="1874520"/>
            <a:ext cx="22768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드론에 전기 에너지를 공급하는 부품은?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E57073D-F4E5-D6BF-ED91-A7B1D87584D2}"/>
              </a:ext>
            </a:extLst>
          </p:cNvPr>
          <p:cNvSpPr/>
          <p:nvPr/>
        </p:nvSpPr>
        <p:spPr>
          <a:xfrm>
            <a:off x="6172200" y="3291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E09FC33-7F47-C28B-2F28-4BB564F8EF1C}"/>
              </a:ext>
            </a:extLst>
          </p:cNvPr>
          <p:cNvSpPr/>
          <p:nvPr/>
        </p:nvSpPr>
        <p:spPr>
          <a:xfrm>
            <a:off x="6263640" y="340156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배터리</a:t>
            </a:r>
            <a:endParaRPr lang="en-US" sz="14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42522F0-95CA-AAF7-104F-0D4362011EC2}"/>
              </a:ext>
            </a:extLst>
          </p:cNvPr>
          <p:cNvSpPr/>
          <p:nvPr/>
        </p:nvSpPr>
        <p:spPr>
          <a:xfrm>
            <a:off x="6263640" y="36576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전기를 담아두는 드론의 에너지 창고예요.</a:t>
            </a:r>
            <a:endParaRPr lang="en-US" sz="11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F924E3B2-290B-B395-E4C1-353E5233FAF6}"/>
              </a:ext>
            </a:extLst>
          </p:cNvPr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AA10804-EEAC-04B0-10B2-76B54F9F3020}"/>
              </a:ext>
            </a:extLst>
          </p:cNvPr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82079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2/slide1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064E3B">
              <a:alpha val="80000"/>
            </a:srgbClr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64E3B">
              <a:alpha val="90000"/>
            </a:srgbClr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주제: 드론 조종 기초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예고 — 드론 조종 기초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주엔 드론의 움직임(상승·하강·전후좌우·회전)과 조종 원리를 배운다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배울 내용: 스로틀·롤·피치·요 4가지 움직임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463040" cy="146304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복습: print()로 출력하기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 타임! — 레슨 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변수를 배워서 값을 저장하고 꺼내 쓰자!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주제: 변수 — 값을 저장하는 상자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이해하기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변수는 이름표가 붙은 상자 — 값을 넣고 꺼내 쓸 수 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= 이름표가 붙은 상자 (값을 저장)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propellers = 4 → "propellers" 상자에 숫자 4를 넣음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 = "CoDrone" → "name" 상자에 글자를 넣음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print(propellers) → 상자를 열어서 값을 보여줌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값은 나중에 바꿀 수도 있어요!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살펴보자!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정보를 변수에 저장하고 출력해보자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propellers = 4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 = "CoDrone"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print("이름:", name)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print("프로펠러:", propellers, "개")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이름은 영어로, 값은 숫자나 따옴표 문자열로!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실습! 시뮬레이터에서 해보기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229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961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시뮬레이터의 학습 모드에서 레슨 2를 직접 실행해보자!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78638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시뮬레이터 → "텍스트 코딩" → "학습" 버튼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"레슨 2: 변수" 선택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예제 코드를 읽고 실행해보기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연습문제: 좋아하는 동물을 변수에 저장하고 출력!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친구: 변수 값을 바꿔서 다시 출력해보세요!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68891F6-7C67-2C4C-852D-E930C0F8D815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2097</Words>
  <Application>Microsoft Macintosh PowerPoint</Application>
  <PresentationFormat>화면 슬라이드 쇼(16:9)</PresentationFormat>
  <Paragraphs>242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2주차 드론의 구조</dc:title>
  <dc:subject>초등생 드론 코딩 교실 2주차</dc:subject>
  <dc:creator>강경태 (UNIST)</dc:creator>
  <cp:lastModifiedBy>(대학원생) 강경태 (기계공학과)</cp:lastModifiedBy>
  <cp:revision>2</cp:revision>
  <dcterms:created xsi:type="dcterms:W3CDTF">2026-03-02T18:22:33Z</dcterms:created>
  <dcterms:modified xsi:type="dcterms:W3CDTF">2026-03-12T17:31:11Z</dcterms:modified>
</cp:coreProperties>
</file>