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8" r:id="rId3"/>
    <p:sldId id="259" r:id="rId4"/>
    <p:sldId id="260" r:id="rId5"/>
    <p:sldId id="262" r:id="rId6"/>
    <p:sldId id="263" r:id="rId7"/>
    <p:sldId id="264" r:id="rId8"/>
    <p:sldId id="265" r:id="rId9"/>
    <p:sldId id="266" r:id="rId10"/>
    <p:sldId id="267" r:id="rId11"/>
    <p:sldId id="273" r:id="rId12"/>
    <p:sldId id="268" r:id="rId13"/>
    <p:sldId id="269" r:id="rId14"/>
    <p:sldId id="270" r:id="rId15"/>
    <p:sldId id="271" r:id="rId16"/>
    <p:sldId id="272"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42" d="100"/>
          <a:sy n="142" d="100"/>
        </p:scale>
        <p:origin x="1304" y="6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16154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여러분! 지난 주에 스로틀, 롤, 피치, 요 네 가지 조종법을 배웠죠? 오늘은 드론이 어디에 있는지를 숫자로 나타내는 방법을 배울 거예요.
내비게이션이 '100m 앞에서 우회전'이라고 알려주는 것처럼, 드론도 좌표가 있어야 목적지를 찾아갈 수 있어요. 그리고 지난주 배운 조종이 좌표를 어떻게 바꾸는지도 연결해볼 거예요!</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배울 목표를 같이 읽어봐요. X, Y, Z 세 글자가 낯설게 느껴지겠지만, 사실 교실에서 '앞으로 세 걸음, 오른쪽으로 두 걸음' 하는 것과 같아요!
그리고 지난 주에 배운 스로틀, 롤, 피치가 이 좌표를 어떻게 바꾸는지도 연결해볼 거예요. 나중에 드론에게 코딩으로 '이 위치로 가!'라고 명령할 때 바로 이 좌표를 쓰게 돼요!</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교실을 위에서 내려다본다고 상상해봐요. 문에서 창문 쪽으로 가는 방향이 X축이에요. 팔을 양옆으로 쭉 펼치면 X축 방향을 느낄 수 있어요!
칠판에서 뒷벽으로 가는 방향이 Y축이에요. 앞으로 걸어가면 Y가 커지고, 뒤로 물러서면 Y가 작아져요. X와 Y 두 숫자만 있으면 교실 바닥 어느 위치든 정확하게 말할 수 있어요. '오른쪽 세 칸, 앞으로 두 칸'이 바로 좌표예요!</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Z축은 위아래 방향, 즉 높이예요. 드론이 하늘로 올라가면 Z 값이 커지고, 내려오면 Z 값이 작아져요.
이제 X, Y, Z 세 가지를 합치면 드론이 3차원 공간에서 어디에 있는지 정확하게 나타낼 수 있어요. 스마트폰 내비게이션도 같은 원리로 내 위치를 알려주는 거예요. 교실 안에서 친구의 위치를 X, Y, Z로 말해볼 수 있을까요?</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지난 주에 배운 네 가지 조종이 좌표를 어떻게 바꾸는지 연결해봐요! 스로틀을 올리면 드론이 올라가니까 Z가 커져요. 오른쪽으로 롤하면 오른쪽으로 가니까 X가 커져요.
앞으로 피치하면 앞으로 가니까 Y가 커져요. 요는 좀 특별해요! 제자리에서 도니까 X, Y, Z는 안 변하고, 바라보는 방향만 바뀌어요. 이걸 '헤딩'이라고 해요!</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이번에는 프로펠러 속도 조합이 좌표를 어떻게 바꾸는지 알아봐요. 네 개가 모두 빨라지면 Z가 커지고 드론이 올라가요. 앞쪽 두 개를 느리게 하면 앞으로 기울어져서 Y가 커지며 전진해요.
시소 생각해봐요, 한쪽이 가벼우면 그쪽이 올라가죠? 느린 쪽이 내려가면서 그 방향으로 움직여요. 좌표로 생각하면 드론의 움직임을 숫자로 정확하게 이해할 수 있어요!</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비행을 좌표로 읽어봐요! 땅에서 시작하면 좌표는 (0, 0, 0)이에요. 스로틀을 올려서 3미터 위로 가면 Z만 바뀌어서 (0, 0, 3)이 돼요.
거기서 앞으로 피치해서 5미터 전진하면 Y가 바뀌어 (0, 5, 3)이에요. 마지막으로 스로틀을 내려 착륙하면 (0, 5, 0)이에요. X가 계속 0인 이유는? 좌우로 안 움직였으니까요! 좌표로 보면 드론이 어디로 갔는지 한눈에 알 수 있어요.</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보물찾기 미션이에요! 드론 조종사가 되어서 보물이 있는 좌표까지 드론을 보내봐요. 보물은 (3, 4, 2)에 있어요.
먼저 스로틀을 올려서 2미터까지 올라가고, 오른쪽으로 롤해서 3미터 이동하고, 앞으로 피치해서 4미터 전진하면 보물을 찾을 수 있어요! 도전 문제, (-2, 3, 5)에 있다면? 왼쪽으로 2, 앞으로 3, 위로 5예요. 마이너스는 반대 방향이에요!</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배운 내용을 정리해봐요. X축은 좌우로 롤로 조종하고, Y축은 앞뒤로 피치로 조종하고, Z축은 위아래로 스로틀로 조종해요.
요는 좌표를 바꾸지 않고 바라보는 방향만 바꿔요. X, Y, Z 세 숫자면 드론이 공간 어디에 있든 정확하게 나타낼 수 있어요. 나중에 코딩 시간에 '(5, 3, 2) 위치로 날아가!'라고 명령하게 될 거예요!</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퀴즈 시간이에요! 첫 번째, 높이를 나타내는 축은? Z축이에요! 두 번째, 스로틀을 올리면? Z가 커져요, 드론이 올라가니까요!
세 번째, 앞으로 피치하면? Y가 커져요, 앞으로 가니까요! 네 번째, (3, 2, 5)에서 높이는? 세 번째 숫자가 Z니까 5미터예요. 모두 맞혔나요? 좌표와 조종이 연결되는 게 느껴지나요?</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BDCC7-4E56-19C3-49F8-8C3BB4632D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CBB20F-A352-6C43-350E-B817B34A77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234899-7A5B-A900-B256-4687FCFDA55F}"/>
              </a:ext>
            </a:extLst>
          </p:cNvPr>
          <p:cNvSpPr>
            <a:spLocks noGrp="1"/>
          </p:cNvSpPr>
          <p:nvPr>
            <p:ph type="body" idx="1"/>
          </p:nvPr>
        </p:nvSpPr>
        <p:spPr/>
        <p:txBody>
          <a:bodyPr/>
          <a:lstStyle/>
          <a:p>
            <a:r>
              <a:rPr lang="en-US" dirty="0"/>
              <a:t>퀴즈 시간이에요! 첫 번째, 높이를 나타내는 축은? Z축이에요! 두 번째, 스로틀을 올리면? Z가 커져요, 드론이 올라가니까요!
세 번째, 앞으로 피치하면? Y가 커져요, 앞으로 가니까요! 네 번째, (3, 2, 5)에서 높이는? 세 번째 숫자가 Z니까 5미터예요. 모두 맞혔나요? 좌표와 조종이 연결되는 게 느껴지나요?</a:t>
            </a:r>
          </a:p>
        </p:txBody>
      </p:sp>
      <p:sp>
        <p:nvSpPr>
          <p:cNvPr id="4" name="Slide Number Placeholder 3">
            <a:extLst>
              <a:ext uri="{FF2B5EF4-FFF2-40B4-BE49-F238E27FC236}">
                <a16:creationId xmlns:a16="http://schemas.microsoft.com/office/drawing/2014/main" id="{3AA1EE65-2B6E-40F9-9D6C-8F980283DEDD}"/>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9677652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정말 많이 배웠어요, 수고했어요! 드디어 다음 시간에는 시뮬레이터로 직접 드론을 날려볼 수 있어요. 키보드로 스로틀, 롤, 피치, 요를 직접 조종하고, 화면에서 X, Y, Z 좌표가 실시간으로 바뀌는 걸 볼 수 있어요.
게임처럼 재미있을 거예요! 집에 가서 오늘 배운 좌표를 가족한테 설명해봐요. 다음 주가 기대되죠?</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보너스 코딩 타임이에요! 파이썬에서 연산자를 배웠죠? C++에서도 더하기, 빼기, 곱하기, 나누기, 나머지 연산자를 쓸 수 있어요.
그런데 중요한 차이가 하나 있어요. C++에서 정수끼리 나누면 소수점이 잘려버려요! 10 나누기 3은 3.333이 아니라 그냥 3이 돼요. 조심해야 해요!</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C++에서 // 로 시작하는 줄은 주석이에요. 코드에 설명을 달 때 쓰는 거예요. 덧셈, 뺄셈, 곱셈, 나머지는 파이썬과 똑같아요.
하지만 나눗셈은 달라요! a와 b 모두 int(정수)이면 결과도 정수로 잘려요. 10 나누기 3을 하면 3.333이 나와야 하는데 3만 나와요. 소수점 결과가 필요할 때는 (double)a / b 처럼 형 변환을 해줘야 해요. 드론 고도 계산할 때 실수로 정수 나눗셈을 하면 큰일 나겠죠?</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파이썬에서 10 / 3은 3.333...이지만 C++에서 int / int는 3이 돼요. 파이썬에서 몫만 구하려면 // 를 써야 하는데, C++은 int끼리 나누면 자동으로 몫이 나와요.
파이썬이 '계산기처럼 소수점까지 다 보여주는 친구'라면, C++은 '정수만 알려주는 친구'인 거예요. 상황에 따라 어떤 방식이 필요한지 잘 선택해야 해요!</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직사각형 둘레는 (가로 + 세로) × 2이고, 넓이는 가로 × 세로예요. w = 7, h = 2를 넣으면 둘레는 (7 + 2) × 2 = 18, 넓이는 7 × 2 = 14예요.
C++ 연산자로 직접 계산해봤나요? 도전 문제로 가로 5, 세로 4인 직사각형의 둘레와 넓이도 구해봐요. 둘레는 (5 + 4) × 2 = 18, 넓이는 5 × 4 = 20이에요. 잘 맞혔나요?</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sers/admin/Desktop/codrone/materials/PPT/.ppt-work/images/week04/slide01.jp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2286000"/>
            <a:ext cx="9144000" cy="2857500"/>
          </a:xfrm>
          <a:prstGeom prst="rect">
            <a:avLst/>
          </a:prstGeom>
          <a:solidFill>
            <a:srgbClr val="7C2D12">
              <a:alpha val="80000"/>
            </a:srgbClr>
          </a:solidFill>
          <a:ln w="12700">
            <a:solidFill>
              <a:srgbClr val="7C2D12"/>
            </a:solidFill>
            <a:prstDash val="solid"/>
          </a:ln>
        </p:spPr>
        <p:txBody>
          <a:bodyPr/>
          <a:lstStyle/>
          <a:p>
            <a:endParaRPr lang="ko-KR" altLang="en-US"/>
          </a:p>
        </p:txBody>
      </p:sp>
      <p:sp>
        <p:nvSpPr>
          <p:cNvPr id="4" name="Shape 1"/>
          <p:cNvSpPr/>
          <p:nvPr/>
        </p:nvSpPr>
        <p:spPr>
          <a:xfrm>
            <a:off x="0" y="3200400"/>
            <a:ext cx="9144000" cy="1943100"/>
          </a:xfrm>
          <a:prstGeom prst="rect">
            <a:avLst/>
          </a:prstGeom>
          <a:solidFill>
            <a:srgbClr val="7C2D12">
              <a:alpha val="90000"/>
            </a:srgbClr>
          </a:solidFill>
          <a:ln w="12700">
            <a:solidFill>
              <a:srgbClr val="7C2D12"/>
            </a:solidFill>
            <a:prstDash val="solid"/>
          </a:ln>
        </p:spPr>
        <p:txBody>
          <a:bodyPr/>
          <a:lstStyle/>
          <a:p>
            <a:endParaRPr lang="ko-KR" altLang="en-US"/>
          </a:p>
        </p:txBody>
      </p:sp>
      <p:sp>
        <p:nvSpPr>
          <p:cNvPr id="5" name="Shape 2"/>
          <p:cNvSpPr/>
          <p:nvPr/>
        </p:nvSpPr>
        <p:spPr>
          <a:xfrm>
            <a:off x="0" y="0"/>
            <a:ext cx="9144000" cy="54864"/>
          </a:xfrm>
          <a:prstGeom prst="rect">
            <a:avLst/>
          </a:prstGeom>
          <a:solidFill>
            <a:srgbClr val="FB923C"/>
          </a:solidFill>
          <a:ln w="12700">
            <a:solidFill>
              <a:srgbClr val="FB923C"/>
            </a:solidFill>
            <a:prstDash val="solid"/>
          </a:ln>
        </p:spPr>
        <p:txBody>
          <a:bodyPr/>
          <a:lstStyle/>
          <a:p>
            <a:endParaRPr lang="ko-KR" altLang="en-US"/>
          </a:p>
        </p:txBody>
      </p:sp>
      <p:sp>
        <p:nvSpPr>
          <p:cNvPr id="6" name="Text 3"/>
          <p:cNvSpPr/>
          <p:nvPr/>
        </p:nvSpPr>
        <p:spPr>
          <a:xfrm>
            <a:off x="457200" y="640080"/>
            <a:ext cx="8229600" cy="411480"/>
          </a:xfrm>
          <a:prstGeom prst="rect">
            <a:avLst/>
          </a:prstGeom>
          <a:noFill/>
          <a:ln/>
        </p:spPr>
        <p:txBody>
          <a:bodyPr wrap="square" rtlCol="0" anchor="ctr"/>
          <a:lstStyle/>
          <a:p>
            <a:pPr marL="0" indent="0" algn="ctr">
              <a:buNone/>
            </a:pPr>
            <a:r>
              <a:rPr lang="en-US" sz="2200" b="1" dirty="0">
                <a:solidFill>
                  <a:srgbClr val="FFFFFF"/>
                </a:solidFill>
                <a:latin typeface="맑은 고딕" pitchFamily="34" charset="0"/>
                <a:ea typeface="맑은 고딕" pitchFamily="34" charset="-122"/>
                <a:cs typeface="맑은 고딕" pitchFamily="34" charset="-120"/>
              </a:rPr>
              <a:t>드론 코딩 4주차</a:t>
            </a:r>
            <a:endParaRPr lang="en-US" sz="2200" dirty="0"/>
          </a:p>
        </p:txBody>
      </p:sp>
      <p:sp>
        <p:nvSpPr>
          <p:cNvPr id="7" name="Text 4"/>
          <p:cNvSpPr/>
          <p:nvPr/>
        </p:nvSpPr>
        <p:spPr>
          <a:xfrm>
            <a:off x="457200" y="1463040"/>
            <a:ext cx="8229600" cy="1005840"/>
          </a:xfrm>
          <a:prstGeom prst="rect">
            <a:avLst/>
          </a:prstGeom>
          <a:noFill/>
          <a:ln/>
        </p:spPr>
        <p:txBody>
          <a:bodyPr wrap="square" rtlCol="0" anchor="ctr"/>
          <a:lstStyle/>
          <a:p>
            <a:pPr marL="0" indent="0" algn="ctr">
              <a:buNone/>
            </a:pPr>
            <a:r>
              <a:rPr lang="en-US" sz="3600" b="1" dirty="0">
                <a:solidFill>
                  <a:srgbClr val="FFFFFF"/>
                </a:solidFill>
                <a:latin typeface="맑은 고딕" pitchFamily="34" charset="0"/>
                <a:ea typeface="맑은 고딕" pitchFamily="34" charset="-122"/>
                <a:cs typeface="맑은 고딕" pitchFamily="34" charset="-120"/>
              </a:rPr>
              <a:t>3차원 좌표</a:t>
            </a:r>
            <a:endParaRPr lang="en-US" sz="3600" dirty="0"/>
          </a:p>
        </p:txBody>
      </p:sp>
      <p:sp>
        <p:nvSpPr>
          <p:cNvPr id="8" name="Text 5"/>
          <p:cNvSpPr/>
          <p:nvPr/>
        </p:nvSpPr>
        <p:spPr>
          <a:xfrm>
            <a:off x="914400" y="2651760"/>
            <a:ext cx="7315200" cy="731520"/>
          </a:xfrm>
          <a:prstGeom prst="rect">
            <a:avLst/>
          </a:prstGeom>
          <a:noFill/>
          <a:ln/>
        </p:spPr>
        <p:txBody>
          <a:bodyPr wrap="square" rtlCol="0" anchor="ctr"/>
          <a:lstStyle/>
          <a:p>
            <a:pPr marL="0" indent="0" algn="ctr">
              <a:lnSpc>
                <a:spcPct val="130000"/>
              </a:lnSpc>
              <a:buNone/>
            </a:pPr>
            <a:r>
              <a:rPr lang="en-US" sz="2000" dirty="0">
                <a:solidFill>
                  <a:srgbClr val="FFFFFF"/>
                </a:solidFill>
                <a:latin typeface="맑은 고딕" pitchFamily="34" charset="0"/>
                <a:ea typeface="맑은 고딕" pitchFamily="34" charset="-122"/>
                <a:cs typeface="맑은 고딕" pitchFamily="34" charset="-120"/>
              </a:rPr>
              <a:t>드론의 위치를 숫자로 말하자!</a:t>
            </a:r>
            <a:endParaRPr lang="en-US" sz="2000" dirty="0"/>
          </a:p>
        </p:txBody>
      </p:sp>
      <p:sp>
        <p:nvSpPr>
          <p:cNvPr id="9" name="Text 6"/>
          <p:cNvSpPr/>
          <p:nvPr/>
        </p:nvSpPr>
        <p:spPr>
          <a:xfrm>
            <a:off x="457200" y="4389120"/>
            <a:ext cx="8229600" cy="320040"/>
          </a:xfrm>
          <a:prstGeom prst="rect">
            <a:avLst/>
          </a:prstGeom>
          <a:noFill/>
          <a:ln/>
        </p:spPr>
        <p:txBody>
          <a:bodyPr wrap="square" rtlCol="0" anchor="ctr"/>
          <a:lstStyle/>
          <a:p>
            <a:pPr marL="0" indent="0" algn="ctr">
              <a:buNone/>
            </a:pPr>
            <a:r>
              <a:rPr lang="en-US" sz="1400" dirty="0">
                <a:solidFill>
                  <a:srgbClr val="FFFFFF"/>
                </a:solidFill>
                <a:latin typeface="맑은 고딕" pitchFamily="34" charset="0"/>
                <a:ea typeface="맑은 고딕" pitchFamily="34" charset="-122"/>
                <a:cs typeface="맑은 고딕" pitchFamily="34" charset="-120"/>
              </a:rPr>
              <a:t>X·Y·Z 좌표와 조종의 연결</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F97316"/>
          </a:solidFill>
          <a:ln w="12700">
            <a:solidFill>
              <a:srgbClr val="F97316"/>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학습 목표</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4주차</a:t>
            </a:r>
            <a:endParaRPr lang="en-US" sz="1200" dirty="0"/>
          </a:p>
        </p:txBody>
      </p:sp>
      <p:sp>
        <p:nvSpPr>
          <p:cNvPr id="9" name="Text 7"/>
          <p:cNvSpPr/>
          <p:nvPr/>
        </p:nvSpPr>
        <p:spPr>
          <a:xfrm>
            <a:off x="640080" y="804672"/>
            <a:ext cx="7863840" cy="365760"/>
          </a:xfrm>
          <a:prstGeom prst="rect">
            <a:avLst/>
          </a:prstGeom>
          <a:noFill/>
          <a:ln/>
        </p:spPr>
        <p:txBody>
          <a:bodyPr wrap="square" rtlCol="0" anchor="ctr"/>
          <a:lstStyle/>
          <a:p>
            <a:pPr marL="0" indent="0">
              <a:buNone/>
            </a:pPr>
            <a:r>
              <a:rPr lang="en-US" sz="1800" b="1" dirty="0">
                <a:solidFill>
                  <a:srgbClr val="EA580C"/>
                </a:solidFill>
                <a:latin typeface="맑은 고딕" pitchFamily="34" charset="0"/>
                <a:ea typeface="맑은 고딕" pitchFamily="34" charset="-122"/>
                <a:cs typeface="맑은 고딕" pitchFamily="34" charset="-120"/>
              </a:rPr>
              <a:t>X·Y·Z 좌표로 위치를 나타내고 조종과 좌표 변화를 연결한다</a:t>
            </a:r>
            <a:endParaRPr lang="en-US" sz="1800" dirty="0"/>
          </a:p>
        </p:txBody>
      </p:sp>
      <p:sp>
        <p:nvSpPr>
          <p:cNvPr id="10" name="Shape 8"/>
          <p:cNvSpPr/>
          <p:nvPr/>
        </p:nvSpPr>
        <p:spPr>
          <a:xfrm>
            <a:off x="640080" y="1280160"/>
            <a:ext cx="502920" cy="502920"/>
          </a:xfrm>
          <a:prstGeom prst="ellipse">
            <a:avLst/>
          </a:prstGeom>
          <a:solidFill>
            <a:srgbClr val="F97316"/>
          </a:solidFill>
          <a:ln w="12700">
            <a:solidFill>
              <a:srgbClr val="F97316"/>
            </a:solidFill>
            <a:prstDash val="solid"/>
          </a:ln>
        </p:spPr>
        <p:txBody>
          <a:bodyPr/>
          <a:lstStyle/>
          <a:p>
            <a:endParaRPr lang="ko-KR" altLang="en-US"/>
          </a:p>
        </p:txBody>
      </p:sp>
      <p:sp>
        <p:nvSpPr>
          <p:cNvPr id="11" name="Text 9"/>
          <p:cNvSpPr/>
          <p:nvPr/>
        </p:nvSpPr>
        <p:spPr>
          <a:xfrm>
            <a:off x="640080" y="1399032"/>
            <a:ext cx="502920" cy="228600"/>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01</a:t>
            </a:r>
            <a:endParaRPr lang="en-US" sz="1400" dirty="0"/>
          </a:p>
        </p:txBody>
      </p:sp>
      <p:sp>
        <p:nvSpPr>
          <p:cNvPr id="12" name="Text 10"/>
          <p:cNvSpPr/>
          <p:nvPr/>
        </p:nvSpPr>
        <p:spPr>
          <a:xfrm>
            <a:off x="1280160" y="1298448"/>
            <a:ext cx="7223760" cy="420624"/>
          </a:xfrm>
          <a:prstGeom prst="rect">
            <a:avLst/>
          </a:prstGeom>
          <a:noFill/>
          <a:ln/>
        </p:spPr>
        <p:txBody>
          <a:bodyPr wrap="square" rtlCol="0" anchor="ctr"/>
          <a:lstStyle/>
          <a:p>
            <a:pPr marL="0" indent="0">
              <a:lnSpc>
                <a:spcPct val="130000"/>
              </a:lnSpc>
              <a:buNone/>
            </a:pPr>
            <a:r>
              <a:rPr lang="en-US" sz="1600" dirty="0">
                <a:solidFill>
                  <a:srgbClr val="7C2D12"/>
                </a:solidFill>
                <a:latin typeface="맑은 고딕" pitchFamily="34" charset="0"/>
                <a:ea typeface="맑은 고딕" pitchFamily="34" charset="-122"/>
                <a:cs typeface="맑은 고딕" pitchFamily="34" charset="-120"/>
              </a:rPr>
              <a:t>1. X·Y·Z 3차원 좌표로 드론의 위치를 나타낼 수 있다</a:t>
            </a:r>
            <a:endParaRPr lang="en-US" sz="1600" dirty="0"/>
          </a:p>
        </p:txBody>
      </p:sp>
      <p:sp>
        <p:nvSpPr>
          <p:cNvPr id="13" name="Shape 11"/>
          <p:cNvSpPr/>
          <p:nvPr/>
        </p:nvSpPr>
        <p:spPr>
          <a:xfrm>
            <a:off x="640080" y="1938528"/>
            <a:ext cx="502920" cy="502920"/>
          </a:xfrm>
          <a:prstGeom prst="ellipse">
            <a:avLst/>
          </a:prstGeom>
          <a:solidFill>
            <a:srgbClr val="EA580C"/>
          </a:solidFill>
          <a:ln w="12700">
            <a:solidFill>
              <a:srgbClr val="EA580C"/>
            </a:solidFill>
            <a:prstDash val="solid"/>
          </a:ln>
        </p:spPr>
        <p:txBody>
          <a:bodyPr/>
          <a:lstStyle/>
          <a:p>
            <a:endParaRPr lang="ko-KR" altLang="en-US"/>
          </a:p>
        </p:txBody>
      </p:sp>
      <p:sp>
        <p:nvSpPr>
          <p:cNvPr id="14" name="Text 12"/>
          <p:cNvSpPr/>
          <p:nvPr/>
        </p:nvSpPr>
        <p:spPr>
          <a:xfrm>
            <a:off x="640080" y="2057400"/>
            <a:ext cx="502920" cy="228600"/>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02</a:t>
            </a:r>
            <a:endParaRPr lang="en-US" sz="1400" dirty="0"/>
          </a:p>
        </p:txBody>
      </p:sp>
      <p:sp>
        <p:nvSpPr>
          <p:cNvPr id="15" name="Text 13"/>
          <p:cNvSpPr/>
          <p:nvPr/>
        </p:nvSpPr>
        <p:spPr>
          <a:xfrm>
            <a:off x="1280160" y="1956816"/>
            <a:ext cx="7223760" cy="420624"/>
          </a:xfrm>
          <a:prstGeom prst="rect">
            <a:avLst/>
          </a:prstGeom>
          <a:noFill/>
          <a:ln/>
        </p:spPr>
        <p:txBody>
          <a:bodyPr wrap="square" rtlCol="0" anchor="ctr"/>
          <a:lstStyle/>
          <a:p>
            <a:pPr marL="0" indent="0">
              <a:lnSpc>
                <a:spcPct val="130000"/>
              </a:lnSpc>
              <a:buNone/>
            </a:pPr>
            <a:r>
              <a:rPr lang="en-US" sz="1600" dirty="0">
                <a:solidFill>
                  <a:srgbClr val="7C2D12"/>
                </a:solidFill>
                <a:latin typeface="맑은 고딕" pitchFamily="34" charset="0"/>
                <a:ea typeface="맑은 고딕" pitchFamily="34" charset="-122"/>
                <a:cs typeface="맑은 고딕" pitchFamily="34" charset="-120"/>
              </a:rPr>
              <a:t>2. 스로틀·롤·피치 조종이 어떤 좌표를 바꾸는지 연결할 수 있다</a:t>
            </a:r>
            <a:endParaRPr lang="en-US" sz="1600" dirty="0"/>
          </a:p>
        </p:txBody>
      </p:sp>
      <p:sp>
        <p:nvSpPr>
          <p:cNvPr id="16" name="Shape 14"/>
          <p:cNvSpPr/>
          <p:nvPr/>
        </p:nvSpPr>
        <p:spPr>
          <a:xfrm>
            <a:off x="640080" y="2596896"/>
            <a:ext cx="502920" cy="502920"/>
          </a:xfrm>
          <a:prstGeom prst="ellipse">
            <a:avLst/>
          </a:prstGeom>
          <a:solidFill>
            <a:srgbClr val="FB923C"/>
          </a:solidFill>
          <a:ln w="12700">
            <a:solidFill>
              <a:srgbClr val="FB923C"/>
            </a:solidFill>
            <a:prstDash val="solid"/>
          </a:ln>
        </p:spPr>
        <p:txBody>
          <a:bodyPr/>
          <a:lstStyle/>
          <a:p>
            <a:endParaRPr lang="ko-KR" altLang="en-US"/>
          </a:p>
        </p:txBody>
      </p:sp>
      <p:sp>
        <p:nvSpPr>
          <p:cNvPr id="17" name="Text 15"/>
          <p:cNvSpPr/>
          <p:nvPr/>
        </p:nvSpPr>
        <p:spPr>
          <a:xfrm>
            <a:off x="640080" y="2715768"/>
            <a:ext cx="502920" cy="228600"/>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03</a:t>
            </a:r>
            <a:endParaRPr lang="en-US" sz="1400" dirty="0"/>
          </a:p>
        </p:txBody>
      </p:sp>
      <p:sp>
        <p:nvSpPr>
          <p:cNvPr id="18" name="Text 16"/>
          <p:cNvSpPr/>
          <p:nvPr/>
        </p:nvSpPr>
        <p:spPr>
          <a:xfrm>
            <a:off x="1280160" y="2615184"/>
            <a:ext cx="7223760" cy="420624"/>
          </a:xfrm>
          <a:prstGeom prst="rect">
            <a:avLst/>
          </a:prstGeom>
          <a:noFill/>
          <a:ln/>
        </p:spPr>
        <p:txBody>
          <a:bodyPr wrap="square" rtlCol="0" anchor="ctr"/>
          <a:lstStyle/>
          <a:p>
            <a:pPr marL="0" indent="0">
              <a:lnSpc>
                <a:spcPct val="130000"/>
              </a:lnSpc>
              <a:buNone/>
            </a:pPr>
            <a:r>
              <a:rPr lang="en-US" sz="1600" dirty="0">
                <a:solidFill>
                  <a:srgbClr val="7C2D12"/>
                </a:solidFill>
                <a:latin typeface="맑은 고딕" pitchFamily="34" charset="0"/>
                <a:ea typeface="맑은 고딕" pitchFamily="34" charset="-122"/>
                <a:cs typeface="맑은 고딕" pitchFamily="34" charset="-120"/>
              </a:rPr>
              <a:t>3. 로터 속도 조합이 좌표 변화를 만드는 원리를 설명할 수 있다</a:t>
            </a:r>
            <a:endParaRPr lang="en-US" sz="1600" dirty="0"/>
          </a:p>
        </p:txBody>
      </p:sp>
      <p:sp>
        <p:nvSpPr>
          <p:cNvPr id="19" name="Shape 17"/>
          <p:cNvSpPr/>
          <p:nvPr/>
        </p:nvSpPr>
        <p:spPr>
          <a:xfrm>
            <a:off x="640080" y="3255264"/>
            <a:ext cx="502920" cy="502920"/>
          </a:xfrm>
          <a:prstGeom prst="ellipse">
            <a:avLst/>
          </a:prstGeom>
          <a:solidFill>
            <a:srgbClr val="F97316"/>
          </a:solidFill>
          <a:ln w="12700">
            <a:solidFill>
              <a:srgbClr val="F97316"/>
            </a:solidFill>
            <a:prstDash val="solid"/>
          </a:ln>
        </p:spPr>
        <p:txBody>
          <a:bodyPr/>
          <a:lstStyle/>
          <a:p>
            <a:endParaRPr lang="ko-KR" altLang="en-US"/>
          </a:p>
        </p:txBody>
      </p:sp>
      <p:sp>
        <p:nvSpPr>
          <p:cNvPr id="20" name="Text 18"/>
          <p:cNvSpPr/>
          <p:nvPr/>
        </p:nvSpPr>
        <p:spPr>
          <a:xfrm>
            <a:off x="640080" y="3374136"/>
            <a:ext cx="502920" cy="228600"/>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04</a:t>
            </a:r>
            <a:endParaRPr lang="en-US" sz="1400" dirty="0"/>
          </a:p>
        </p:txBody>
      </p:sp>
      <p:sp>
        <p:nvSpPr>
          <p:cNvPr id="21" name="Text 19"/>
          <p:cNvSpPr/>
          <p:nvPr/>
        </p:nvSpPr>
        <p:spPr>
          <a:xfrm>
            <a:off x="1280160" y="3273552"/>
            <a:ext cx="7223760" cy="420624"/>
          </a:xfrm>
          <a:prstGeom prst="rect">
            <a:avLst/>
          </a:prstGeom>
          <a:noFill/>
          <a:ln/>
        </p:spPr>
        <p:txBody>
          <a:bodyPr wrap="square" rtlCol="0" anchor="ctr"/>
          <a:lstStyle/>
          <a:p>
            <a:pPr marL="0" indent="0">
              <a:lnSpc>
                <a:spcPct val="130000"/>
              </a:lnSpc>
              <a:buNone/>
            </a:pPr>
            <a:r>
              <a:rPr lang="en-US" sz="1600" dirty="0">
                <a:solidFill>
                  <a:srgbClr val="7C2D12"/>
                </a:solidFill>
                <a:latin typeface="맑은 고딕" pitchFamily="34" charset="0"/>
                <a:ea typeface="맑은 고딕" pitchFamily="34" charset="-122"/>
                <a:cs typeface="맑은 고딕" pitchFamily="34" charset="-120"/>
              </a:rPr>
              <a:t>4. 좌표를 사용해 드론의 목적지를 지정할 수 있다</a:t>
            </a:r>
            <a:endParaRPr lang="en-US" sz="1600" dirty="0"/>
          </a:p>
        </p:txBody>
      </p:sp>
      <p:sp>
        <p:nvSpPr>
          <p:cNvPr id="23" name="Text 20"/>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24" name="Text 21"/>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3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F97316"/>
          </a:solidFill>
          <a:ln w="12700">
            <a:solidFill>
              <a:srgbClr val="F97316"/>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X축과 Y축</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4주차</a:t>
            </a:r>
            <a:endParaRPr lang="en-US" sz="1200" dirty="0"/>
          </a:p>
        </p:txBody>
      </p:sp>
      <p:sp>
        <p:nvSpPr>
          <p:cNvPr id="9" name="Shape 7"/>
          <p:cNvSpPr/>
          <p:nvPr/>
        </p:nvSpPr>
        <p:spPr>
          <a:xfrm>
            <a:off x="457200" y="868680"/>
            <a:ext cx="3840480" cy="3520440"/>
          </a:xfrm>
          <a:prstGeom prst="roundRect">
            <a:avLst>
              <a:gd name="adj" fmla="val 3117"/>
            </a:avLst>
          </a:prstGeom>
          <a:solidFill>
            <a:srgbClr val="FFF7ED"/>
          </a:solidFill>
          <a:ln w="12700">
            <a:solidFill>
              <a:srgbClr val="E2E8F0"/>
            </a:solidFill>
            <a:prstDash val="solid"/>
          </a:ln>
        </p:spPr>
        <p:txBody>
          <a:bodyPr/>
          <a:lstStyle/>
          <a:p>
            <a:endParaRPr lang="ko-KR" altLang="en-US"/>
          </a:p>
        </p:txBody>
      </p:sp>
      <p:pic>
        <p:nvPicPr>
          <p:cNvPr id="10" name="Image 0" descr="/Users/admin/Desktop/codrone/materials/PPT/.ppt-work/images/week04/slide04.jpg"/>
          <p:cNvPicPr>
            <a:picLocks noChangeAspect="1"/>
          </p:cNvPicPr>
          <p:nvPr/>
        </p:nvPicPr>
        <p:blipFill>
          <a:blip r:embed="rId3"/>
          <a:srcRect/>
          <a:stretch/>
        </p:blipFill>
        <p:spPr>
          <a:xfrm>
            <a:off x="502920" y="914400"/>
            <a:ext cx="3749040" cy="3429000"/>
          </a:xfrm>
          <a:prstGeom prst="rect">
            <a:avLst/>
          </a:prstGeom>
        </p:spPr>
      </p:pic>
      <p:sp>
        <p:nvSpPr>
          <p:cNvPr id="11" name="Text 8"/>
          <p:cNvSpPr/>
          <p:nvPr/>
        </p:nvSpPr>
        <p:spPr>
          <a:xfrm>
            <a:off x="4526280" y="960120"/>
            <a:ext cx="4206240" cy="3474720"/>
          </a:xfrm>
          <a:prstGeom prst="rect">
            <a:avLst/>
          </a:prstGeom>
          <a:noFill/>
          <a:ln/>
        </p:spPr>
        <p:txBody>
          <a:bodyPr wrap="square" lIns="254" tIns="254" rIns="254" bIns="254" rtlCol="0" anchor="t">
            <a:normAutofit fontScale="92500"/>
          </a:bodyPr>
          <a:lstStyle/>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[X축 — 좌우]</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+X 방향: 오른쪽 / -X 방향: 왼쪽</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팔을 양옆으로 쭉 펼쳐보세요 — 그게 X축이에요</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[Y축 — 앞뒤]</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+Y 방향: 앞쪽(전진) / -Y 방향: 뒤쪽(후진)</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앞으로 걷거나 뒤로 물러서는 방향이 Y축이에요</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X와 Y를 합치면 교실 바닥 어디든 표현 가능!</a:t>
            </a:r>
            <a:endParaRPr lang="en-US" sz="1600" dirty="0"/>
          </a:p>
        </p:txBody>
      </p:sp>
      <p:sp>
        <p:nvSpPr>
          <p:cNvPr id="13" name="Text 9"/>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0"/>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4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F97316"/>
          </a:solidFill>
          <a:ln w="12700">
            <a:solidFill>
              <a:srgbClr val="F97316"/>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Z축과 3차원</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4주차</a:t>
            </a:r>
            <a:endParaRPr lang="en-US" sz="1200" dirty="0"/>
          </a:p>
        </p:txBody>
      </p:sp>
      <p:sp>
        <p:nvSpPr>
          <p:cNvPr id="9" name="Shape 7"/>
          <p:cNvSpPr/>
          <p:nvPr/>
        </p:nvSpPr>
        <p:spPr>
          <a:xfrm rot="900000">
            <a:off x="8412480" y="4114800"/>
            <a:ext cx="1097280" cy="1097280"/>
          </a:xfrm>
          <a:prstGeom prst="triangle">
            <a:avLst/>
          </a:prstGeom>
          <a:solidFill>
            <a:srgbClr val="FB923C">
              <a:alpha val="15000"/>
            </a:srgbClr>
          </a:solidFill>
          <a:ln w="12700">
            <a:solidFill>
              <a:srgbClr val="FB923C"/>
            </a:solidFill>
            <a:prstDash val="solid"/>
          </a:ln>
        </p:spPr>
        <p:txBody>
          <a:bodyPr/>
          <a:lstStyle/>
          <a:p>
            <a:endParaRPr lang="ko-KR" altLang="en-US"/>
          </a:p>
        </p:txBody>
      </p:sp>
      <p:sp>
        <p:nvSpPr>
          <p:cNvPr id="10" name="Text 8"/>
          <p:cNvSpPr/>
          <p:nvPr/>
        </p:nvSpPr>
        <p:spPr>
          <a:xfrm>
            <a:off x="640080" y="804672"/>
            <a:ext cx="4572000" cy="365760"/>
          </a:xfrm>
          <a:prstGeom prst="rect">
            <a:avLst/>
          </a:prstGeom>
          <a:noFill/>
          <a:ln/>
        </p:spPr>
        <p:txBody>
          <a:bodyPr wrap="square" rtlCol="0" anchor="ctr"/>
          <a:lstStyle/>
          <a:p>
            <a:pPr marL="0" indent="0">
              <a:buNone/>
            </a:pPr>
            <a:r>
              <a:rPr lang="en-US" sz="1800" b="1" dirty="0">
                <a:solidFill>
                  <a:srgbClr val="EA580C"/>
                </a:solidFill>
                <a:latin typeface="맑은 고딕" pitchFamily="34" charset="0"/>
                <a:ea typeface="맑은 고딕" pitchFamily="34" charset="-122"/>
                <a:cs typeface="맑은 고딕" pitchFamily="34" charset="-120"/>
              </a:rPr>
              <a:t>높이를 더하면 공간 어디든 표현할 수 있다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fontScale="92500" lnSpcReduction="10000"/>
          </a:bodyPr>
          <a:lstStyle/>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[Z축 — 위아래]</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+Z 방향: 위쪽(상승) / -Z 방향: 아래쪽(하강)</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드론이 올라갈수록 Z 값이 커져요</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[세 축 합치기]</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(X=2, Y=3, Z=5) → 오른쪽 2, 앞으로 3, 위로 5인 위치</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택배 드론이 정확한 집을 찾아가는 것도 좌표 덕분</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GPS도 같은 원리로 내 위치를 알려줘요</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txBody>
          <a:bodyPr/>
          <a:lstStyle/>
          <a:p>
            <a:endParaRPr lang="ko-KR" altLang="en-US"/>
          </a:p>
        </p:txBody>
      </p:sp>
      <p:sp>
        <p:nvSpPr>
          <p:cNvPr id="13" name="Shape 11"/>
          <p:cNvSpPr/>
          <p:nvPr/>
        </p:nvSpPr>
        <p:spPr>
          <a:xfrm>
            <a:off x="5303520" y="868680"/>
            <a:ext cx="3931920" cy="3520440"/>
          </a:xfrm>
          <a:prstGeom prst="roundRect">
            <a:avLst>
              <a:gd name="adj" fmla="val 3117"/>
            </a:avLst>
          </a:prstGeom>
          <a:solidFill>
            <a:srgbClr val="FFF7ED"/>
          </a:solidFill>
          <a:ln w="12700">
            <a:solidFill>
              <a:srgbClr val="E2E8F0"/>
            </a:solidFill>
            <a:prstDash val="solid"/>
          </a:ln>
        </p:spPr>
        <p:txBody>
          <a:bodyPr/>
          <a:lstStyle/>
          <a:p>
            <a:endParaRPr lang="ko-KR" altLang="en-US"/>
          </a:p>
        </p:txBody>
      </p:sp>
      <p:pic>
        <p:nvPicPr>
          <p:cNvPr id="14" name="Image 0" descr="/Users/admin/Desktop/codrone/materials/PPT/.ppt-work/images/week04/slide05.jpg"/>
          <p:cNvPicPr>
            <a:picLocks noChangeAspect="1"/>
          </p:cNvPicPr>
          <p:nvPr/>
        </p:nvPicPr>
        <p:blipFill>
          <a:blip r:embed="rId3"/>
          <a:srcRect/>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5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F97316"/>
          </a:solidFill>
          <a:ln w="12700">
            <a:solidFill>
              <a:srgbClr val="F97316"/>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조종과 좌표의 연결</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4주차</a:t>
            </a:r>
            <a:endParaRPr lang="en-US" sz="1200" dirty="0"/>
          </a:p>
        </p:txBody>
      </p:sp>
      <p:sp>
        <p:nvSpPr>
          <p:cNvPr id="9" name="Shape 7"/>
          <p:cNvSpPr/>
          <p:nvPr/>
        </p:nvSpPr>
        <p:spPr>
          <a:xfrm>
            <a:off x="457200" y="868680"/>
            <a:ext cx="3840480" cy="3520440"/>
          </a:xfrm>
          <a:prstGeom prst="roundRect">
            <a:avLst>
              <a:gd name="adj" fmla="val 3117"/>
            </a:avLst>
          </a:prstGeom>
          <a:solidFill>
            <a:srgbClr val="FFF7ED"/>
          </a:solidFill>
          <a:ln w="12700">
            <a:solidFill>
              <a:srgbClr val="E2E8F0"/>
            </a:solidFill>
            <a:prstDash val="solid"/>
          </a:ln>
        </p:spPr>
        <p:txBody>
          <a:bodyPr/>
          <a:lstStyle/>
          <a:p>
            <a:endParaRPr lang="ko-KR" altLang="en-US"/>
          </a:p>
        </p:txBody>
      </p:sp>
      <p:pic>
        <p:nvPicPr>
          <p:cNvPr id="10" name="Image 0" descr="/Users/admin/Desktop/codrone/materials/PPT/.ppt-work/images/week04/slide07.jpg"/>
          <p:cNvPicPr>
            <a:picLocks noChangeAspect="1"/>
          </p:cNvPicPr>
          <p:nvPr/>
        </p:nvPicPr>
        <p:blipFill>
          <a:blip r:embed="rId3"/>
          <a:srcRect/>
          <a:stretch/>
        </p:blipFill>
        <p:spPr>
          <a:xfrm>
            <a:off x="502920" y="914400"/>
            <a:ext cx="3749040" cy="3429000"/>
          </a:xfrm>
          <a:prstGeom prst="rect">
            <a:avLst/>
          </a:prstGeom>
        </p:spPr>
      </p:pic>
      <p:sp>
        <p:nvSpPr>
          <p:cNvPr id="11" name="Text 8"/>
          <p:cNvSpPr/>
          <p:nvPr/>
        </p:nvSpPr>
        <p:spPr>
          <a:xfrm>
            <a:off x="4526280" y="960120"/>
            <a:ext cx="4206240" cy="3474720"/>
          </a:xfrm>
          <a:prstGeom prst="rect">
            <a:avLst/>
          </a:prstGeom>
          <a:noFill/>
          <a:ln/>
        </p:spPr>
        <p:txBody>
          <a:bodyPr wrap="square" lIns="254" tIns="254" rIns="254" bIns="254" rtlCol="0" anchor="t">
            <a:normAutofit fontScale="85000" lnSpcReduction="20000"/>
          </a:bodyPr>
          <a:lstStyle/>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[조종 → 좌표 변화]</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스로틀 올리기 → Z 증가 (위로 상승)</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스로틀 내리기 → Z 감소 (아래로 하강)</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오른쪽 롤 → X 증가 (오른쪽 이동)</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왼쪽 롤 → X 감소 (왼쪽 이동)</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[조종 → 좌표 변화]</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앞으로 피치 → Y 증가 (앞으로 전진)</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뒤로 피치 → Y 감소 (뒤로 후진)</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요(Yaw) → X, Y, Z는 그대로, 바라보는 방향(헤딩)만 변해요</a:t>
            </a:r>
            <a:endParaRPr lang="en-US" sz="1600" dirty="0"/>
          </a:p>
        </p:txBody>
      </p:sp>
      <p:sp>
        <p:nvSpPr>
          <p:cNvPr id="13" name="Text 9"/>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0"/>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7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F97316"/>
          </a:solidFill>
          <a:ln w="12700">
            <a:solidFill>
              <a:srgbClr val="F97316"/>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로터 속도와 좌표</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4주차</a:t>
            </a:r>
            <a:endParaRPr lang="en-US" sz="1200" dirty="0"/>
          </a:p>
        </p:txBody>
      </p:sp>
      <p:sp>
        <p:nvSpPr>
          <p:cNvPr id="9" name="Shape 7"/>
          <p:cNvSpPr/>
          <p:nvPr/>
        </p:nvSpPr>
        <p:spPr>
          <a:xfrm>
            <a:off x="960120" y="868680"/>
            <a:ext cx="7132320" cy="475488"/>
          </a:xfrm>
          <a:prstGeom prst="roundRect">
            <a:avLst>
              <a:gd name="adj" fmla="val 19231"/>
            </a:avLst>
          </a:prstGeom>
          <a:solidFill>
            <a:srgbClr val="F97316"/>
          </a:solidFill>
          <a:ln w="12700">
            <a:solidFill>
              <a:srgbClr val="F97316"/>
            </a:solidFill>
            <a:prstDash val="solid"/>
          </a:ln>
        </p:spPr>
        <p:txBody>
          <a:bodyPr/>
          <a:lstStyle/>
          <a:p>
            <a:endParaRPr lang="ko-KR" altLang="en-US"/>
          </a:p>
        </p:txBody>
      </p:sp>
      <p:sp>
        <p:nvSpPr>
          <p:cNvPr id="10" name="Text 8"/>
          <p:cNvSpPr/>
          <p:nvPr/>
        </p:nvSpPr>
        <p:spPr>
          <a:xfrm>
            <a:off x="1097280" y="969264"/>
            <a:ext cx="320040" cy="228600"/>
          </a:xfrm>
          <a:prstGeom prst="rect">
            <a:avLst/>
          </a:prstGeom>
          <a:noFill/>
          <a:ln/>
        </p:spPr>
        <p:txBody>
          <a:bodyPr wrap="square" rtlCol="0" anchor="ctr"/>
          <a:lstStyle/>
          <a:p>
            <a:pPr marL="0" indent="0">
              <a:buNone/>
            </a:pPr>
            <a:r>
              <a:rPr lang="en-US" sz="1600" dirty="0">
                <a:solidFill>
                  <a:srgbClr val="FFFFFF"/>
                </a:solidFill>
                <a:latin typeface="Arial" pitchFamily="34" charset="0"/>
                <a:ea typeface="Arial" pitchFamily="34" charset="-122"/>
                <a:cs typeface="Arial" pitchFamily="34" charset="-120"/>
              </a:rPr>
              <a:t>1️⃣</a:t>
            </a:r>
            <a:endParaRPr lang="en-US" sz="1600" dirty="0"/>
          </a:p>
        </p:txBody>
      </p:sp>
      <p:sp>
        <p:nvSpPr>
          <p:cNvPr id="11" name="Text 9"/>
          <p:cNvSpPr/>
          <p:nvPr/>
        </p:nvSpPr>
        <p:spPr>
          <a:xfrm>
            <a:off x="1508760" y="960120"/>
            <a:ext cx="6400800" cy="237744"/>
          </a:xfrm>
          <a:prstGeom prst="rect">
            <a:avLst/>
          </a:prstGeom>
          <a:noFill/>
          <a:ln/>
        </p:spPr>
        <p:txBody>
          <a:bodyPr wrap="square" rtlCol="0" anchor="ctr"/>
          <a:lstStyle/>
          <a:p>
            <a:pPr marL="0" indent="0">
              <a:lnSpc>
                <a:spcPct val="130000"/>
              </a:lnSpc>
              <a:buNone/>
            </a:pPr>
            <a:r>
              <a:rPr lang="en-US" sz="1500" dirty="0">
                <a:solidFill>
                  <a:srgbClr val="FFFFFF"/>
                </a:solidFill>
                <a:latin typeface="맑은 고딕" pitchFamily="34" charset="0"/>
                <a:ea typeface="맑은 고딕" pitchFamily="34" charset="-122"/>
                <a:cs typeface="맑은 고딕" pitchFamily="34" charset="-120"/>
              </a:rPr>
              <a:t>4개 로터 모두 빠르게 → Z 증가 (상승)</a:t>
            </a:r>
            <a:endParaRPr lang="en-US" sz="1500" dirty="0"/>
          </a:p>
        </p:txBody>
      </p:sp>
      <p:sp>
        <p:nvSpPr>
          <p:cNvPr id="12" name="Shape 10"/>
          <p:cNvSpPr/>
          <p:nvPr/>
        </p:nvSpPr>
        <p:spPr>
          <a:xfrm>
            <a:off x="1325880" y="1344168"/>
            <a:ext cx="0" cy="146304"/>
          </a:xfrm>
          <a:prstGeom prst="line">
            <a:avLst/>
          </a:prstGeom>
          <a:noFill/>
          <a:ln w="12700">
            <a:solidFill>
              <a:srgbClr val="FB923C"/>
            </a:solidFill>
            <a:prstDash val="solid"/>
          </a:ln>
        </p:spPr>
        <p:txBody>
          <a:bodyPr/>
          <a:lstStyle/>
          <a:p>
            <a:endParaRPr lang="ko-KR" altLang="en-US"/>
          </a:p>
        </p:txBody>
      </p:sp>
      <p:sp>
        <p:nvSpPr>
          <p:cNvPr id="13" name="Shape 11"/>
          <p:cNvSpPr/>
          <p:nvPr/>
        </p:nvSpPr>
        <p:spPr>
          <a:xfrm>
            <a:off x="960120" y="1490472"/>
            <a:ext cx="7132320" cy="475488"/>
          </a:xfrm>
          <a:prstGeom prst="roundRect">
            <a:avLst>
              <a:gd name="adj" fmla="val 19231"/>
            </a:avLst>
          </a:prstGeom>
          <a:solidFill>
            <a:srgbClr val="FFF7ED"/>
          </a:solidFill>
          <a:ln w="12700">
            <a:solidFill>
              <a:srgbClr val="E2E8F0"/>
            </a:solidFill>
            <a:prstDash val="solid"/>
          </a:ln>
        </p:spPr>
        <p:txBody>
          <a:bodyPr/>
          <a:lstStyle/>
          <a:p>
            <a:endParaRPr lang="ko-KR" altLang="en-US"/>
          </a:p>
        </p:txBody>
      </p:sp>
      <p:sp>
        <p:nvSpPr>
          <p:cNvPr id="14" name="Text 12"/>
          <p:cNvSpPr/>
          <p:nvPr/>
        </p:nvSpPr>
        <p:spPr>
          <a:xfrm>
            <a:off x="1097280" y="1591056"/>
            <a:ext cx="320040" cy="228600"/>
          </a:xfrm>
          <a:prstGeom prst="rect">
            <a:avLst/>
          </a:prstGeom>
          <a:noFill/>
          <a:ln/>
        </p:spPr>
        <p:txBody>
          <a:bodyPr wrap="square" rtlCol="0" anchor="ctr"/>
          <a:lstStyle/>
          <a:p>
            <a:pPr marL="0" indent="0">
              <a:buNone/>
            </a:pPr>
            <a:r>
              <a:rPr lang="en-US" sz="1600" dirty="0">
                <a:solidFill>
                  <a:srgbClr val="7C2D12"/>
                </a:solidFill>
                <a:latin typeface="Arial" pitchFamily="34" charset="0"/>
                <a:ea typeface="Arial" pitchFamily="34" charset="-122"/>
                <a:cs typeface="Arial" pitchFamily="34" charset="-120"/>
              </a:rPr>
              <a:t>2️⃣</a:t>
            </a:r>
            <a:endParaRPr lang="en-US" sz="1600" dirty="0"/>
          </a:p>
        </p:txBody>
      </p:sp>
      <p:sp>
        <p:nvSpPr>
          <p:cNvPr id="15" name="Text 13"/>
          <p:cNvSpPr/>
          <p:nvPr/>
        </p:nvSpPr>
        <p:spPr>
          <a:xfrm>
            <a:off x="1508760" y="1581912"/>
            <a:ext cx="6400800" cy="237744"/>
          </a:xfrm>
          <a:prstGeom prst="rect">
            <a:avLst/>
          </a:prstGeom>
          <a:noFill/>
          <a:ln/>
        </p:spPr>
        <p:txBody>
          <a:bodyPr wrap="square" rtlCol="0" anchor="ctr"/>
          <a:lstStyle/>
          <a:p>
            <a:pPr marL="0" indent="0">
              <a:lnSpc>
                <a:spcPct val="130000"/>
              </a:lnSpc>
              <a:buNone/>
            </a:pPr>
            <a:r>
              <a:rPr lang="en-US" sz="1500" dirty="0">
                <a:solidFill>
                  <a:srgbClr val="7C2D12"/>
                </a:solidFill>
                <a:latin typeface="맑은 고딕" pitchFamily="34" charset="0"/>
                <a:ea typeface="맑은 고딕" pitchFamily="34" charset="-122"/>
                <a:cs typeface="맑은 고딕" pitchFamily="34" charset="-120"/>
              </a:rPr>
              <a:t>4개 로터 모두 느리게 → Z 감소 (하강)</a:t>
            </a:r>
            <a:endParaRPr lang="en-US" sz="1500" dirty="0"/>
          </a:p>
        </p:txBody>
      </p:sp>
      <p:sp>
        <p:nvSpPr>
          <p:cNvPr id="16" name="Shape 14"/>
          <p:cNvSpPr/>
          <p:nvPr/>
        </p:nvSpPr>
        <p:spPr>
          <a:xfrm>
            <a:off x="1325880" y="1965960"/>
            <a:ext cx="0" cy="146304"/>
          </a:xfrm>
          <a:prstGeom prst="line">
            <a:avLst/>
          </a:prstGeom>
          <a:noFill/>
          <a:ln w="12700">
            <a:solidFill>
              <a:srgbClr val="FB923C"/>
            </a:solidFill>
            <a:prstDash val="solid"/>
          </a:ln>
        </p:spPr>
        <p:txBody>
          <a:bodyPr/>
          <a:lstStyle/>
          <a:p>
            <a:endParaRPr lang="ko-KR" altLang="en-US"/>
          </a:p>
        </p:txBody>
      </p:sp>
      <p:sp>
        <p:nvSpPr>
          <p:cNvPr id="17" name="Shape 15"/>
          <p:cNvSpPr/>
          <p:nvPr/>
        </p:nvSpPr>
        <p:spPr>
          <a:xfrm>
            <a:off x="960120" y="2112264"/>
            <a:ext cx="7132320" cy="475488"/>
          </a:xfrm>
          <a:prstGeom prst="roundRect">
            <a:avLst>
              <a:gd name="adj" fmla="val 19231"/>
            </a:avLst>
          </a:prstGeom>
          <a:solidFill>
            <a:srgbClr val="FFF7ED"/>
          </a:solidFill>
          <a:ln w="12700">
            <a:solidFill>
              <a:srgbClr val="E2E8F0"/>
            </a:solidFill>
            <a:prstDash val="solid"/>
          </a:ln>
        </p:spPr>
        <p:txBody>
          <a:bodyPr/>
          <a:lstStyle/>
          <a:p>
            <a:endParaRPr lang="ko-KR" altLang="en-US"/>
          </a:p>
        </p:txBody>
      </p:sp>
      <p:sp>
        <p:nvSpPr>
          <p:cNvPr id="18" name="Text 16"/>
          <p:cNvSpPr/>
          <p:nvPr/>
        </p:nvSpPr>
        <p:spPr>
          <a:xfrm>
            <a:off x="1097280" y="2212848"/>
            <a:ext cx="320040" cy="228600"/>
          </a:xfrm>
          <a:prstGeom prst="rect">
            <a:avLst/>
          </a:prstGeom>
          <a:noFill/>
          <a:ln/>
        </p:spPr>
        <p:txBody>
          <a:bodyPr wrap="square" rtlCol="0" anchor="ctr"/>
          <a:lstStyle/>
          <a:p>
            <a:pPr marL="0" indent="0">
              <a:buNone/>
            </a:pPr>
            <a:r>
              <a:rPr lang="en-US" sz="1600" dirty="0">
                <a:solidFill>
                  <a:srgbClr val="7C2D12"/>
                </a:solidFill>
                <a:latin typeface="Arial" pitchFamily="34" charset="0"/>
                <a:ea typeface="Arial" pitchFamily="34" charset="-122"/>
                <a:cs typeface="Arial" pitchFamily="34" charset="-120"/>
              </a:rPr>
              <a:t>3️⃣</a:t>
            </a:r>
            <a:endParaRPr lang="en-US" sz="1600" dirty="0"/>
          </a:p>
        </p:txBody>
      </p:sp>
      <p:sp>
        <p:nvSpPr>
          <p:cNvPr id="19" name="Text 17"/>
          <p:cNvSpPr/>
          <p:nvPr/>
        </p:nvSpPr>
        <p:spPr>
          <a:xfrm>
            <a:off x="1508760" y="2203704"/>
            <a:ext cx="6400800" cy="237744"/>
          </a:xfrm>
          <a:prstGeom prst="rect">
            <a:avLst/>
          </a:prstGeom>
          <a:noFill/>
          <a:ln/>
        </p:spPr>
        <p:txBody>
          <a:bodyPr wrap="square" rtlCol="0" anchor="ctr"/>
          <a:lstStyle/>
          <a:p>
            <a:pPr marL="0" indent="0">
              <a:lnSpc>
                <a:spcPct val="130000"/>
              </a:lnSpc>
              <a:buNone/>
            </a:pPr>
            <a:r>
              <a:rPr lang="en-US" sz="1500" dirty="0">
                <a:solidFill>
                  <a:srgbClr val="7C2D12"/>
                </a:solidFill>
                <a:latin typeface="맑은 고딕" pitchFamily="34" charset="0"/>
                <a:ea typeface="맑은 고딕" pitchFamily="34" charset="-122"/>
                <a:cs typeface="맑은 고딕" pitchFamily="34" charset="-120"/>
              </a:rPr>
              <a:t>앞쪽 2개 느리게 + 뒤쪽 2개 빠르게 → 앞으로 기울어짐 → Y 증가</a:t>
            </a:r>
            <a:endParaRPr lang="en-US" sz="1500" dirty="0"/>
          </a:p>
        </p:txBody>
      </p:sp>
      <p:sp>
        <p:nvSpPr>
          <p:cNvPr id="20" name="Shape 18"/>
          <p:cNvSpPr/>
          <p:nvPr/>
        </p:nvSpPr>
        <p:spPr>
          <a:xfrm>
            <a:off x="1325880" y="2587752"/>
            <a:ext cx="0" cy="146304"/>
          </a:xfrm>
          <a:prstGeom prst="line">
            <a:avLst/>
          </a:prstGeom>
          <a:noFill/>
          <a:ln w="12700">
            <a:solidFill>
              <a:srgbClr val="FB923C"/>
            </a:solidFill>
            <a:prstDash val="solid"/>
          </a:ln>
        </p:spPr>
        <p:txBody>
          <a:bodyPr/>
          <a:lstStyle/>
          <a:p>
            <a:endParaRPr lang="ko-KR" altLang="en-US"/>
          </a:p>
        </p:txBody>
      </p:sp>
      <p:sp>
        <p:nvSpPr>
          <p:cNvPr id="21" name="Shape 19"/>
          <p:cNvSpPr/>
          <p:nvPr/>
        </p:nvSpPr>
        <p:spPr>
          <a:xfrm>
            <a:off x="960120" y="2734056"/>
            <a:ext cx="7132320" cy="475488"/>
          </a:xfrm>
          <a:prstGeom prst="roundRect">
            <a:avLst>
              <a:gd name="adj" fmla="val 19231"/>
            </a:avLst>
          </a:prstGeom>
          <a:solidFill>
            <a:srgbClr val="FFF7ED"/>
          </a:solidFill>
          <a:ln w="12700">
            <a:solidFill>
              <a:srgbClr val="E2E8F0"/>
            </a:solidFill>
            <a:prstDash val="solid"/>
          </a:ln>
        </p:spPr>
        <p:txBody>
          <a:bodyPr/>
          <a:lstStyle/>
          <a:p>
            <a:endParaRPr lang="ko-KR" altLang="en-US"/>
          </a:p>
        </p:txBody>
      </p:sp>
      <p:sp>
        <p:nvSpPr>
          <p:cNvPr id="22" name="Text 20"/>
          <p:cNvSpPr/>
          <p:nvPr/>
        </p:nvSpPr>
        <p:spPr>
          <a:xfrm>
            <a:off x="1097280" y="2834640"/>
            <a:ext cx="320040" cy="228600"/>
          </a:xfrm>
          <a:prstGeom prst="rect">
            <a:avLst/>
          </a:prstGeom>
          <a:noFill/>
          <a:ln/>
        </p:spPr>
        <p:txBody>
          <a:bodyPr wrap="square" rtlCol="0" anchor="ctr"/>
          <a:lstStyle/>
          <a:p>
            <a:pPr marL="0" indent="0">
              <a:buNone/>
            </a:pPr>
            <a:r>
              <a:rPr lang="en-US" sz="1600" dirty="0">
                <a:solidFill>
                  <a:srgbClr val="7C2D12"/>
                </a:solidFill>
                <a:latin typeface="Arial" pitchFamily="34" charset="0"/>
                <a:ea typeface="Arial" pitchFamily="34" charset="-122"/>
                <a:cs typeface="Arial" pitchFamily="34" charset="-120"/>
              </a:rPr>
              <a:t>4️⃣</a:t>
            </a:r>
            <a:endParaRPr lang="en-US" sz="1600" dirty="0"/>
          </a:p>
        </p:txBody>
      </p:sp>
      <p:sp>
        <p:nvSpPr>
          <p:cNvPr id="23" name="Text 21"/>
          <p:cNvSpPr/>
          <p:nvPr/>
        </p:nvSpPr>
        <p:spPr>
          <a:xfrm>
            <a:off x="1508760" y="2825496"/>
            <a:ext cx="6400800" cy="237744"/>
          </a:xfrm>
          <a:prstGeom prst="rect">
            <a:avLst/>
          </a:prstGeom>
          <a:noFill/>
          <a:ln/>
        </p:spPr>
        <p:txBody>
          <a:bodyPr wrap="square" rtlCol="0" anchor="ctr"/>
          <a:lstStyle/>
          <a:p>
            <a:pPr marL="0" indent="0">
              <a:lnSpc>
                <a:spcPct val="130000"/>
              </a:lnSpc>
              <a:buNone/>
            </a:pPr>
            <a:r>
              <a:rPr lang="en-US" sz="1500" dirty="0">
                <a:solidFill>
                  <a:srgbClr val="7C2D12"/>
                </a:solidFill>
                <a:latin typeface="맑은 고딕" pitchFamily="34" charset="0"/>
                <a:ea typeface="맑은 고딕" pitchFamily="34" charset="-122"/>
                <a:cs typeface="맑은 고딕" pitchFamily="34" charset="-120"/>
              </a:rPr>
              <a:t>오른쪽 2개 느리게 + 왼쪽 2개 빠르게 → 오른쪽 기울어짐 → X 증가</a:t>
            </a:r>
            <a:endParaRPr lang="en-US" sz="1500" dirty="0"/>
          </a:p>
        </p:txBody>
      </p:sp>
      <p:sp>
        <p:nvSpPr>
          <p:cNvPr id="24" name="Shape 22"/>
          <p:cNvSpPr/>
          <p:nvPr/>
        </p:nvSpPr>
        <p:spPr>
          <a:xfrm>
            <a:off x="1325880" y="3209544"/>
            <a:ext cx="0" cy="146304"/>
          </a:xfrm>
          <a:prstGeom prst="line">
            <a:avLst/>
          </a:prstGeom>
          <a:noFill/>
          <a:ln w="12700">
            <a:solidFill>
              <a:srgbClr val="FB923C"/>
            </a:solidFill>
            <a:prstDash val="solid"/>
          </a:ln>
        </p:spPr>
        <p:txBody>
          <a:bodyPr/>
          <a:lstStyle/>
          <a:p>
            <a:endParaRPr lang="ko-KR" altLang="en-US"/>
          </a:p>
        </p:txBody>
      </p:sp>
      <p:sp>
        <p:nvSpPr>
          <p:cNvPr id="25" name="Shape 23"/>
          <p:cNvSpPr/>
          <p:nvPr/>
        </p:nvSpPr>
        <p:spPr>
          <a:xfrm>
            <a:off x="960120" y="3355848"/>
            <a:ext cx="7132320" cy="475488"/>
          </a:xfrm>
          <a:prstGeom prst="roundRect">
            <a:avLst>
              <a:gd name="adj" fmla="val 19231"/>
            </a:avLst>
          </a:prstGeom>
          <a:solidFill>
            <a:srgbClr val="FFF7ED"/>
          </a:solidFill>
          <a:ln w="12700">
            <a:solidFill>
              <a:srgbClr val="E2E8F0"/>
            </a:solidFill>
            <a:prstDash val="solid"/>
          </a:ln>
        </p:spPr>
        <p:txBody>
          <a:bodyPr/>
          <a:lstStyle/>
          <a:p>
            <a:endParaRPr lang="ko-KR" altLang="en-US"/>
          </a:p>
        </p:txBody>
      </p:sp>
      <p:sp>
        <p:nvSpPr>
          <p:cNvPr id="26" name="Text 24"/>
          <p:cNvSpPr/>
          <p:nvPr/>
        </p:nvSpPr>
        <p:spPr>
          <a:xfrm>
            <a:off x="1097280" y="3456432"/>
            <a:ext cx="320040" cy="228600"/>
          </a:xfrm>
          <a:prstGeom prst="rect">
            <a:avLst/>
          </a:prstGeom>
          <a:noFill/>
          <a:ln/>
        </p:spPr>
        <p:txBody>
          <a:bodyPr wrap="square" rtlCol="0" anchor="ctr"/>
          <a:lstStyle/>
          <a:p>
            <a:pPr marL="0" indent="0">
              <a:buNone/>
            </a:pPr>
            <a:r>
              <a:rPr lang="en-US" sz="1600" dirty="0">
                <a:solidFill>
                  <a:srgbClr val="7C2D12"/>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1508760" y="3447288"/>
            <a:ext cx="6400800" cy="237744"/>
          </a:xfrm>
          <a:prstGeom prst="rect">
            <a:avLst/>
          </a:prstGeom>
          <a:noFill/>
          <a:ln/>
        </p:spPr>
        <p:txBody>
          <a:bodyPr wrap="square" rtlCol="0" anchor="ctr"/>
          <a:lstStyle/>
          <a:p>
            <a:pPr marL="0" indent="0">
              <a:lnSpc>
                <a:spcPct val="130000"/>
              </a:lnSpc>
              <a:buNone/>
            </a:pPr>
            <a:r>
              <a:rPr lang="en-US" sz="1500" dirty="0">
                <a:solidFill>
                  <a:srgbClr val="7C2D12"/>
                </a:solidFill>
                <a:latin typeface="맑은 고딕" pitchFamily="34" charset="0"/>
                <a:ea typeface="맑은 고딕" pitchFamily="34" charset="-122"/>
                <a:cs typeface="맑은 고딕" pitchFamily="34" charset="-120"/>
              </a:rPr>
              <a:t>대각선 2개씩 속도 차이 → 제자리 회전 → 헤딩만 변화</a:t>
            </a:r>
            <a:endParaRPr lang="en-US" sz="1500" dirty="0"/>
          </a:p>
        </p:txBody>
      </p:sp>
      <p:sp>
        <p:nvSpPr>
          <p:cNvPr id="29" name="Text 26"/>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30" name="Text 27"/>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8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F97316"/>
          </a:solidFill>
          <a:ln w="12700">
            <a:solidFill>
              <a:srgbClr val="F97316"/>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비행 시나리오</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4주차</a:t>
            </a:r>
            <a:endParaRPr lang="en-US" sz="1200" dirty="0"/>
          </a:p>
        </p:txBody>
      </p:sp>
      <p:sp>
        <p:nvSpPr>
          <p:cNvPr id="9" name="Shape 7"/>
          <p:cNvSpPr/>
          <p:nvPr/>
        </p:nvSpPr>
        <p:spPr>
          <a:xfrm>
            <a:off x="457200" y="868680"/>
            <a:ext cx="3840480" cy="3520440"/>
          </a:xfrm>
          <a:prstGeom prst="roundRect">
            <a:avLst>
              <a:gd name="adj" fmla="val 3117"/>
            </a:avLst>
          </a:prstGeom>
          <a:solidFill>
            <a:srgbClr val="FFF7ED"/>
          </a:solidFill>
          <a:ln w="12700">
            <a:solidFill>
              <a:srgbClr val="E2E8F0"/>
            </a:solidFill>
            <a:prstDash val="solid"/>
          </a:ln>
        </p:spPr>
        <p:txBody>
          <a:bodyPr/>
          <a:lstStyle/>
          <a:p>
            <a:endParaRPr lang="ko-KR" altLang="en-US"/>
          </a:p>
        </p:txBody>
      </p:sp>
      <p:pic>
        <p:nvPicPr>
          <p:cNvPr id="10" name="Image 0" descr="/Users/admin/Desktop/codrone/materials/PPT/.ppt-work/images/week04/slide09.jpg"/>
          <p:cNvPicPr>
            <a:picLocks noChangeAspect="1"/>
          </p:cNvPicPr>
          <p:nvPr/>
        </p:nvPicPr>
        <p:blipFill>
          <a:blip r:embed="rId3"/>
          <a:srcRect/>
          <a:stretch/>
        </p:blipFill>
        <p:spPr>
          <a:xfrm>
            <a:off x="502920" y="914400"/>
            <a:ext cx="3749040" cy="3429000"/>
          </a:xfrm>
          <a:prstGeom prst="rect">
            <a:avLst/>
          </a:prstGeom>
        </p:spPr>
      </p:pic>
      <p:sp>
        <p:nvSpPr>
          <p:cNvPr id="11" name="Text 8"/>
          <p:cNvSpPr/>
          <p:nvPr/>
        </p:nvSpPr>
        <p:spPr>
          <a:xfrm>
            <a:off x="4526280" y="960120"/>
            <a:ext cx="4206240" cy="3474720"/>
          </a:xfrm>
          <a:prstGeom prst="rect">
            <a:avLst/>
          </a:prstGeom>
          <a:noFill/>
          <a:ln/>
        </p:spPr>
        <p:txBody>
          <a:bodyPr wrap="square" lIns="254" tIns="254" rIns="254" bIns="254" rtlCol="0" anchor="t">
            <a:normAutofit fontScale="92500" lnSpcReduction="10000"/>
          </a:bodyPr>
          <a:lstStyle/>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[시나리오 1: 이륙 → 호버링]</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시작: (0, 0, 0)</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스로틀 올리기 → (0, 0, 3) 3m 상승</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스로틀 유지 → (0, 0, 3) 그대로 호버링</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[시나리오 2: 전진 → 착륙]</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호버링 중: (0, 0, 3)</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앞으로 피치 → (0, 5, 3) 앞으로 5m 전진</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스로틀 내리기 → (0, 5, 0) 착륙 완료!</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X는 안 변함 → 좌우 이동을 안 했으니까!</a:t>
            </a:r>
            <a:endParaRPr lang="en-US" sz="1600" dirty="0"/>
          </a:p>
        </p:txBody>
      </p:sp>
      <p:sp>
        <p:nvSpPr>
          <p:cNvPr id="13" name="Text 9"/>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0"/>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9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F97316"/>
          </a:solidFill>
          <a:ln w="12700">
            <a:solidFill>
              <a:srgbClr val="F97316"/>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좌표 보물찾기!</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4주차</a:t>
            </a:r>
            <a:endParaRPr lang="en-US" sz="1200" dirty="0"/>
          </a:p>
        </p:txBody>
      </p:sp>
      <p:sp>
        <p:nvSpPr>
          <p:cNvPr id="9" name="Shape 7"/>
          <p:cNvSpPr/>
          <p:nvPr/>
        </p:nvSpPr>
        <p:spPr>
          <a:xfrm>
            <a:off x="457200" y="822960"/>
            <a:ext cx="5120640" cy="548640"/>
          </a:xfrm>
          <a:prstGeom prst="roundRect">
            <a:avLst>
              <a:gd name="adj" fmla="val 16667"/>
            </a:avLst>
          </a:prstGeom>
          <a:solidFill>
            <a:srgbClr val="FB923C">
              <a:alpha val="15000"/>
            </a:srgbClr>
          </a:solidFill>
          <a:ln w="12700">
            <a:solidFill>
              <a:srgbClr val="FB923C"/>
            </a:solidFill>
            <a:prstDash val="solid"/>
          </a:ln>
        </p:spPr>
        <p:txBody>
          <a:bodyPr/>
          <a:lstStyle/>
          <a:p>
            <a:endParaRPr lang="ko-KR" altLang="en-US"/>
          </a:p>
        </p:txBody>
      </p:sp>
      <p:sp>
        <p:nvSpPr>
          <p:cNvPr id="10" name="Text 8"/>
          <p:cNvSpPr/>
          <p:nvPr/>
        </p:nvSpPr>
        <p:spPr>
          <a:xfrm>
            <a:off x="640080" y="896112"/>
            <a:ext cx="4754880" cy="365760"/>
          </a:xfrm>
          <a:prstGeom prst="rect">
            <a:avLst/>
          </a:prstGeom>
          <a:noFill/>
          <a:ln/>
        </p:spPr>
        <p:txBody>
          <a:bodyPr wrap="square" rtlCol="0" anchor="ctr"/>
          <a:lstStyle/>
          <a:p>
            <a:pPr marL="0" indent="0" algn="ctr">
              <a:buNone/>
            </a:pPr>
            <a:r>
              <a:rPr lang="en-US" sz="1800" b="1" dirty="0">
                <a:solidFill>
                  <a:srgbClr val="7C2D12"/>
                </a:solidFill>
                <a:latin typeface="맑은 고딕" pitchFamily="34" charset="0"/>
                <a:ea typeface="맑은 고딕" pitchFamily="34" charset="-122"/>
                <a:cs typeface="맑은 고딕" pitchFamily="34" charset="-120"/>
              </a:rPr>
              <a:t>좌표를 사용해 드론으로 보물을 찾아가자</a:t>
            </a:r>
            <a:endParaRPr lang="en-US" sz="1800" dirty="0"/>
          </a:p>
        </p:txBody>
      </p:sp>
      <p:sp>
        <p:nvSpPr>
          <p:cNvPr id="11" name="Text 9"/>
          <p:cNvSpPr/>
          <p:nvPr/>
        </p:nvSpPr>
        <p:spPr>
          <a:xfrm>
            <a:off x="640080" y="1554480"/>
            <a:ext cx="4937760" cy="2834640"/>
          </a:xfrm>
          <a:prstGeom prst="rect">
            <a:avLst/>
          </a:prstGeom>
          <a:noFill/>
          <a:ln/>
        </p:spPr>
        <p:txBody>
          <a:bodyPr wrap="square" lIns="254" tIns="254" rIns="254" bIns="254" rtlCol="0" anchor="t">
            <a:normAutofit lnSpcReduction="10000"/>
          </a:bodyPr>
          <a:lstStyle/>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미션: 드론 조종사가 되어 보물을 찾아요!</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보물 위치: (3, 4, 2) — 오른쪽 3, 앞으로 4, 위로 2</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어떤 조종을 써야 할까?</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① 스로틀 올려서 Z=2까지 상승</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② 오른쪽 롤로 X=3까지 이동</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③ 앞으로 피치로 Y=4까지 전진</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도전: 보물이 (-2, 3, 5)에 있다면 어떻게 갈까?</a:t>
            </a:r>
            <a:endParaRPr lang="en-US" sz="1600" dirty="0"/>
          </a:p>
        </p:txBody>
      </p:sp>
      <p:sp>
        <p:nvSpPr>
          <p:cNvPr id="12" name="Shape 10"/>
          <p:cNvSpPr/>
          <p:nvPr/>
        </p:nvSpPr>
        <p:spPr>
          <a:xfrm>
            <a:off x="5760720" y="822960"/>
            <a:ext cx="3108960" cy="3749040"/>
          </a:xfrm>
          <a:prstGeom prst="roundRect">
            <a:avLst>
              <a:gd name="adj" fmla="val 3529"/>
            </a:avLst>
          </a:prstGeom>
          <a:solidFill>
            <a:srgbClr val="FFF7ED"/>
          </a:solidFill>
          <a:ln w="12700">
            <a:solidFill>
              <a:srgbClr val="E2E8F0"/>
            </a:solidFill>
            <a:prstDash val="solid"/>
          </a:ln>
        </p:spPr>
        <p:txBody>
          <a:bodyPr/>
          <a:lstStyle/>
          <a:p>
            <a:endParaRPr lang="ko-KR" altLang="en-US"/>
          </a:p>
        </p:txBody>
      </p:sp>
      <p:pic>
        <p:nvPicPr>
          <p:cNvPr id="13" name="Image 0" descr="/Users/admin/Desktop/codrone/materials/PPT/.ppt-work/images/week04/slide10.jpg"/>
          <p:cNvPicPr>
            <a:picLocks noChangeAspect="1"/>
          </p:cNvPicPr>
          <p:nvPr/>
        </p:nvPicPr>
        <p:blipFill>
          <a:blip r:embed="rId3"/>
          <a:srcRect/>
          <a:stretch/>
        </p:blipFill>
        <p:spPr>
          <a:xfrm>
            <a:off x="5806440" y="868680"/>
            <a:ext cx="3017520" cy="3657600"/>
          </a:xfrm>
          <a:prstGeom prst="rect">
            <a:avLst/>
          </a:prstGeom>
        </p:spPr>
      </p:pic>
      <p:sp>
        <p:nvSpPr>
          <p:cNvPr id="15" name="Text 11"/>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6" name="Text 12"/>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10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F97316"/>
          </a:solidFill>
          <a:ln w="12700">
            <a:solidFill>
              <a:srgbClr val="F97316"/>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정리</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4주차</a:t>
            </a:r>
            <a:endParaRPr lang="en-US" sz="1200" dirty="0"/>
          </a:p>
        </p:txBody>
      </p:sp>
      <p:sp>
        <p:nvSpPr>
          <p:cNvPr id="9" name="Shape 7"/>
          <p:cNvSpPr/>
          <p:nvPr/>
        </p:nvSpPr>
        <p:spPr>
          <a:xfrm>
            <a:off x="8046720" y="-548640"/>
            <a:ext cx="1828800" cy="1828800"/>
          </a:xfrm>
          <a:prstGeom prst="ellipse">
            <a:avLst/>
          </a:prstGeom>
          <a:solidFill>
            <a:srgbClr val="FB923C">
              <a:alpha val="20000"/>
            </a:srgbClr>
          </a:solidFill>
          <a:ln w="12700">
            <a:solidFill>
              <a:srgbClr val="FB923C"/>
            </a:solidFill>
            <a:prstDash val="solid"/>
          </a:ln>
        </p:spPr>
        <p:txBody>
          <a:bodyPr/>
          <a:lstStyle/>
          <a:p>
            <a:endParaRPr lang="ko-KR" altLang="en-US"/>
          </a:p>
        </p:txBody>
      </p:sp>
      <p:sp>
        <p:nvSpPr>
          <p:cNvPr id="10" name="Shape 8"/>
          <p:cNvSpPr/>
          <p:nvPr/>
        </p:nvSpPr>
        <p:spPr>
          <a:xfrm>
            <a:off x="-457200" y="3840480"/>
            <a:ext cx="1463040" cy="1463040"/>
          </a:xfrm>
          <a:prstGeom prst="ellipse">
            <a:avLst/>
          </a:prstGeom>
          <a:solidFill>
            <a:srgbClr val="F97316">
              <a:alpha val="15000"/>
            </a:srgbClr>
          </a:solidFill>
          <a:ln w="12700">
            <a:solidFill>
              <a:srgbClr val="F97316"/>
            </a:solidFill>
            <a:prstDash val="solid"/>
          </a:ln>
        </p:spPr>
        <p:txBody>
          <a:bodyPr/>
          <a:lstStyle/>
          <a:p>
            <a:endParaRPr lang="ko-KR" altLang="en-US"/>
          </a:p>
        </p:txBody>
      </p:sp>
      <p:sp>
        <p:nvSpPr>
          <p:cNvPr id="11" name="Shape 9"/>
          <p:cNvSpPr/>
          <p:nvPr/>
        </p:nvSpPr>
        <p:spPr>
          <a:xfrm>
            <a:off x="457200" y="804672"/>
            <a:ext cx="8229600" cy="411480"/>
          </a:xfrm>
          <a:prstGeom prst="roundRect">
            <a:avLst>
              <a:gd name="adj" fmla="val 22222"/>
            </a:avLst>
          </a:prstGeom>
          <a:solidFill>
            <a:srgbClr val="FFF7ED"/>
          </a:solidFill>
          <a:ln w="12700">
            <a:solidFill>
              <a:srgbClr val="FFF7ED"/>
            </a:solidFill>
            <a:prstDash val="solid"/>
          </a:ln>
        </p:spPr>
        <p:txBody>
          <a:bodyPr/>
          <a:lstStyle/>
          <a:p>
            <a:endParaRPr lang="ko-KR" altLang="en-US"/>
          </a:p>
        </p:txBody>
      </p:sp>
      <p:sp>
        <p:nvSpPr>
          <p:cNvPr id="12" name="Text 10"/>
          <p:cNvSpPr/>
          <p:nvPr/>
        </p:nvSpPr>
        <p:spPr>
          <a:xfrm>
            <a:off x="640080" y="841248"/>
            <a:ext cx="7863840" cy="320040"/>
          </a:xfrm>
          <a:prstGeom prst="rect">
            <a:avLst/>
          </a:prstGeom>
          <a:noFill/>
          <a:ln/>
        </p:spPr>
        <p:txBody>
          <a:bodyPr wrap="square" rtlCol="0" anchor="ctr"/>
          <a:lstStyle/>
          <a:p>
            <a:pPr marL="0" indent="0" algn="ctr">
              <a:buNone/>
            </a:pPr>
            <a:r>
              <a:rPr lang="en-US" sz="1600" b="1" dirty="0">
                <a:solidFill>
                  <a:srgbClr val="EA580C"/>
                </a:solidFill>
                <a:latin typeface="맑은 고딕" pitchFamily="34" charset="0"/>
                <a:ea typeface="맑은 고딕" pitchFamily="34" charset="-122"/>
                <a:cs typeface="맑은 고딕" pitchFamily="34" charset="-120"/>
              </a:rPr>
              <a:t>3차원 좌표와 조종의 연결 한눈에</a:t>
            </a:r>
            <a:endParaRPr lang="en-US" sz="1600" dirty="0"/>
          </a:p>
        </p:txBody>
      </p:sp>
      <p:sp>
        <p:nvSpPr>
          <p:cNvPr id="13" name="Text 11"/>
          <p:cNvSpPr/>
          <p:nvPr/>
        </p:nvSpPr>
        <p:spPr>
          <a:xfrm>
            <a:off x="640080" y="1371600"/>
            <a:ext cx="7863840" cy="301752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800" dirty="0">
                <a:solidFill>
                  <a:srgbClr val="7C2D12"/>
                </a:solidFill>
                <a:latin typeface="맑은 고딕" pitchFamily="34" charset="0"/>
                <a:ea typeface="맑은 고딕" pitchFamily="34" charset="-122"/>
                <a:cs typeface="맑은 고딕" pitchFamily="34" charset="-120"/>
              </a:rPr>
              <a:t>X축: 좌우 방향 → 롤로 조종</a:t>
            </a:r>
            <a:endParaRPr lang="en-US" sz="1800" dirty="0"/>
          </a:p>
          <a:p>
            <a:pPr marL="203200" indent="-203200">
              <a:lnSpc>
                <a:spcPct val="130000"/>
              </a:lnSpc>
              <a:spcAft>
                <a:spcPts val="1000"/>
              </a:spcAft>
              <a:buSzPct val="100000"/>
              <a:buChar char="•"/>
            </a:pPr>
            <a:r>
              <a:rPr lang="en-US" sz="1800" dirty="0">
                <a:solidFill>
                  <a:srgbClr val="7C2D12"/>
                </a:solidFill>
                <a:latin typeface="맑은 고딕" pitchFamily="34" charset="0"/>
                <a:ea typeface="맑은 고딕" pitchFamily="34" charset="-122"/>
                <a:cs typeface="맑은 고딕" pitchFamily="34" charset="-120"/>
              </a:rPr>
              <a:t>Y축: 앞뒤 방향 → 피치로 조종</a:t>
            </a:r>
            <a:endParaRPr lang="en-US" sz="1800" dirty="0"/>
          </a:p>
          <a:p>
            <a:pPr marL="203200" indent="-203200">
              <a:lnSpc>
                <a:spcPct val="130000"/>
              </a:lnSpc>
              <a:spcAft>
                <a:spcPts val="1000"/>
              </a:spcAft>
              <a:buSzPct val="100000"/>
              <a:buChar char="•"/>
            </a:pPr>
            <a:r>
              <a:rPr lang="en-US" sz="1800" dirty="0">
                <a:solidFill>
                  <a:srgbClr val="7C2D12"/>
                </a:solidFill>
                <a:latin typeface="맑은 고딕" pitchFamily="34" charset="0"/>
                <a:ea typeface="맑은 고딕" pitchFamily="34" charset="-122"/>
                <a:cs typeface="맑은 고딕" pitchFamily="34" charset="-120"/>
              </a:rPr>
              <a:t>Z축: 위아래 높이 → 스로틀로 조종</a:t>
            </a:r>
            <a:endParaRPr lang="en-US" sz="1800" dirty="0"/>
          </a:p>
          <a:p>
            <a:pPr marL="203200" indent="-203200">
              <a:lnSpc>
                <a:spcPct val="130000"/>
              </a:lnSpc>
              <a:spcAft>
                <a:spcPts val="1000"/>
              </a:spcAft>
              <a:buSzPct val="100000"/>
              <a:buChar char="•"/>
            </a:pPr>
            <a:r>
              <a:rPr lang="en-US" sz="1800" dirty="0">
                <a:solidFill>
                  <a:srgbClr val="7C2D12"/>
                </a:solidFill>
                <a:latin typeface="맑은 고딕" pitchFamily="34" charset="0"/>
                <a:ea typeface="맑은 고딕" pitchFamily="34" charset="-122"/>
                <a:cs typeface="맑은 고딕" pitchFamily="34" charset="-120"/>
              </a:rPr>
              <a:t>요(Yaw): 좌표는 안 변하고 바라보는 방향(헤딩)만 변화</a:t>
            </a:r>
            <a:endParaRPr lang="en-US" sz="1800" dirty="0"/>
          </a:p>
          <a:p>
            <a:pPr marL="203200" indent="-203200">
              <a:lnSpc>
                <a:spcPct val="130000"/>
              </a:lnSpc>
              <a:spcAft>
                <a:spcPts val="1000"/>
              </a:spcAft>
              <a:buSzPct val="100000"/>
              <a:buChar char="•"/>
            </a:pPr>
            <a:r>
              <a:rPr lang="en-US" sz="1800" dirty="0">
                <a:solidFill>
                  <a:srgbClr val="7C2D12"/>
                </a:solidFill>
                <a:latin typeface="맑은 고딕" pitchFamily="34" charset="0"/>
                <a:ea typeface="맑은 고딕" pitchFamily="34" charset="-122"/>
                <a:cs typeface="맑은 고딕" pitchFamily="34" charset="-120"/>
              </a:rPr>
              <a:t>(X, Y, Z) 세 숫자면 3차원 공간 어디든 표현 가능</a:t>
            </a:r>
            <a:endParaRPr lang="en-US" sz="1800" dirty="0"/>
          </a:p>
          <a:p>
            <a:pPr marL="203200" indent="-203200">
              <a:lnSpc>
                <a:spcPct val="130000"/>
              </a:lnSpc>
              <a:spcAft>
                <a:spcPts val="1000"/>
              </a:spcAft>
              <a:buSzPct val="100000"/>
              <a:buChar char="•"/>
            </a:pPr>
            <a:r>
              <a:rPr lang="en-US" sz="1800" dirty="0">
                <a:solidFill>
                  <a:srgbClr val="7C2D12"/>
                </a:solidFill>
                <a:latin typeface="맑은 고딕" pitchFamily="34" charset="0"/>
                <a:ea typeface="맑은 고딕" pitchFamily="34" charset="-122"/>
                <a:cs typeface="맑은 고딕" pitchFamily="34" charset="-120"/>
              </a:rPr>
              <a:t>나중에 코딩으로 드론에게 좌표를 명령하게 돼요!</a:t>
            </a:r>
            <a:endParaRPr lang="en-US" sz="1800" dirty="0"/>
          </a:p>
        </p:txBody>
      </p:sp>
      <p:sp>
        <p:nvSpPr>
          <p:cNvPr id="15" name="Text 12"/>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6" name="Text 13"/>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11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F97316"/>
          </a:solidFill>
          <a:ln w="12700">
            <a:solidFill>
              <a:srgbClr val="F97316"/>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퀴즈</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4주차</a:t>
            </a:r>
            <a:endParaRPr lang="en-US" sz="1200" dirty="0"/>
          </a:p>
        </p:txBody>
      </p:sp>
      <p:sp>
        <p:nvSpPr>
          <p:cNvPr id="9" name="Shape 7"/>
          <p:cNvSpPr/>
          <p:nvPr/>
        </p:nvSpPr>
        <p:spPr>
          <a:xfrm>
            <a:off x="484632" y="1033272"/>
            <a:ext cx="1920240" cy="3474720"/>
          </a:xfrm>
          <a:prstGeom prst="roundRect">
            <a:avLst>
              <a:gd name="adj" fmla="val 5714"/>
            </a:avLst>
          </a:prstGeom>
          <a:solidFill>
            <a:srgbClr val="E2E8F0">
              <a:alpha val="50000"/>
            </a:srgbClr>
          </a:solidFill>
          <a:ln w="12700">
            <a:solidFill>
              <a:srgbClr val="E2E8F0"/>
            </a:solidFill>
            <a:prstDash val="solid"/>
          </a:ln>
        </p:spPr>
        <p:txBody>
          <a:bodyPr/>
          <a:lstStyle/>
          <a:p>
            <a:endParaRPr lang="ko-KR" altLang="en-US"/>
          </a:p>
        </p:txBody>
      </p:sp>
      <p:sp>
        <p:nvSpPr>
          <p:cNvPr id="10" name="Shape 8"/>
          <p:cNvSpPr/>
          <p:nvPr/>
        </p:nvSpPr>
        <p:spPr>
          <a:xfrm>
            <a:off x="457200" y="1005840"/>
            <a:ext cx="1920240" cy="3474720"/>
          </a:xfrm>
          <a:prstGeom prst="roundRect">
            <a:avLst>
              <a:gd name="adj" fmla="val 5714"/>
            </a:avLst>
          </a:prstGeom>
          <a:solidFill>
            <a:srgbClr val="FFFFFF"/>
          </a:solidFill>
          <a:ln w="12700">
            <a:solidFill>
              <a:srgbClr val="E2E8F0"/>
            </a:solidFill>
            <a:prstDash val="solid"/>
          </a:ln>
        </p:spPr>
        <p:txBody>
          <a:bodyPr/>
          <a:lstStyle/>
          <a:p>
            <a:endParaRPr lang="ko-KR" altLang="en-US"/>
          </a:p>
        </p:txBody>
      </p:sp>
      <p:sp>
        <p:nvSpPr>
          <p:cNvPr id="11" name="Shape 9"/>
          <p:cNvSpPr/>
          <p:nvPr/>
        </p:nvSpPr>
        <p:spPr>
          <a:xfrm>
            <a:off x="1028700" y="1234440"/>
            <a:ext cx="777240" cy="457200"/>
          </a:xfrm>
          <a:prstGeom prst="ellipse">
            <a:avLst/>
          </a:prstGeom>
          <a:solidFill>
            <a:srgbClr val="F97316"/>
          </a:solidFill>
          <a:ln w="12700">
            <a:solidFill>
              <a:srgbClr val="F97316"/>
            </a:solidFill>
            <a:prstDash val="solid"/>
          </a:ln>
        </p:spPr>
        <p:txBody>
          <a:bodyPr/>
          <a:lstStyle/>
          <a:p>
            <a:endParaRPr lang="ko-KR" altLang="en-US"/>
          </a:p>
        </p:txBody>
      </p:sp>
      <p:sp>
        <p:nvSpPr>
          <p:cNvPr id="12" name="Text 10"/>
          <p:cNvSpPr/>
          <p:nvPr/>
        </p:nvSpPr>
        <p:spPr>
          <a:xfrm>
            <a:off x="102870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Q1</a:t>
            </a:r>
            <a:endParaRPr lang="en-US" sz="1300" dirty="0"/>
          </a:p>
        </p:txBody>
      </p:sp>
      <p:sp>
        <p:nvSpPr>
          <p:cNvPr id="13" name="Text 11"/>
          <p:cNvSpPr/>
          <p:nvPr/>
        </p:nvSpPr>
        <p:spPr>
          <a:xfrm>
            <a:off x="621792" y="1874520"/>
            <a:ext cx="1591056" cy="1234440"/>
          </a:xfrm>
          <a:prstGeom prst="rect">
            <a:avLst/>
          </a:prstGeom>
          <a:noFill/>
          <a:ln/>
        </p:spPr>
        <p:txBody>
          <a:bodyPr wrap="square" rtlCol="0" anchor="ctr"/>
          <a:lstStyle/>
          <a:p>
            <a:pPr marL="0" indent="0" algn="ctr">
              <a:lnSpc>
                <a:spcPct val="130000"/>
              </a:lnSpc>
              <a:buNone/>
            </a:pPr>
            <a:r>
              <a:rPr lang="en-US" sz="1400" dirty="0">
                <a:solidFill>
                  <a:srgbClr val="7C2D12"/>
                </a:solidFill>
                <a:latin typeface="맑은 고딕" pitchFamily="34" charset="0"/>
                <a:ea typeface="맑은 고딕" pitchFamily="34" charset="-122"/>
                <a:cs typeface="맑은 고딕" pitchFamily="34" charset="-120"/>
              </a:rPr>
              <a:t>Q1. 드론의 높이를 나타내는 축은? </a:t>
            </a:r>
            <a:endParaRPr lang="en-US" sz="1400" dirty="0"/>
          </a:p>
        </p:txBody>
      </p:sp>
      <p:sp>
        <p:nvSpPr>
          <p:cNvPr id="14" name="Shape 12"/>
          <p:cNvSpPr/>
          <p:nvPr/>
        </p:nvSpPr>
        <p:spPr>
          <a:xfrm>
            <a:off x="594360" y="3291840"/>
            <a:ext cx="1645920" cy="914400"/>
          </a:xfrm>
          <a:prstGeom prst="roundRect">
            <a:avLst>
              <a:gd name="adj" fmla="val 10000"/>
            </a:avLst>
          </a:prstGeom>
          <a:solidFill>
            <a:srgbClr val="FFF7ED"/>
          </a:solidFill>
          <a:ln w="12700">
            <a:solidFill>
              <a:srgbClr val="FB923C"/>
            </a:solidFill>
            <a:prstDash val="solid"/>
          </a:ln>
        </p:spPr>
        <p:txBody>
          <a:bodyPr/>
          <a:lstStyle/>
          <a:p>
            <a:endParaRPr lang="ko-KR" altLang="en-US"/>
          </a:p>
        </p:txBody>
      </p:sp>
      <p:sp>
        <p:nvSpPr>
          <p:cNvPr id="15" name="Text 13"/>
          <p:cNvSpPr/>
          <p:nvPr/>
        </p:nvSpPr>
        <p:spPr>
          <a:xfrm>
            <a:off x="685800" y="3401568"/>
            <a:ext cx="1463040" cy="219456"/>
          </a:xfrm>
          <a:prstGeom prst="rect">
            <a:avLst/>
          </a:prstGeom>
          <a:noFill/>
          <a:ln/>
        </p:spPr>
        <p:txBody>
          <a:bodyPr wrap="square" rtlCol="0" anchor="ctr"/>
          <a:lstStyle/>
          <a:p>
            <a:pPr marL="0" indent="0" algn="ctr">
              <a:buNone/>
            </a:pPr>
            <a:r>
              <a:rPr lang="en-US" sz="1400" b="1" dirty="0">
                <a:solidFill>
                  <a:srgbClr val="F97316"/>
                </a:solidFill>
                <a:latin typeface="맑은 고딕" pitchFamily="34" charset="0"/>
                <a:ea typeface="맑은 고딕" pitchFamily="34" charset="-122"/>
                <a:cs typeface="맑은 고딕" pitchFamily="34" charset="-120"/>
              </a:rPr>
              <a:t>정답: </a:t>
            </a:r>
            <a:endParaRPr lang="en-US" sz="1400" dirty="0"/>
          </a:p>
        </p:txBody>
      </p:sp>
      <p:sp>
        <p:nvSpPr>
          <p:cNvPr id="16" name="Text 14"/>
          <p:cNvSpPr/>
          <p:nvPr/>
        </p:nvSpPr>
        <p:spPr>
          <a:xfrm>
            <a:off x="685800" y="3657600"/>
            <a:ext cx="1463040" cy="438912"/>
          </a:xfrm>
          <a:prstGeom prst="rect">
            <a:avLst/>
          </a:prstGeom>
          <a:noFill/>
          <a:ln/>
        </p:spPr>
        <p:txBody>
          <a:bodyPr wrap="square" rtlCol="0" anchor="ctr"/>
          <a:lstStyle/>
          <a:p>
            <a:pPr marL="0" indent="0" algn="ctr">
              <a:lnSpc>
                <a:spcPct val="120000"/>
              </a:lnSpc>
              <a:buNone/>
            </a:pPr>
            <a:endParaRPr lang="en-US" sz="1100" dirty="0"/>
          </a:p>
        </p:txBody>
      </p:sp>
      <p:sp>
        <p:nvSpPr>
          <p:cNvPr id="17" name="Shape 15"/>
          <p:cNvSpPr/>
          <p:nvPr/>
        </p:nvSpPr>
        <p:spPr>
          <a:xfrm>
            <a:off x="2587752" y="1033272"/>
            <a:ext cx="1920240" cy="3474720"/>
          </a:xfrm>
          <a:prstGeom prst="roundRect">
            <a:avLst>
              <a:gd name="adj" fmla="val 5714"/>
            </a:avLst>
          </a:prstGeom>
          <a:solidFill>
            <a:srgbClr val="E2E8F0">
              <a:alpha val="50000"/>
            </a:srgbClr>
          </a:solidFill>
          <a:ln w="12700">
            <a:solidFill>
              <a:srgbClr val="E2E8F0"/>
            </a:solidFill>
            <a:prstDash val="solid"/>
          </a:ln>
        </p:spPr>
        <p:txBody>
          <a:bodyPr/>
          <a:lstStyle/>
          <a:p>
            <a:endParaRPr lang="ko-KR" altLang="en-US"/>
          </a:p>
        </p:txBody>
      </p:sp>
      <p:sp>
        <p:nvSpPr>
          <p:cNvPr id="18" name="Shape 16"/>
          <p:cNvSpPr/>
          <p:nvPr/>
        </p:nvSpPr>
        <p:spPr>
          <a:xfrm>
            <a:off x="2560320" y="1005840"/>
            <a:ext cx="1920240" cy="3474720"/>
          </a:xfrm>
          <a:prstGeom prst="roundRect">
            <a:avLst>
              <a:gd name="adj" fmla="val 5714"/>
            </a:avLst>
          </a:prstGeom>
          <a:solidFill>
            <a:srgbClr val="FFFFFF"/>
          </a:solidFill>
          <a:ln w="12700">
            <a:solidFill>
              <a:srgbClr val="E2E8F0"/>
            </a:solidFill>
            <a:prstDash val="solid"/>
          </a:ln>
        </p:spPr>
        <p:txBody>
          <a:bodyPr/>
          <a:lstStyle/>
          <a:p>
            <a:endParaRPr lang="ko-KR" altLang="en-US"/>
          </a:p>
        </p:txBody>
      </p:sp>
      <p:sp>
        <p:nvSpPr>
          <p:cNvPr id="19" name="Shape 17"/>
          <p:cNvSpPr/>
          <p:nvPr/>
        </p:nvSpPr>
        <p:spPr>
          <a:xfrm>
            <a:off x="3131820" y="1234440"/>
            <a:ext cx="777240" cy="457200"/>
          </a:xfrm>
          <a:prstGeom prst="ellipse">
            <a:avLst/>
          </a:prstGeom>
          <a:solidFill>
            <a:srgbClr val="F97316"/>
          </a:solidFill>
          <a:ln w="12700">
            <a:solidFill>
              <a:srgbClr val="F97316"/>
            </a:solidFill>
            <a:prstDash val="solid"/>
          </a:ln>
        </p:spPr>
        <p:txBody>
          <a:bodyPr/>
          <a:lstStyle/>
          <a:p>
            <a:endParaRPr lang="ko-KR" altLang="en-US"/>
          </a:p>
        </p:txBody>
      </p:sp>
      <p:sp>
        <p:nvSpPr>
          <p:cNvPr id="20" name="Text 18"/>
          <p:cNvSpPr/>
          <p:nvPr/>
        </p:nvSpPr>
        <p:spPr>
          <a:xfrm>
            <a:off x="313182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Q2</a:t>
            </a:r>
            <a:endParaRPr lang="en-US" sz="1300" dirty="0"/>
          </a:p>
        </p:txBody>
      </p:sp>
      <p:sp>
        <p:nvSpPr>
          <p:cNvPr id="21" name="Text 19"/>
          <p:cNvSpPr/>
          <p:nvPr/>
        </p:nvSpPr>
        <p:spPr>
          <a:xfrm>
            <a:off x="2724912" y="1874520"/>
            <a:ext cx="1591056" cy="1234440"/>
          </a:xfrm>
          <a:prstGeom prst="rect">
            <a:avLst/>
          </a:prstGeom>
          <a:noFill/>
          <a:ln/>
        </p:spPr>
        <p:txBody>
          <a:bodyPr wrap="square" rtlCol="0" anchor="ctr"/>
          <a:lstStyle/>
          <a:p>
            <a:pPr marL="0" indent="0" algn="ctr">
              <a:lnSpc>
                <a:spcPct val="130000"/>
              </a:lnSpc>
              <a:buNone/>
            </a:pPr>
            <a:r>
              <a:rPr lang="en-US" sz="1400" dirty="0">
                <a:solidFill>
                  <a:srgbClr val="7C2D12"/>
                </a:solidFill>
                <a:latin typeface="맑은 고딕" pitchFamily="34" charset="0"/>
                <a:ea typeface="맑은 고딕" pitchFamily="34" charset="-122"/>
                <a:cs typeface="맑은 고딕" pitchFamily="34" charset="-120"/>
              </a:rPr>
              <a:t>Q2. 스로틀을 올리면 어떤 좌표가 커질까? </a:t>
            </a:r>
            <a:endParaRPr lang="en-US" sz="1400" dirty="0"/>
          </a:p>
        </p:txBody>
      </p:sp>
      <p:sp>
        <p:nvSpPr>
          <p:cNvPr id="22" name="Shape 20"/>
          <p:cNvSpPr/>
          <p:nvPr/>
        </p:nvSpPr>
        <p:spPr>
          <a:xfrm>
            <a:off x="2697480" y="3291840"/>
            <a:ext cx="1645920" cy="914400"/>
          </a:xfrm>
          <a:prstGeom prst="roundRect">
            <a:avLst>
              <a:gd name="adj" fmla="val 10000"/>
            </a:avLst>
          </a:prstGeom>
          <a:solidFill>
            <a:srgbClr val="FFF7ED"/>
          </a:solidFill>
          <a:ln w="12700">
            <a:solidFill>
              <a:srgbClr val="FB923C"/>
            </a:solidFill>
            <a:prstDash val="solid"/>
          </a:ln>
        </p:spPr>
        <p:txBody>
          <a:bodyPr/>
          <a:lstStyle/>
          <a:p>
            <a:endParaRPr lang="ko-KR" altLang="en-US"/>
          </a:p>
        </p:txBody>
      </p:sp>
      <p:sp>
        <p:nvSpPr>
          <p:cNvPr id="23" name="Text 21"/>
          <p:cNvSpPr/>
          <p:nvPr/>
        </p:nvSpPr>
        <p:spPr>
          <a:xfrm>
            <a:off x="2788920" y="3401568"/>
            <a:ext cx="1463040" cy="219456"/>
          </a:xfrm>
          <a:prstGeom prst="rect">
            <a:avLst/>
          </a:prstGeom>
          <a:noFill/>
          <a:ln/>
        </p:spPr>
        <p:txBody>
          <a:bodyPr wrap="square" rtlCol="0" anchor="ctr"/>
          <a:lstStyle/>
          <a:p>
            <a:pPr marL="0" indent="0" algn="ctr">
              <a:buNone/>
            </a:pPr>
            <a:r>
              <a:rPr lang="en-US" sz="1400" b="1" dirty="0">
                <a:solidFill>
                  <a:srgbClr val="F97316"/>
                </a:solidFill>
                <a:latin typeface="맑은 고딕" pitchFamily="34" charset="0"/>
                <a:ea typeface="맑은 고딕" pitchFamily="34" charset="-122"/>
                <a:cs typeface="맑은 고딕" pitchFamily="34" charset="-120"/>
              </a:rPr>
              <a:t>정답: </a:t>
            </a:r>
            <a:endParaRPr lang="en-US" sz="1400" dirty="0"/>
          </a:p>
        </p:txBody>
      </p:sp>
      <p:sp>
        <p:nvSpPr>
          <p:cNvPr id="24" name="Text 22"/>
          <p:cNvSpPr/>
          <p:nvPr/>
        </p:nvSpPr>
        <p:spPr>
          <a:xfrm>
            <a:off x="2788920" y="3657600"/>
            <a:ext cx="1463040" cy="438912"/>
          </a:xfrm>
          <a:prstGeom prst="rect">
            <a:avLst/>
          </a:prstGeom>
          <a:noFill/>
          <a:ln/>
        </p:spPr>
        <p:txBody>
          <a:bodyPr wrap="square" rtlCol="0" anchor="ctr"/>
          <a:lstStyle/>
          <a:p>
            <a:pPr marL="0" indent="0" algn="ctr">
              <a:lnSpc>
                <a:spcPct val="120000"/>
              </a:lnSpc>
              <a:buNone/>
            </a:pPr>
            <a:endParaRPr lang="en-US" sz="1100" dirty="0"/>
          </a:p>
        </p:txBody>
      </p:sp>
      <p:sp>
        <p:nvSpPr>
          <p:cNvPr id="25" name="Shape 23"/>
          <p:cNvSpPr/>
          <p:nvPr/>
        </p:nvSpPr>
        <p:spPr>
          <a:xfrm>
            <a:off x="4690872" y="1033272"/>
            <a:ext cx="1920240" cy="3474720"/>
          </a:xfrm>
          <a:prstGeom prst="roundRect">
            <a:avLst>
              <a:gd name="adj" fmla="val 5714"/>
            </a:avLst>
          </a:prstGeom>
          <a:solidFill>
            <a:srgbClr val="E2E8F0">
              <a:alpha val="50000"/>
            </a:srgbClr>
          </a:solidFill>
          <a:ln w="12700">
            <a:solidFill>
              <a:srgbClr val="E2E8F0"/>
            </a:solidFill>
            <a:prstDash val="solid"/>
          </a:ln>
        </p:spPr>
        <p:txBody>
          <a:bodyPr/>
          <a:lstStyle/>
          <a:p>
            <a:endParaRPr lang="ko-KR" altLang="en-US"/>
          </a:p>
        </p:txBody>
      </p:sp>
      <p:sp>
        <p:nvSpPr>
          <p:cNvPr id="26" name="Shape 24"/>
          <p:cNvSpPr/>
          <p:nvPr/>
        </p:nvSpPr>
        <p:spPr>
          <a:xfrm>
            <a:off x="4663440" y="1005840"/>
            <a:ext cx="1920240" cy="3474720"/>
          </a:xfrm>
          <a:prstGeom prst="roundRect">
            <a:avLst>
              <a:gd name="adj" fmla="val 5714"/>
            </a:avLst>
          </a:prstGeom>
          <a:solidFill>
            <a:srgbClr val="FFFFFF"/>
          </a:solidFill>
          <a:ln w="12700">
            <a:solidFill>
              <a:srgbClr val="E2E8F0"/>
            </a:solidFill>
            <a:prstDash val="solid"/>
          </a:ln>
        </p:spPr>
        <p:txBody>
          <a:bodyPr/>
          <a:lstStyle/>
          <a:p>
            <a:endParaRPr lang="ko-KR" altLang="en-US"/>
          </a:p>
        </p:txBody>
      </p:sp>
      <p:sp>
        <p:nvSpPr>
          <p:cNvPr id="27" name="Shape 25"/>
          <p:cNvSpPr/>
          <p:nvPr/>
        </p:nvSpPr>
        <p:spPr>
          <a:xfrm>
            <a:off x="5234940" y="1234440"/>
            <a:ext cx="777240" cy="457200"/>
          </a:xfrm>
          <a:prstGeom prst="ellipse">
            <a:avLst/>
          </a:prstGeom>
          <a:solidFill>
            <a:srgbClr val="F97316"/>
          </a:solidFill>
          <a:ln w="12700">
            <a:solidFill>
              <a:srgbClr val="F97316"/>
            </a:solidFill>
            <a:prstDash val="solid"/>
          </a:ln>
        </p:spPr>
        <p:txBody>
          <a:bodyPr/>
          <a:lstStyle/>
          <a:p>
            <a:endParaRPr lang="ko-KR" altLang="en-US"/>
          </a:p>
        </p:txBody>
      </p:sp>
      <p:sp>
        <p:nvSpPr>
          <p:cNvPr id="28" name="Text 26"/>
          <p:cNvSpPr/>
          <p:nvPr/>
        </p:nvSpPr>
        <p:spPr>
          <a:xfrm>
            <a:off x="523494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Q3</a:t>
            </a:r>
            <a:endParaRPr lang="en-US" sz="1300" dirty="0"/>
          </a:p>
        </p:txBody>
      </p:sp>
      <p:sp>
        <p:nvSpPr>
          <p:cNvPr id="29" name="Text 27"/>
          <p:cNvSpPr/>
          <p:nvPr/>
        </p:nvSpPr>
        <p:spPr>
          <a:xfrm>
            <a:off x="4828032" y="1874520"/>
            <a:ext cx="1591056" cy="1234440"/>
          </a:xfrm>
          <a:prstGeom prst="rect">
            <a:avLst/>
          </a:prstGeom>
          <a:noFill/>
          <a:ln/>
        </p:spPr>
        <p:txBody>
          <a:bodyPr wrap="square" rtlCol="0" anchor="ctr"/>
          <a:lstStyle/>
          <a:p>
            <a:pPr marL="0" indent="0" algn="ctr">
              <a:lnSpc>
                <a:spcPct val="130000"/>
              </a:lnSpc>
              <a:buNone/>
            </a:pPr>
            <a:r>
              <a:rPr lang="en-US" sz="1400" dirty="0">
                <a:solidFill>
                  <a:srgbClr val="7C2D12"/>
                </a:solidFill>
                <a:latin typeface="맑은 고딕" pitchFamily="34" charset="0"/>
                <a:ea typeface="맑은 고딕" pitchFamily="34" charset="-122"/>
                <a:cs typeface="맑은 고딕" pitchFamily="34" charset="-120"/>
              </a:rPr>
              <a:t>Q3. 앞으로 피치하면 어떤 좌표가 변할까? </a:t>
            </a:r>
            <a:endParaRPr lang="en-US" sz="1400" dirty="0"/>
          </a:p>
        </p:txBody>
      </p:sp>
      <p:sp>
        <p:nvSpPr>
          <p:cNvPr id="30" name="Shape 28"/>
          <p:cNvSpPr/>
          <p:nvPr/>
        </p:nvSpPr>
        <p:spPr>
          <a:xfrm>
            <a:off x="4800600" y="3291840"/>
            <a:ext cx="1645920" cy="914400"/>
          </a:xfrm>
          <a:prstGeom prst="roundRect">
            <a:avLst>
              <a:gd name="adj" fmla="val 10000"/>
            </a:avLst>
          </a:prstGeom>
          <a:solidFill>
            <a:srgbClr val="FFF7ED"/>
          </a:solidFill>
          <a:ln w="12700">
            <a:solidFill>
              <a:srgbClr val="FB923C"/>
            </a:solidFill>
            <a:prstDash val="solid"/>
          </a:ln>
        </p:spPr>
        <p:txBody>
          <a:bodyPr/>
          <a:lstStyle/>
          <a:p>
            <a:endParaRPr lang="ko-KR" altLang="en-US"/>
          </a:p>
        </p:txBody>
      </p:sp>
      <p:sp>
        <p:nvSpPr>
          <p:cNvPr id="31" name="Text 29"/>
          <p:cNvSpPr/>
          <p:nvPr/>
        </p:nvSpPr>
        <p:spPr>
          <a:xfrm>
            <a:off x="4892040" y="3401568"/>
            <a:ext cx="1463040" cy="219456"/>
          </a:xfrm>
          <a:prstGeom prst="rect">
            <a:avLst/>
          </a:prstGeom>
          <a:noFill/>
          <a:ln/>
        </p:spPr>
        <p:txBody>
          <a:bodyPr wrap="square" rtlCol="0" anchor="ctr"/>
          <a:lstStyle/>
          <a:p>
            <a:pPr marL="0" indent="0" algn="ctr">
              <a:buNone/>
            </a:pPr>
            <a:r>
              <a:rPr lang="en-US" sz="1400" b="1" dirty="0">
                <a:solidFill>
                  <a:srgbClr val="F97316"/>
                </a:solidFill>
                <a:latin typeface="맑은 고딕" pitchFamily="34" charset="0"/>
                <a:ea typeface="맑은 고딕" pitchFamily="34" charset="-122"/>
                <a:cs typeface="맑은 고딕" pitchFamily="34" charset="-120"/>
              </a:rPr>
              <a:t>정답: </a:t>
            </a:r>
            <a:endParaRPr lang="en-US" sz="1400" dirty="0"/>
          </a:p>
        </p:txBody>
      </p:sp>
      <p:sp>
        <p:nvSpPr>
          <p:cNvPr id="32" name="Text 30"/>
          <p:cNvSpPr/>
          <p:nvPr/>
        </p:nvSpPr>
        <p:spPr>
          <a:xfrm>
            <a:off x="4892040" y="3657600"/>
            <a:ext cx="1463040" cy="438912"/>
          </a:xfrm>
          <a:prstGeom prst="rect">
            <a:avLst/>
          </a:prstGeom>
          <a:noFill/>
          <a:ln/>
        </p:spPr>
        <p:txBody>
          <a:bodyPr wrap="square" rtlCol="0" anchor="ctr"/>
          <a:lstStyle/>
          <a:p>
            <a:pPr marL="0" indent="0" algn="ctr">
              <a:lnSpc>
                <a:spcPct val="120000"/>
              </a:lnSpc>
              <a:buNone/>
            </a:pPr>
            <a:endParaRPr lang="en-US" sz="1100" dirty="0"/>
          </a:p>
        </p:txBody>
      </p:sp>
      <p:sp>
        <p:nvSpPr>
          <p:cNvPr id="33" name="Shape 31"/>
          <p:cNvSpPr/>
          <p:nvPr/>
        </p:nvSpPr>
        <p:spPr>
          <a:xfrm>
            <a:off x="6793992" y="1033272"/>
            <a:ext cx="1920240" cy="3474720"/>
          </a:xfrm>
          <a:prstGeom prst="roundRect">
            <a:avLst>
              <a:gd name="adj" fmla="val 5714"/>
            </a:avLst>
          </a:prstGeom>
          <a:solidFill>
            <a:srgbClr val="E2E8F0">
              <a:alpha val="50000"/>
            </a:srgbClr>
          </a:solidFill>
          <a:ln w="12700">
            <a:solidFill>
              <a:srgbClr val="E2E8F0"/>
            </a:solidFill>
            <a:prstDash val="solid"/>
          </a:ln>
        </p:spPr>
        <p:txBody>
          <a:bodyPr/>
          <a:lstStyle/>
          <a:p>
            <a:endParaRPr lang="ko-KR" altLang="en-US"/>
          </a:p>
        </p:txBody>
      </p:sp>
      <p:sp>
        <p:nvSpPr>
          <p:cNvPr id="34" name="Shape 32"/>
          <p:cNvSpPr/>
          <p:nvPr/>
        </p:nvSpPr>
        <p:spPr>
          <a:xfrm>
            <a:off x="6766560" y="1005840"/>
            <a:ext cx="1920240" cy="3474720"/>
          </a:xfrm>
          <a:prstGeom prst="roundRect">
            <a:avLst>
              <a:gd name="adj" fmla="val 5714"/>
            </a:avLst>
          </a:prstGeom>
          <a:solidFill>
            <a:srgbClr val="FFFFFF"/>
          </a:solidFill>
          <a:ln w="12700">
            <a:solidFill>
              <a:srgbClr val="E2E8F0"/>
            </a:solidFill>
            <a:prstDash val="solid"/>
          </a:ln>
        </p:spPr>
        <p:txBody>
          <a:bodyPr/>
          <a:lstStyle/>
          <a:p>
            <a:endParaRPr lang="ko-KR" altLang="en-US"/>
          </a:p>
        </p:txBody>
      </p:sp>
      <p:sp>
        <p:nvSpPr>
          <p:cNvPr id="35" name="Shape 33"/>
          <p:cNvSpPr/>
          <p:nvPr/>
        </p:nvSpPr>
        <p:spPr>
          <a:xfrm>
            <a:off x="7338060" y="1234440"/>
            <a:ext cx="777240" cy="457200"/>
          </a:xfrm>
          <a:prstGeom prst="ellipse">
            <a:avLst/>
          </a:prstGeom>
          <a:solidFill>
            <a:srgbClr val="F97316"/>
          </a:solidFill>
          <a:ln w="12700">
            <a:solidFill>
              <a:srgbClr val="F97316"/>
            </a:solidFill>
            <a:prstDash val="solid"/>
          </a:ln>
        </p:spPr>
        <p:txBody>
          <a:bodyPr/>
          <a:lstStyle/>
          <a:p>
            <a:endParaRPr lang="ko-KR" altLang="en-US"/>
          </a:p>
        </p:txBody>
      </p:sp>
      <p:sp>
        <p:nvSpPr>
          <p:cNvPr id="36" name="Text 34"/>
          <p:cNvSpPr/>
          <p:nvPr/>
        </p:nvSpPr>
        <p:spPr>
          <a:xfrm>
            <a:off x="733806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Q4</a:t>
            </a:r>
            <a:endParaRPr lang="en-US" sz="1300" dirty="0"/>
          </a:p>
        </p:txBody>
      </p:sp>
      <p:sp>
        <p:nvSpPr>
          <p:cNvPr id="37" name="Text 35"/>
          <p:cNvSpPr/>
          <p:nvPr/>
        </p:nvSpPr>
        <p:spPr>
          <a:xfrm>
            <a:off x="6931152" y="1874520"/>
            <a:ext cx="1591056" cy="1234440"/>
          </a:xfrm>
          <a:prstGeom prst="rect">
            <a:avLst/>
          </a:prstGeom>
          <a:noFill/>
          <a:ln/>
        </p:spPr>
        <p:txBody>
          <a:bodyPr wrap="square" rtlCol="0" anchor="ctr"/>
          <a:lstStyle/>
          <a:p>
            <a:pPr marL="0" indent="0" algn="ctr">
              <a:lnSpc>
                <a:spcPct val="130000"/>
              </a:lnSpc>
              <a:buNone/>
            </a:pPr>
            <a:r>
              <a:rPr lang="en-US" sz="1400" dirty="0">
                <a:solidFill>
                  <a:srgbClr val="7C2D12"/>
                </a:solidFill>
                <a:latin typeface="맑은 고딕" pitchFamily="34" charset="0"/>
                <a:ea typeface="맑은 고딕" pitchFamily="34" charset="-122"/>
                <a:cs typeface="맑은 고딕" pitchFamily="34" charset="-120"/>
              </a:rPr>
              <a:t>Q4. 드론 위치가 (3, 2, 5)일 때 높이는 몇 미터? </a:t>
            </a:r>
            <a:endParaRPr lang="en-US" sz="1400" dirty="0"/>
          </a:p>
        </p:txBody>
      </p:sp>
      <p:sp>
        <p:nvSpPr>
          <p:cNvPr id="38" name="Shape 36"/>
          <p:cNvSpPr/>
          <p:nvPr/>
        </p:nvSpPr>
        <p:spPr>
          <a:xfrm>
            <a:off x="6903720" y="3291840"/>
            <a:ext cx="1645920" cy="914400"/>
          </a:xfrm>
          <a:prstGeom prst="roundRect">
            <a:avLst>
              <a:gd name="adj" fmla="val 10000"/>
            </a:avLst>
          </a:prstGeom>
          <a:solidFill>
            <a:srgbClr val="FFF7ED"/>
          </a:solidFill>
          <a:ln w="12700">
            <a:solidFill>
              <a:srgbClr val="FB923C"/>
            </a:solidFill>
            <a:prstDash val="solid"/>
          </a:ln>
        </p:spPr>
        <p:txBody>
          <a:bodyPr/>
          <a:lstStyle/>
          <a:p>
            <a:endParaRPr lang="ko-KR" altLang="en-US"/>
          </a:p>
        </p:txBody>
      </p:sp>
      <p:sp>
        <p:nvSpPr>
          <p:cNvPr id="39" name="Text 37"/>
          <p:cNvSpPr/>
          <p:nvPr/>
        </p:nvSpPr>
        <p:spPr>
          <a:xfrm>
            <a:off x="6995160" y="3401568"/>
            <a:ext cx="1463040" cy="219456"/>
          </a:xfrm>
          <a:prstGeom prst="rect">
            <a:avLst/>
          </a:prstGeom>
          <a:noFill/>
          <a:ln/>
        </p:spPr>
        <p:txBody>
          <a:bodyPr wrap="square" rtlCol="0" anchor="ctr"/>
          <a:lstStyle/>
          <a:p>
            <a:pPr marL="0" indent="0" algn="ctr">
              <a:buNone/>
            </a:pPr>
            <a:r>
              <a:rPr lang="en-US" sz="1400" b="1" dirty="0">
                <a:solidFill>
                  <a:srgbClr val="F97316"/>
                </a:solidFill>
                <a:latin typeface="맑은 고딕" pitchFamily="34" charset="0"/>
                <a:ea typeface="맑은 고딕" pitchFamily="34" charset="-122"/>
                <a:cs typeface="맑은 고딕" pitchFamily="34" charset="-120"/>
              </a:rPr>
              <a:t>정답: </a:t>
            </a:r>
            <a:endParaRPr lang="en-US" sz="1400" dirty="0"/>
          </a:p>
        </p:txBody>
      </p:sp>
      <p:sp>
        <p:nvSpPr>
          <p:cNvPr id="40" name="Text 38"/>
          <p:cNvSpPr/>
          <p:nvPr/>
        </p:nvSpPr>
        <p:spPr>
          <a:xfrm>
            <a:off x="6995160" y="3657600"/>
            <a:ext cx="1463040" cy="438912"/>
          </a:xfrm>
          <a:prstGeom prst="rect">
            <a:avLst/>
          </a:prstGeom>
          <a:noFill/>
          <a:ln/>
        </p:spPr>
        <p:txBody>
          <a:bodyPr wrap="square" rtlCol="0" anchor="ctr"/>
          <a:lstStyle/>
          <a:p>
            <a:pPr marL="0" indent="0" algn="ctr">
              <a:lnSpc>
                <a:spcPct val="120000"/>
              </a:lnSpc>
              <a:buNone/>
            </a:pPr>
            <a:endParaRPr lang="en-US" sz="1100" dirty="0"/>
          </a:p>
        </p:txBody>
      </p:sp>
      <p:sp>
        <p:nvSpPr>
          <p:cNvPr id="42" name="Text 39"/>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43" name="Text 40"/>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12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58514-8206-50F2-4C15-93D0F0CBED5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46E41D1-66F8-18EE-2D0D-58262560D975}"/>
              </a:ext>
            </a:extLst>
          </p:cNvPr>
          <p:cNvSpPr/>
          <p:nvPr/>
        </p:nvSpPr>
        <p:spPr>
          <a:xfrm>
            <a:off x="0" y="0"/>
            <a:ext cx="9144000" cy="658368"/>
          </a:xfrm>
          <a:prstGeom prst="rect">
            <a:avLst/>
          </a:prstGeom>
          <a:solidFill>
            <a:srgbClr val="C2410C"/>
          </a:solidFill>
          <a:ln w="12700">
            <a:solidFill>
              <a:srgbClr val="C2410C"/>
            </a:solidFill>
            <a:prstDash val="solid"/>
          </a:ln>
        </p:spPr>
        <p:txBody>
          <a:bodyPr/>
          <a:lstStyle/>
          <a:p>
            <a:endParaRPr lang="ko-KR" altLang="en-US"/>
          </a:p>
        </p:txBody>
      </p:sp>
      <p:sp>
        <p:nvSpPr>
          <p:cNvPr id="3" name="Shape 1">
            <a:extLst>
              <a:ext uri="{FF2B5EF4-FFF2-40B4-BE49-F238E27FC236}">
                <a16:creationId xmlns:a16="http://schemas.microsoft.com/office/drawing/2014/main" id="{98596257-3CDE-F37F-C7C7-F087F96731EC}"/>
              </a:ext>
            </a:extLst>
          </p:cNvPr>
          <p:cNvSpPr/>
          <p:nvPr/>
        </p:nvSpPr>
        <p:spPr>
          <a:xfrm>
            <a:off x="0" y="0"/>
            <a:ext cx="5486400" cy="658368"/>
          </a:xfrm>
          <a:prstGeom prst="rect">
            <a:avLst/>
          </a:prstGeom>
          <a:solidFill>
            <a:srgbClr val="F97316"/>
          </a:solidFill>
          <a:ln w="12700">
            <a:solidFill>
              <a:srgbClr val="F97316"/>
            </a:solidFill>
            <a:prstDash val="solid"/>
          </a:ln>
        </p:spPr>
        <p:txBody>
          <a:bodyPr/>
          <a:lstStyle/>
          <a:p>
            <a:endParaRPr lang="ko-KR" altLang="en-US"/>
          </a:p>
        </p:txBody>
      </p:sp>
      <p:sp>
        <p:nvSpPr>
          <p:cNvPr id="4" name="Shape 2">
            <a:extLst>
              <a:ext uri="{FF2B5EF4-FFF2-40B4-BE49-F238E27FC236}">
                <a16:creationId xmlns:a16="http://schemas.microsoft.com/office/drawing/2014/main" id="{66D94543-E88F-CE25-400F-5A93174BC87D}"/>
              </a:ext>
            </a:extLst>
          </p:cNvPr>
          <p:cNvSpPr/>
          <p:nvPr/>
        </p:nvSpPr>
        <p:spPr>
          <a:xfrm>
            <a:off x="3657600" y="0"/>
            <a:ext cx="3657600" cy="658368"/>
          </a:xfrm>
          <a:prstGeom prst="rect">
            <a:avLst/>
          </a:prstGeom>
          <a:solidFill>
            <a:srgbClr val="F97316">
              <a:alpha val="50000"/>
            </a:srgbClr>
          </a:solidFill>
          <a:ln w="12700">
            <a:solidFill>
              <a:srgbClr val="F97316"/>
            </a:solidFill>
            <a:prstDash val="solid"/>
          </a:ln>
        </p:spPr>
        <p:txBody>
          <a:bodyPr/>
          <a:lstStyle/>
          <a:p>
            <a:endParaRPr lang="ko-KR" altLang="en-US"/>
          </a:p>
        </p:txBody>
      </p:sp>
      <p:sp>
        <p:nvSpPr>
          <p:cNvPr id="5" name="Text 3">
            <a:extLst>
              <a:ext uri="{FF2B5EF4-FFF2-40B4-BE49-F238E27FC236}">
                <a16:creationId xmlns:a16="http://schemas.microsoft.com/office/drawing/2014/main" id="{D4C2448D-6DE3-04ED-8A92-494AA8526458}"/>
              </a:ext>
            </a:extLst>
          </p:cNvPr>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a:extLst>
              <a:ext uri="{FF2B5EF4-FFF2-40B4-BE49-F238E27FC236}">
                <a16:creationId xmlns:a16="http://schemas.microsoft.com/office/drawing/2014/main" id="{CD1063A8-A1F2-54EF-2C36-E8EF3EA75D16}"/>
              </a:ext>
            </a:extLst>
          </p:cNvPr>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퀴즈</a:t>
            </a:r>
            <a:endParaRPr lang="en-US" sz="2800" dirty="0"/>
          </a:p>
        </p:txBody>
      </p:sp>
      <p:sp>
        <p:nvSpPr>
          <p:cNvPr id="7" name="Shape 5">
            <a:extLst>
              <a:ext uri="{FF2B5EF4-FFF2-40B4-BE49-F238E27FC236}">
                <a16:creationId xmlns:a16="http://schemas.microsoft.com/office/drawing/2014/main" id="{77C1F26D-B5F2-CE0F-E0A6-908BC3268053}"/>
              </a:ext>
            </a:extLst>
          </p:cNvPr>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txBody>
          <a:bodyPr/>
          <a:lstStyle/>
          <a:p>
            <a:endParaRPr lang="ko-KR" altLang="en-US"/>
          </a:p>
        </p:txBody>
      </p:sp>
      <p:sp>
        <p:nvSpPr>
          <p:cNvPr id="8" name="Text 6">
            <a:extLst>
              <a:ext uri="{FF2B5EF4-FFF2-40B4-BE49-F238E27FC236}">
                <a16:creationId xmlns:a16="http://schemas.microsoft.com/office/drawing/2014/main" id="{8D4CE034-09C5-90F5-374D-25E0B17DBEAF}"/>
              </a:ext>
            </a:extLst>
          </p:cNvPr>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4주차</a:t>
            </a:r>
            <a:endParaRPr lang="en-US" sz="1200" dirty="0"/>
          </a:p>
        </p:txBody>
      </p:sp>
      <p:sp>
        <p:nvSpPr>
          <p:cNvPr id="9" name="Shape 7">
            <a:extLst>
              <a:ext uri="{FF2B5EF4-FFF2-40B4-BE49-F238E27FC236}">
                <a16:creationId xmlns:a16="http://schemas.microsoft.com/office/drawing/2014/main" id="{CE8CA138-BBDE-C7DE-3100-6EF397B0404A}"/>
              </a:ext>
            </a:extLst>
          </p:cNvPr>
          <p:cNvSpPr/>
          <p:nvPr/>
        </p:nvSpPr>
        <p:spPr>
          <a:xfrm>
            <a:off x="484632" y="1033272"/>
            <a:ext cx="1920240" cy="3474720"/>
          </a:xfrm>
          <a:prstGeom prst="roundRect">
            <a:avLst>
              <a:gd name="adj" fmla="val 5714"/>
            </a:avLst>
          </a:prstGeom>
          <a:solidFill>
            <a:srgbClr val="E2E8F0">
              <a:alpha val="50000"/>
            </a:srgbClr>
          </a:solidFill>
          <a:ln w="12700">
            <a:solidFill>
              <a:srgbClr val="E2E8F0"/>
            </a:solidFill>
            <a:prstDash val="solid"/>
          </a:ln>
        </p:spPr>
        <p:txBody>
          <a:bodyPr/>
          <a:lstStyle/>
          <a:p>
            <a:endParaRPr lang="ko-KR" altLang="en-US"/>
          </a:p>
        </p:txBody>
      </p:sp>
      <p:sp>
        <p:nvSpPr>
          <p:cNvPr id="10" name="Shape 8">
            <a:extLst>
              <a:ext uri="{FF2B5EF4-FFF2-40B4-BE49-F238E27FC236}">
                <a16:creationId xmlns:a16="http://schemas.microsoft.com/office/drawing/2014/main" id="{7EA3F1FD-1AF8-B805-3DB4-9FD10288571A}"/>
              </a:ext>
            </a:extLst>
          </p:cNvPr>
          <p:cNvSpPr/>
          <p:nvPr/>
        </p:nvSpPr>
        <p:spPr>
          <a:xfrm>
            <a:off x="457200" y="1005840"/>
            <a:ext cx="1920240" cy="3474720"/>
          </a:xfrm>
          <a:prstGeom prst="roundRect">
            <a:avLst>
              <a:gd name="adj" fmla="val 5714"/>
            </a:avLst>
          </a:prstGeom>
          <a:solidFill>
            <a:srgbClr val="FFFFFF"/>
          </a:solidFill>
          <a:ln w="12700">
            <a:solidFill>
              <a:srgbClr val="E2E8F0"/>
            </a:solidFill>
            <a:prstDash val="solid"/>
          </a:ln>
        </p:spPr>
        <p:txBody>
          <a:bodyPr/>
          <a:lstStyle/>
          <a:p>
            <a:endParaRPr lang="ko-KR" altLang="en-US"/>
          </a:p>
        </p:txBody>
      </p:sp>
      <p:sp>
        <p:nvSpPr>
          <p:cNvPr id="11" name="Shape 9">
            <a:extLst>
              <a:ext uri="{FF2B5EF4-FFF2-40B4-BE49-F238E27FC236}">
                <a16:creationId xmlns:a16="http://schemas.microsoft.com/office/drawing/2014/main" id="{182D15DA-7CB5-69C4-5A81-33DC1189A864}"/>
              </a:ext>
            </a:extLst>
          </p:cNvPr>
          <p:cNvSpPr/>
          <p:nvPr/>
        </p:nvSpPr>
        <p:spPr>
          <a:xfrm>
            <a:off x="1028700" y="1234440"/>
            <a:ext cx="777240" cy="457200"/>
          </a:xfrm>
          <a:prstGeom prst="ellipse">
            <a:avLst/>
          </a:prstGeom>
          <a:solidFill>
            <a:srgbClr val="F97316"/>
          </a:solidFill>
          <a:ln w="12700">
            <a:solidFill>
              <a:srgbClr val="F97316"/>
            </a:solidFill>
            <a:prstDash val="solid"/>
          </a:ln>
        </p:spPr>
        <p:txBody>
          <a:bodyPr/>
          <a:lstStyle/>
          <a:p>
            <a:endParaRPr lang="ko-KR" altLang="en-US"/>
          </a:p>
        </p:txBody>
      </p:sp>
      <p:sp>
        <p:nvSpPr>
          <p:cNvPr id="12" name="Text 10">
            <a:extLst>
              <a:ext uri="{FF2B5EF4-FFF2-40B4-BE49-F238E27FC236}">
                <a16:creationId xmlns:a16="http://schemas.microsoft.com/office/drawing/2014/main" id="{9EC35761-F371-45F1-A852-665EB24BB7CE}"/>
              </a:ext>
            </a:extLst>
          </p:cNvPr>
          <p:cNvSpPr/>
          <p:nvPr/>
        </p:nvSpPr>
        <p:spPr>
          <a:xfrm>
            <a:off x="102870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Q1</a:t>
            </a:r>
            <a:endParaRPr lang="en-US" sz="1300" dirty="0"/>
          </a:p>
        </p:txBody>
      </p:sp>
      <p:sp>
        <p:nvSpPr>
          <p:cNvPr id="13" name="Text 11">
            <a:extLst>
              <a:ext uri="{FF2B5EF4-FFF2-40B4-BE49-F238E27FC236}">
                <a16:creationId xmlns:a16="http://schemas.microsoft.com/office/drawing/2014/main" id="{FF8BABB5-131E-F9A8-5EDE-6DB5C6345697}"/>
              </a:ext>
            </a:extLst>
          </p:cNvPr>
          <p:cNvSpPr/>
          <p:nvPr/>
        </p:nvSpPr>
        <p:spPr>
          <a:xfrm>
            <a:off x="621792" y="1874520"/>
            <a:ext cx="1591056" cy="1234440"/>
          </a:xfrm>
          <a:prstGeom prst="rect">
            <a:avLst/>
          </a:prstGeom>
          <a:noFill/>
          <a:ln/>
        </p:spPr>
        <p:txBody>
          <a:bodyPr wrap="square" rtlCol="0" anchor="ctr"/>
          <a:lstStyle/>
          <a:p>
            <a:pPr marL="0" indent="0" algn="ctr">
              <a:lnSpc>
                <a:spcPct val="130000"/>
              </a:lnSpc>
              <a:buNone/>
            </a:pPr>
            <a:r>
              <a:rPr lang="en-US" sz="1400" dirty="0">
                <a:solidFill>
                  <a:srgbClr val="7C2D12"/>
                </a:solidFill>
                <a:latin typeface="맑은 고딕" pitchFamily="34" charset="0"/>
                <a:ea typeface="맑은 고딕" pitchFamily="34" charset="-122"/>
                <a:cs typeface="맑은 고딕" pitchFamily="34" charset="-120"/>
              </a:rPr>
              <a:t>Q1. 드론의 높이를 나타내는 축은? </a:t>
            </a:r>
            <a:endParaRPr lang="en-US" sz="1400" dirty="0"/>
          </a:p>
        </p:txBody>
      </p:sp>
      <p:sp>
        <p:nvSpPr>
          <p:cNvPr id="14" name="Shape 12">
            <a:extLst>
              <a:ext uri="{FF2B5EF4-FFF2-40B4-BE49-F238E27FC236}">
                <a16:creationId xmlns:a16="http://schemas.microsoft.com/office/drawing/2014/main" id="{B3DF066F-244C-0264-543B-43AA777D513B}"/>
              </a:ext>
            </a:extLst>
          </p:cNvPr>
          <p:cNvSpPr/>
          <p:nvPr/>
        </p:nvSpPr>
        <p:spPr>
          <a:xfrm>
            <a:off x="594360" y="3291840"/>
            <a:ext cx="1645920" cy="914400"/>
          </a:xfrm>
          <a:prstGeom prst="roundRect">
            <a:avLst>
              <a:gd name="adj" fmla="val 10000"/>
            </a:avLst>
          </a:prstGeom>
          <a:solidFill>
            <a:srgbClr val="FFF7ED"/>
          </a:solidFill>
          <a:ln w="12700">
            <a:solidFill>
              <a:srgbClr val="FB923C"/>
            </a:solidFill>
            <a:prstDash val="solid"/>
          </a:ln>
        </p:spPr>
        <p:txBody>
          <a:bodyPr/>
          <a:lstStyle/>
          <a:p>
            <a:endParaRPr lang="ko-KR" altLang="en-US"/>
          </a:p>
        </p:txBody>
      </p:sp>
      <p:sp>
        <p:nvSpPr>
          <p:cNvPr id="15" name="Text 13">
            <a:extLst>
              <a:ext uri="{FF2B5EF4-FFF2-40B4-BE49-F238E27FC236}">
                <a16:creationId xmlns:a16="http://schemas.microsoft.com/office/drawing/2014/main" id="{00C9FEB3-BA70-732E-F946-6662EE540EFC}"/>
              </a:ext>
            </a:extLst>
          </p:cNvPr>
          <p:cNvSpPr/>
          <p:nvPr/>
        </p:nvSpPr>
        <p:spPr>
          <a:xfrm>
            <a:off x="685800" y="3607039"/>
            <a:ext cx="1463040" cy="219456"/>
          </a:xfrm>
          <a:prstGeom prst="rect">
            <a:avLst/>
          </a:prstGeom>
          <a:noFill/>
          <a:ln/>
        </p:spPr>
        <p:txBody>
          <a:bodyPr wrap="square" rtlCol="0" anchor="ctr"/>
          <a:lstStyle/>
          <a:p>
            <a:pPr marL="0" indent="0" algn="ctr">
              <a:buNone/>
            </a:pPr>
            <a:r>
              <a:rPr lang="en-US" sz="1400" b="1" dirty="0" err="1">
                <a:solidFill>
                  <a:srgbClr val="F97316"/>
                </a:solidFill>
                <a:latin typeface="맑은 고딕" pitchFamily="34" charset="0"/>
                <a:ea typeface="맑은 고딕" pitchFamily="34" charset="-122"/>
                <a:cs typeface="맑은 고딕" pitchFamily="34" charset="-120"/>
              </a:rPr>
              <a:t>정답</a:t>
            </a:r>
            <a:r>
              <a:rPr lang="en-US" sz="1400" b="1" dirty="0">
                <a:solidFill>
                  <a:srgbClr val="F97316"/>
                </a:solidFill>
                <a:latin typeface="맑은 고딕" pitchFamily="34" charset="0"/>
                <a:ea typeface="맑은 고딕" pitchFamily="34" charset="-122"/>
                <a:cs typeface="맑은 고딕" pitchFamily="34" charset="-120"/>
              </a:rPr>
              <a:t>:</a:t>
            </a:r>
          </a:p>
          <a:p>
            <a:pPr algn="ctr"/>
            <a:r>
              <a:rPr lang="en-US" altLang="ko-KR" sz="1400" dirty="0">
                <a:solidFill>
                  <a:srgbClr val="7C2D12"/>
                </a:solidFill>
                <a:latin typeface="맑은 고딕" pitchFamily="34" charset="0"/>
                <a:ea typeface="맑은 고딕" pitchFamily="34" charset="-122"/>
                <a:cs typeface="맑은 고딕" pitchFamily="34" charset="-120"/>
              </a:rPr>
              <a:t>(</a:t>
            </a:r>
            <a:r>
              <a:rPr lang="en-US" altLang="ko-KR" sz="1400" dirty="0" err="1">
                <a:solidFill>
                  <a:srgbClr val="7C2D12"/>
                </a:solidFill>
                <a:latin typeface="맑은 고딕" pitchFamily="34" charset="0"/>
                <a:ea typeface="맑은 고딕" pitchFamily="34" charset="-122"/>
                <a:cs typeface="맑은 고딕" pitchFamily="34" charset="-120"/>
              </a:rPr>
              <a:t>Z축</a:t>
            </a:r>
            <a:r>
              <a:rPr lang="en-US" altLang="ko-KR" sz="1400" dirty="0">
                <a:solidFill>
                  <a:srgbClr val="7C2D12"/>
                </a:solidFill>
                <a:latin typeface="맑은 고딕" pitchFamily="34" charset="0"/>
                <a:ea typeface="맑은 고딕" pitchFamily="34" charset="-122"/>
                <a:cs typeface="맑은 고딕" pitchFamily="34" charset="-120"/>
              </a:rPr>
              <a:t>)</a:t>
            </a:r>
            <a:r>
              <a:rPr lang="en-US" sz="1400" b="1" dirty="0">
                <a:solidFill>
                  <a:srgbClr val="F97316"/>
                </a:solidFill>
                <a:latin typeface="맑은 고딕" pitchFamily="34" charset="0"/>
                <a:ea typeface="맑은 고딕" pitchFamily="34" charset="-122"/>
                <a:cs typeface="맑은 고딕" pitchFamily="34" charset="-120"/>
              </a:rPr>
              <a:t> </a:t>
            </a:r>
            <a:endParaRPr lang="en-US" sz="1400" dirty="0"/>
          </a:p>
        </p:txBody>
      </p:sp>
      <p:sp>
        <p:nvSpPr>
          <p:cNvPr id="16" name="Text 14">
            <a:extLst>
              <a:ext uri="{FF2B5EF4-FFF2-40B4-BE49-F238E27FC236}">
                <a16:creationId xmlns:a16="http://schemas.microsoft.com/office/drawing/2014/main" id="{CD8D0185-87B6-BF03-DB02-C328CF199507}"/>
              </a:ext>
            </a:extLst>
          </p:cNvPr>
          <p:cNvSpPr/>
          <p:nvPr/>
        </p:nvSpPr>
        <p:spPr>
          <a:xfrm>
            <a:off x="685800" y="3657600"/>
            <a:ext cx="1463040" cy="438912"/>
          </a:xfrm>
          <a:prstGeom prst="rect">
            <a:avLst/>
          </a:prstGeom>
          <a:noFill/>
          <a:ln/>
        </p:spPr>
        <p:txBody>
          <a:bodyPr wrap="square" rtlCol="0" anchor="ctr"/>
          <a:lstStyle/>
          <a:p>
            <a:pPr marL="0" indent="0" algn="ctr">
              <a:lnSpc>
                <a:spcPct val="120000"/>
              </a:lnSpc>
              <a:buNone/>
            </a:pPr>
            <a:endParaRPr lang="en-US" sz="1100" dirty="0"/>
          </a:p>
        </p:txBody>
      </p:sp>
      <p:sp>
        <p:nvSpPr>
          <p:cNvPr id="17" name="Shape 15">
            <a:extLst>
              <a:ext uri="{FF2B5EF4-FFF2-40B4-BE49-F238E27FC236}">
                <a16:creationId xmlns:a16="http://schemas.microsoft.com/office/drawing/2014/main" id="{D00A412B-914F-0E51-CA84-64BB47EEBA76}"/>
              </a:ext>
            </a:extLst>
          </p:cNvPr>
          <p:cNvSpPr/>
          <p:nvPr/>
        </p:nvSpPr>
        <p:spPr>
          <a:xfrm>
            <a:off x="2587752" y="1033272"/>
            <a:ext cx="1920240" cy="3474720"/>
          </a:xfrm>
          <a:prstGeom prst="roundRect">
            <a:avLst>
              <a:gd name="adj" fmla="val 5714"/>
            </a:avLst>
          </a:prstGeom>
          <a:solidFill>
            <a:srgbClr val="E2E8F0">
              <a:alpha val="50000"/>
            </a:srgbClr>
          </a:solidFill>
          <a:ln w="12700">
            <a:solidFill>
              <a:srgbClr val="E2E8F0"/>
            </a:solidFill>
            <a:prstDash val="solid"/>
          </a:ln>
        </p:spPr>
        <p:txBody>
          <a:bodyPr/>
          <a:lstStyle/>
          <a:p>
            <a:endParaRPr lang="ko-KR" altLang="en-US"/>
          </a:p>
        </p:txBody>
      </p:sp>
      <p:sp>
        <p:nvSpPr>
          <p:cNvPr id="18" name="Shape 16">
            <a:extLst>
              <a:ext uri="{FF2B5EF4-FFF2-40B4-BE49-F238E27FC236}">
                <a16:creationId xmlns:a16="http://schemas.microsoft.com/office/drawing/2014/main" id="{79EE5AB2-7E83-99BB-DBC6-22F8685847BE}"/>
              </a:ext>
            </a:extLst>
          </p:cNvPr>
          <p:cNvSpPr/>
          <p:nvPr/>
        </p:nvSpPr>
        <p:spPr>
          <a:xfrm>
            <a:off x="2560320" y="1005840"/>
            <a:ext cx="1920240" cy="3474720"/>
          </a:xfrm>
          <a:prstGeom prst="roundRect">
            <a:avLst>
              <a:gd name="adj" fmla="val 5714"/>
            </a:avLst>
          </a:prstGeom>
          <a:solidFill>
            <a:srgbClr val="FFFFFF"/>
          </a:solidFill>
          <a:ln w="12700">
            <a:solidFill>
              <a:srgbClr val="E2E8F0"/>
            </a:solidFill>
            <a:prstDash val="solid"/>
          </a:ln>
        </p:spPr>
        <p:txBody>
          <a:bodyPr/>
          <a:lstStyle/>
          <a:p>
            <a:endParaRPr lang="ko-KR" altLang="en-US"/>
          </a:p>
        </p:txBody>
      </p:sp>
      <p:sp>
        <p:nvSpPr>
          <p:cNvPr id="19" name="Shape 17">
            <a:extLst>
              <a:ext uri="{FF2B5EF4-FFF2-40B4-BE49-F238E27FC236}">
                <a16:creationId xmlns:a16="http://schemas.microsoft.com/office/drawing/2014/main" id="{B0C0441A-4C74-DB85-9332-EA7C5CE55FD3}"/>
              </a:ext>
            </a:extLst>
          </p:cNvPr>
          <p:cNvSpPr/>
          <p:nvPr/>
        </p:nvSpPr>
        <p:spPr>
          <a:xfrm>
            <a:off x="3131820" y="1234440"/>
            <a:ext cx="777240" cy="457200"/>
          </a:xfrm>
          <a:prstGeom prst="ellipse">
            <a:avLst/>
          </a:prstGeom>
          <a:solidFill>
            <a:srgbClr val="F97316"/>
          </a:solidFill>
          <a:ln w="12700">
            <a:solidFill>
              <a:srgbClr val="F97316"/>
            </a:solidFill>
            <a:prstDash val="solid"/>
          </a:ln>
        </p:spPr>
        <p:txBody>
          <a:bodyPr/>
          <a:lstStyle/>
          <a:p>
            <a:endParaRPr lang="ko-KR" altLang="en-US"/>
          </a:p>
        </p:txBody>
      </p:sp>
      <p:sp>
        <p:nvSpPr>
          <p:cNvPr id="20" name="Text 18">
            <a:extLst>
              <a:ext uri="{FF2B5EF4-FFF2-40B4-BE49-F238E27FC236}">
                <a16:creationId xmlns:a16="http://schemas.microsoft.com/office/drawing/2014/main" id="{4FCCBB75-7D1A-C05C-EDB6-6DF743B22DDB}"/>
              </a:ext>
            </a:extLst>
          </p:cNvPr>
          <p:cNvSpPr/>
          <p:nvPr/>
        </p:nvSpPr>
        <p:spPr>
          <a:xfrm>
            <a:off x="313182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Q2</a:t>
            </a:r>
            <a:endParaRPr lang="en-US" sz="1300" dirty="0"/>
          </a:p>
        </p:txBody>
      </p:sp>
      <p:sp>
        <p:nvSpPr>
          <p:cNvPr id="21" name="Text 19">
            <a:extLst>
              <a:ext uri="{FF2B5EF4-FFF2-40B4-BE49-F238E27FC236}">
                <a16:creationId xmlns:a16="http://schemas.microsoft.com/office/drawing/2014/main" id="{1A0AC702-9B91-5905-64F5-01F174BF8BD8}"/>
              </a:ext>
            </a:extLst>
          </p:cNvPr>
          <p:cNvSpPr/>
          <p:nvPr/>
        </p:nvSpPr>
        <p:spPr>
          <a:xfrm>
            <a:off x="2724912" y="1874520"/>
            <a:ext cx="1591056" cy="1234440"/>
          </a:xfrm>
          <a:prstGeom prst="rect">
            <a:avLst/>
          </a:prstGeom>
          <a:noFill/>
          <a:ln/>
        </p:spPr>
        <p:txBody>
          <a:bodyPr wrap="square" rtlCol="0" anchor="ctr"/>
          <a:lstStyle/>
          <a:p>
            <a:pPr marL="0" indent="0" algn="ctr">
              <a:lnSpc>
                <a:spcPct val="130000"/>
              </a:lnSpc>
              <a:buNone/>
            </a:pPr>
            <a:r>
              <a:rPr lang="en-US" sz="1400" dirty="0">
                <a:solidFill>
                  <a:srgbClr val="7C2D12"/>
                </a:solidFill>
                <a:latin typeface="맑은 고딕" pitchFamily="34" charset="0"/>
                <a:ea typeface="맑은 고딕" pitchFamily="34" charset="-122"/>
                <a:cs typeface="맑은 고딕" pitchFamily="34" charset="-120"/>
              </a:rPr>
              <a:t>Q2. 스로틀을 올리면 어떤 좌표가 커질까? </a:t>
            </a:r>
            <a:endParaRPr lang="en-US" sz="1400" dirty="0"/>
          </a:p>
        </p:txBody>
      </p:sp>
      <p:sp>
        <p:nvSpPr>
          <p:cNvPr id="22" name="Shape 20">
            <a:extLst>
              <a:ext uri="{FF2B5EF4-FFF2-40B4-BE49-F238E27FC236}">
                <a16:creationId xmlns:a16="http://schemas.microsoft.com/office/drawing/2014/main" id="{E5FEF02A-42FB-F609-7B8D-3D43D613283F}"/>
              </a:ext>
            </a:extLst>
          </p:cNvPr>
          <p:cNvSpPr/>
          <p:nvPr/>
        </p:nvSpPr>
        <p:spPr>
          <a:xfrm>
            <a:off x="2697480" y="3291840"/>
            <a:ext cx="1645920" cy="914400"/>
          </a:xfrm>
          <a:prstGeom prst="roundRect">
            <a:avLst>
              <a:gd name="adj" fmla="val 10000"/>
            </a:avLst>
          </a:prstGeom>
          <a:solidFill>
            <a:srgbClr val="FFF7ED"/>
          </a:solidFill>
          <a:ln w="12700">
            <a:solidFill>
              <a:srgbClr val="FB923C"/>
            </a:solidFill>
            <a:prstDash val="solid"/>
          </a:ln>
        </p:spPr>
        <p:txBody>
          <a:bodyPr/>
          <a:lstStyle/>
          <a:p>
            <a:endParaRPr lang="ko-KR" altLang="en-US"/>
          </a:p>
        </p:txBody>
      </p:sp>
      <p:sp>
        <p:nvSpPr>
          <p:cNvPr id="23" name="Text 21">
            <a:extLst>
              <a:ext uri="{FF2B5EF4-FFF2-40B4-BE49-F238E27FC236}">
                <a16:creationId xmlns:a16="http://schemas.microsoft.com/office/drawing/2014/main" id="{F678C246-F37D-8C7F-B78F-96B1BF68CC8A}"/>
              </a:ext>
            </a:extLst>
          </p:cNvPr>
          <p:cNvSpPr/>
          <p:nvPr/>
        </p:nvSpPr>
        <p:spPr>
          <a:xfrm>
            <a:off x="2788920" y="3607039"/>
            <a:ext cx="1463040" cy="219456"/>
          </a:xfrm>
          <a:prstGeom prst="rect">
            <a:avLst/>
          </a:prstGeom>
          <a:noFill/>
          <a:ln/>
        </p:spPr>
        <p:txBody>
          <a:bodyPr wrap="square" rtlCol="0" anchor="ctr"/>
          <a:lstStyle/>
          <a:p>
            <a:pPr marL="0" indent="0" algn="ctr">
              <a:buNone/>
            </a:pPr>
            <a:r>
              <a:rPr lang="en-US" sz="1400" b="1" dirty="0">
                <a:solidFill>
                  <a:srgbClr val="F97316"/>
                </a:solidFill>
                <a:latin typeface="맑은 고딕" pitchFamily="34" charset="0"/>
                <a:ea typeface="맑은 고딕" pitchFamily="34" charset="-122"/>
                <a:cs typeface="맑은 고딕" pitchFamily="34" charset="-120"/>
              </a:rPr>
              <a:t>정답: </a:t>
            </a:r>
          </a:p>
          <a:p>
            <a:pPr algn="ctr"/>
            <a:r>
              <a:rPr lang="en-US" altLang="ko-KR" sz="1400" dirty="0">
                <a:solidFill>
                  <a:srgbClr val="7C2D12"/>
                </a:solidFill>
                <a:latin typeface="맑은 고딕" pitchFamily="34" charset="0"/>
                <a:ea typeface="맑은 고딕" pitchFamily="34" charset="-122"/>
                <a:cs typeface="맑은 고딕" pitchFamily="34" charset="-120"/>
              </a:rPr>
              <a:t>(Z)</a:t>
            </a:r>
            <a:endParaRPr lang="en-US" sz="1400" dirty="0"/>
          </a:p>
        </p:txBody>
      </p:sp>
      <p:sp>
        <p:nvSpPr>
          <p:cNvPr id="24" name="Text 22">
            <a:extLst>
              <a:ext uri="{FF2B5EF4-FFF2-40B4-BE49-F238E27FC236}">
                <a16:creationId xmlns:a16="http://schemas.microsoft.com/office/drawing/2014/main" id="{C1617DFA-042A-C4C2-3223-1D0DDE6D2A85}"/>
              </a:ext>
            </a:extLst>
          </p:cNvPr>
          <p:cNvSpPr/>
          <p:nvPr/>
        </p:nvSpPr>
        <p:spPr>
          <a:xfrm>
            <a:off x="2788920" y="3657600"/>
            <a:ext cx="1463040" cy="438912"/>
          </a:xfrm>
          <a:prstGeom prst="rect">
            <a:avLst/>
          </a:prstGeom>
          <a:noFill/>
          <a:ln/>
        </p:spPr>
        <p:txBody>
          <a:bodyPr wrap="square" rtlCol="0" anchor="ctr"/>
          <a:lstStyle/>
          <a:p>
            <a:pPr marL="0" indent="0" algn="ctr">
              <a:lnSpc>
                <a:spcPct val="120000"/>
              </a:lnSpc>
              <a:buNone/>
            </a:pPr>
            <a:endParaRPr lang="en-US" sz="1100" dirty="0"/>
          </a:p>
        </p:txBody>
      </p:sp>
      <p:sp>
        <p:nvSpPr>
          <p:cNvPr id="25" name="Shape 23">
            <a:extLst>
              <a:ext uri="{FF2B5EF4-FFF2-40B4-BE49-F238E27FC236}">
                <a16:creationId xmlns:a16="http://schemas.microsoft.com/office/drawing/2014/main" id="{5C883077-5FEC-D35F-B4BA-A8FA7BE3775A}"/>
              </a:ext>
            </a:extLst>
          </p:cNvPr>
          <p:cNvSpPr/>
          <p:nvPr/>
        </p:nvSpPr>
        <p:spPr>
          <a:xfrm>
            <a:off x="4690872" y="1033272"/>
            <a:ext cx="1920240" cy="3474720"/>
          </a:xfrm>
          <a:prstGeom prst="roundRect">
            <a:avLst>
              <a:gd name="adj" fmla="val 5714"/>
            </a:avLst>
          </a:prstGeom>
          <a:solidFill>
            <a:srgbClr val="E2E8F0">
              <a:alpha val="50000"/>
            </a:srgbClr>
          </a:solidFill>
          <a:ln w="12700">
            <a:solidFill>
              <a:srgbClr val="E2E8F0"/>
            </a:solidFill>
            <a:prstDash val="solid"/>
          </a:ln>
        </p:spPr>
        <p:txBody>
          <a:bodyPr/>
          <a:lstStyle/>
          <a:p>
            <a:endParaRPr lang="ko-KR" altLang="en-US"/>
          </a:p>
        </p:txBody>
      </p:sp>
      <p:sp>
        <p:nvSpPr>
          <p:cNvPr id="26" name="Shape 24">
            <a:extLst>
              <a:ext uri="{FF2B5EF4-FFF2-40B4-BE49-F238E27FC236}">
                <a16:creationId xmlns:a16="http://schemas.microsoft.com/office/drawing/2014/main" id="{90A816AD-31D0-C21F-8679-AAB9157F9C2B}"/>
              </a:ext>
            </a:extLst>
          </p:cNvPr>
          <p:cNvSpPr/>
          <p:nvPr/>
        </p:nvSpPr>
        <p:spPr>
          <a:xfrm>
            <a:off x="4663440" y="1005840"/>
            <a:ext cx="1920240" cy="3474720"/>
          </a:xfrm>
          <a:prstGeom prst="roundRect">
            <a:avLst>
              <a:gd name="adj" fmla="val 5714"/>
            </a:avLst>
          </a:prstGeom>
          <a:solidFill>
            <a:srgbClr val="FFFFFF"/>
          </a:solidFill>
          <a:ln w="12700">
            <a:solidFill>
              <a:srgbClr val="E2E8F0"/>
            </a:solidFill>
            <a:prstDash val="solid"/>
          </a:ln>
        </p:spPr>
        <p:txBody>
          <a:bodyPr/>
          <a:lstStyle/>
          <a:p>
            <a:endParaRPr lang="ko-KR" altLang="en-US"/>
          </a:p>
        </p:txBody>
      </p:sp>
      <p:sp>
        <p:nvSpPr>
          <p:cNvPr id="27" name="Shape 25">
            <a:extLst>
              <a:ext uri="{FF2B5EF4-FFF2-40B4-BE49-F238E27FC236}">
                <a16:creationId xmlns:a16="http://schemas.microsoft.com/office/drawing/2014/main" id="{EC9D2D51-A96A-61BB-93B0-DB6E8206B8E3}"/>
              </a:ext>
            </a:extLst>
          </p:cNvPr>
          <p:cNvSpPr/>
          <p:nvPr/>
        </p:nvSpPr>
        <p:spPr>
          <a:xfrm>
            <a:off x="5234940" y="1234440"/>
            <a:ext cx="777240" cy="457200"/>
          </a:xfrm>
          <a:prstGeom prst="ellipse">
            <a:avLst/>
          </a:prstGeom>
          <a:solidFill>
            <a:srgbClr val="F97316"/>
          </a:solidFill>
          <a:ln w="12700">
            <a:solidFill>
              <a:srgbClr val="F97316"/>
            </a:solidFill>
            <a:prstDash val="solid"/>
          </a:ln>
        </p:spPr>
        <p:txBody>
          <a:bodyPr/>
          <a:lstStyle/>
          <a:p>
            <a:endParaRPr lang="ko-KR" altLang="en-US"/>
          </a:p>
        </p:txBody>
      </p:sp>
      <p:sp>
        <p:nvSpPr>
          <p:cNvPr id="28" name="Text 26">
            <a:extLst>
              <a:ext uri="{FF2B5EF4-FFF2-40B4-BE49-F238E27FC236}">
                <a16:creationId xmlns:a16="http://schemas.microsoft.com/office/drawing/2014/main" id="{2930D0CD-E77F-FFA3-110C-A68F47910806}"/>
              </a:ext>
            </a:extLst>
          </p:cNvPr>
          <p:cNvSpPr/>
          <p:nvPr/>
        </p:nvSpPr>
        <p:spPr>
          <a:xfrm>
            <a:off x="523494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Q3</a:t>
            </a:r>
            <a:endParaRPr lang="en-US" sz="1300" dirty="0"/>
          </a:p>
        </p:txBody>
      </p:sp>
      <p:sp>
        <p:nvSpPr>
          <p:cNvPr id="29" name="Text 27">
            <a:extLst>
              <a:ext uri="{FF2B5EF4-FFF2-40B4-BE49-F238E27FC236}">
                <a16:creationId xmlns:a16="http://schemas.microsoft.com/office/drawing/2014/main" id="{56B88587-806D-2C2A-F5CD-D375ECB5A646}"/>
              </a:ext>
            </a:extLst>
          </p:cNvPr>
          <p:cNvSpPr/>
          <p:nvPr/>
        </p:nvSpPr>
        <p:spPr>
          <a:xfrm>
            <a:off x="4828032" y="1874520"/>
            <a:ext cx="1591056" cy="1234440"/>
          </a:xfrm>
          <a:prstGeom prst="rect">
            <a:avLst/>
          </a:prstGeom>
          <a:noFill/>
          <a:ln/>
        </p:spPr>
        <p:txBody>
          <a:bodyPr wrap="square" rtlCol="0" anchor="ctr"/>
          <a:lstStyle/>
          <a:p>
            <a:pPr marL="0" indent="0" algn="ctr">
              <a:lnSpc>
                <a:spcPct val="130000"/>
              </a:lnSpc>
              <a:buNone/>
            </a:pPr>
            <a:r>
              <a:rPr lang="en-US" sz="1400" dirty="0">
                <a:solidFill>
                  <a:srgbClr val="7C2D12"/>
                </a:solidFill>
                <a:latin typeface="맑은 고딕" pitchFamily="34" charset="0"/>
                <a:ea typeface="맑은 고딕" pitchFamily="34" charset="-122"/>
                <a:cs typeface="맑은 고딕" pitchFamily="34" charset="-120"/>
              </a:rPr>
              <a:t>Q3. 앞으로 피치하면 어떤 좌표가 변할까? </a:t>
            </a:r>
            <a:endParaRPr lang="en-US" sz="1400" dirty="0"/>
          </a:p>
        </p:txBody>
      </p:sp>
      <p:sp>
        <p:nvSpPr>
          <p:cNvPr id="30" name="Shape 28">
            <a:extLst>
              <a:ext uri="{FF2B5EF4-FFF2-40B4-BE49-F238E27FC236}">
                <a16:creationId xmlns:a16="http://schemas.microsoft.com/office/drawing/2014/main" id="{384874F2-F03E-ECA5-D869-04B2E011E78D}"/>
              </a:ext>
            </a:extLst>
          </p:cNvPr>
          <p:cNvSpPr/>
          <p:nvPr/>
        </p:nvSpPr>
        <p:spPr>
          <a:xfrm>
            <a:off x="4800600" y="3291840"/>
            <a:ext cx="1645920" cy="914400"/>
          </a:xfrm>
          <a:prstGeom prst="roundRect">
            <a:avLst>
              <a:gd name="adj" fmla="val 10000"/>
            </a:avLst>
          </a:prstGeom>
          <a:solidFill>
            <a:srgbClr val="FFF7ED"/>
          </a:solidFill>
          <a:ln w="12700">
            <a:solidFill>
              <a:srgbClr val="FB923C"/>
            </a:solidFill>
            <a:prstDash val="solid"/>
          </a:ln>
        </p:spPr>
        <p:txBody>
          <a:bodyPr/>
          <a:lstStyle/>
          <a:p>
            <a:endParaRPr lang="ko-KR" altLang="en-US"/>
          </a:p>
        </p:txBody>
      </p:sp>
      <p:sp>
        <p:nvSpPr>
          <p:cNvPr id="31" name="Text 29">
            <a:extLst>
              <a:ext uri="{FF2B5EF4-FFF2-40B4-BE49-F238E27FC236}">
                <a16:creationId xmlns:a16="http://schemas.microsoft.com/office/drawing/2014/main" id="{E01FC8A0-186D-15B4-B609-3015DAB6A645}"/>
              </a:ext>
            </a:extLst>
          </p:cNvPr>
          <p:cNvSpPr/>
          <p:nvPr/>
        </p:nvSpPr>
        <p:spPr>
          <a:xfrm>
            <a:off x="4892040" y="3607039"/>
            <a:ext cx="1463040" cy="219456"/>
          </a:xfrm>
          <a:prstGeom prst="rect">
            <a:avLst/>
          </a:prstGeom>
          <a:noFill/>
          <a:ln/>
        </p:spPr>
        <p:txBody>
          <a:bodyPr wrap="square" rtlCol="0" anchor="ctr"/>
          <a:lstStyle/>
          <a:p>
            <a:pPr marL="0" indent="0" algn="ctr">
              <a:buNone/>
            </a:pPr>
            <a:r>
              <a:rPr lang="en-US" sz="1400" b="1" dirty="0" err="1">
                <a:solidFill>
                  <a:srgbClr val="F97316"/>
                </a:solidFill>
                <a:latin typeface="맑은 고딕" pitchFamily="34" charset="0"/>
                <a:ea typeface="맑은 고딕" pitchFamily="34" charset="-122"/>
                <a:cs typeface="맑은 고딕" pitchFamily="34" charset="-120"/>
              </a:rPr>
              <a:t>정답</a:t>
            </a:r>
            <a:r>
              <a:rPr lang="en-US" sz="1400" b="1" dirty="0">
                <a:solidFill>
                  <a:srgbClr val="F97316"/>
                </a:solidFill>
                <a:latin typeface="맑은 고딕" pitchFamily="34" charset="0"/>
                <a:ea typeface="맑은 고딕" pitchFamily="34" charset="-122"/>
                <a:cs typeface="맑은 고딕" pitchFamily="34" charset="-120"/>
              </a:rPr>
              <a:t>:</a:t>
            </a:r>
          </a:p>
          <a:p>
            <a:pPr algn="ctr"/>
            <a:r>
              <a:rPr lang="en-US" altLang="ko-KR" sz="1400" dirty="0">
                <a:solidFill>
                  <a:srgbClr val="7C2D12"/>
                </a:solidFill>
                <a:latin typeface="맑은 고딕" pitchFamily="34" charset="0"/>
                <a:ea typeface="맑은 고딕" pitchFamily="34" charset="-122"/>
                <a:cs typeface="맑은 고딕" pitchFamily="34" charset="-120"/>
              </a:rPr>
              <a:t>(</a:t>
            </a:r>
            <a:r>
              <a:rPr lang="en-US" altLang="ko-KR" sz="1400" dirty="0" err="1">
                <a:solidFill>
                  <a:srgbClr val="7C2D12"/>
                </a:solidFill>
                <a:latin typeface="맑은 고딕" pitchFamily="34" charset="0"/>
                <a:ea typeface="맑은 고딕" pitchFamily="34" charset="-122"/>
                <a:cs typeface="맑은 고딕" pitchFamily="34" charset="-120"/>
              </a:rPr>
              <a:t>Y가</a:t>
            </a:r>
            <a:r>
              <a:rPr lang="en-US" altLang="ko-KR" sz="1400" dirty="0">
                <a:solidFill>
                  <a:srgbClr val="7C2D12"/>
                </a:solidFill>
                <a:latin typeface="맑은 고딕" pitchFamily="34" charset="0"/>
                <a:ea typeface="맑은 고딕" pitchFamily="34" charset="-122"/>
                <a:cs typeface="맑은 고딕" pitchFamily="34" charset="-120"/>
              </a:rPr>
              <a:t> </a:t>
            </a:r>
            <a:r>
              <a:rPr lang="en-US" altLang="ko-KR" sz="1400" dirty="0" err="1">
                <a:solidFill>
                  <a:srgbClr val="7C2D12"/>
                </a:solidFill>
                <a:latin typeface="맑은 고딕" pitchFamily="34" charset="0"/>
                <a:ea typeface="맑은 고딕" pitchFamily="34" charset="-122"/>
                <a:cs typeface="맑은 고딕" pitchFamily="34" charset="-120"/>
              </a:rPr>
              <a:t>커진다</a:t>
            </a:r>
            <a:r>
              <a:rPr lang="en-US" altLang="ko-KR" sz="1400" dirty="0">
                <a:solidFill>
                  <a:srgbClr val="7C2D12"/>
                </a:solidFill>
                <a:latin typeface="맑은 고딕" pitchFamily="34" charset="0"/>
                <a:ea typeface="맑은 고딕" pitchFamily="34" charset="-122"/>
                <a:cs typeface="맑은 고딕" pitchFamily="34" charset="-120"/>
              </a:rPr>
              <a:t>)</a:t>
            </a:r>
            <a:r>
              <a:rPr lang="en-US" sz="1400" b="1" dirty="0">
                <a:solidFill>
                  <a:srgbClr val="F97316"/>
                </a:solidFill>
                <a:latin typeface="맑은 고딕" pitchFamily="34" charset="0"/>
                <a:ea typeface="맑은 고딕" pitchFamily="34" charset="-122"/>
                <a:cs typeface="맑은 고딕" pitchFamily="34" charset="-120"/>
              </a:rPr>
              <a:t> </a:t>
            </a:r>
            <a:endParaRPr lang="en-US" sz="1400" dirty="0"/>
          </a:p>
        </p:txBody>
      </p:sp>
      <p:sp>
        <p:nvSpPr>
          <p:cNvPr id="32" name="Text 30">
            <a:extLst>
              <a:ext uri="{FF2B5EF4-FFF2-40B4-BE49-F238E27FC236}">
                <a16:creationId xmlns:a16="http://schemas.microsoft.com/office/drawing/2014/main" id="{DBE917CB-9EF2-9408-5A83-2FD137234268}"/>
              </a:ext>
            </a:extLst>
          </p:cNvPr>
          <p:cNvSpPr/>
          <p:nvPr/>
        </p:nvSpPr>
        <p:spPr>
          <a:xfrm>
            <a:off x="4892040" y="3657600"/>
            <a:ext cx="1463040" cy="438912"/>
          </a:xfrm>
          <a:prstGeom prst="rect">
            <a:avLst/>
          </a:prstGeom>
          <a:noFill/>
          <a:ln/>
        </p:spPr>
        <p:txBody>
          <a:bodyPr wrap="square" rtlCol="0" anchor="ctr"/>
          <a:lstStyle/>
          <a:p>
            <a:pPr marL="0" indent="0" algn="ctr">
              <a:lnSpc>
                <a:spcPct val="120000"/>
              </a:lnSpc>
              <a:buNone/>
            </a:pPr>
            <a:endParaRPr lang="en-US" sz="1100" dirty="0"/>
          </a:p>
        </p:txBody>
      </p:sp>
      <p:sp>
        <p:nvSpPr>
          <p:cNvPr id="33" name="Shape 31">
            <a:extLst>
              <a:ext uri="{FF2B5EF4-FFF2-40B4-BE49-F238E27FC236}">
                <a16:creationId xmlns:a16="http://schemas.microsoft.com/office/drawing/2014/main" id="{09B611E9-E13A-47DA-C7FD-0C8255DA69DB}"/>
              </a:ext>
            </a:extLst>
          </p:cNvPr>
          <p:cNvSpPr/>
          <p:nvPr/>
        </p:nvSpPr>
        <p:spPr>
          <a:xfrm>
            <a:off x="6793992" y="1033272"/>
            <a:ext cx="1920240" cy="3474720"/>
          </a:xfrm>
          <a:prstGeom prst="roundRect">
            <a:avLst>
              <a:gd name="adj" fmla="val 5714"/>
            </a:avLst>
          </a:prstGeom>
          <a:solidFill>
            <a:srgbClr val="E2E8F0">
              <a:alpha val="50000"/>
            </a:srgbClr>
          </a:solidFill>
          <a:ln w="12700">
            <a:solidFill>
              <a:srgbClr val="E2E8F0"/>
            </a:solidFill>
            <a:prstDash val="solid"/>
          </a:ln>
        </p:spPr>
        <p:txBody>
          <a:bodyPr/>
          <a:lstStyle/>
          <a:p>
            <a:endParaRPr lang="ko-KR" altLang="en-US"/>
          </a:p>
        </p:txBody>
      </p:sp>
      <p:sp>
        <p:nvSpPr>
          <p:cNvPr id="34" name="Shape 32">
            <a:extLst>
              <a:ext uri="{FF2B5EF4-FFF2-40B4-BE49-F238E27FC236}">
                <a16:creationId xmlns:a16="http://schemas.microsoft.com/office/drawing/2014/main" id="{6ABDEBC7-C076-1AEF-D8D7-D7D703955558}"/>
              </a:ext>
            </a:extLst>
          </p:cNvPr>
          <p:cNvSpPr/>
          <p:nvPr/>
        </p:nvSpPr>
        <p:spPr>
          <a:xfrm>
            <a:off x="6766560" y="1005840"/>
            <a:ext cx="1920240" cy="3474720"/>
          </a:xfrm>
          <a:prstGeom prst="roundRect">
            <a:avLst>
              <a:gd name="adj" fmla="val 5714"/>
            </a:avLst>
          </a:prstGeom>
          <a:solidFill>
            <a:srgbClr val="FFFFFF"/>
          </a:solidFill>
          <a:ln w="12700">
            <a:solidFill>
              <a:srgbClr val="E2E8F0"/>
            </a:solidFill>
            <a:prstDash val="solid"/>
          </a:ln>
        </p:spPr>
        <p:txBody>
          <a:bodyPr/>
          <a:lstStyle/>
          <a:p>
            <a:endParaRPr lang="ko-KR" altLang="en-US"/>
          </a:p>
        </p:txBody>
      </p:sp>
      <p:sp>
        <p:nvSpPr>
          <p:cNvPr id="35" name="Shape 33">
            <a:extLst>
              <a:ext uri="{FF2B5EF4-FFF2-40B4-BE49-F238E27FC236}">
                <a16:creationId xmlns:a16="http://schemas.microsoft.com/office/drawing/2014/main" id="{EB5CCD54-21B2-16ED-1805-65DC8F15FB1F}"/>
              </a:ext>
            </a:extLst>
          </p:cNvPr>
          <p:cNvSpPr/>
          <p:nvPr/>
        </p:nvSpPr>
        <p:spPr>
          <a:xfrm>
            <a:off x="7338060" y="1234440"/>
            <a:ext cx="777240" cy="457200"/>
          </a:xfrm>
          <a:prstGeom prst="ellipse">
            <a:avLst/>
          </a:prstGeom>
          <a:solidFill>
            <a:srgbClr val="F97316"/>
          </a:solidFill>
          <a:ln w="12700">
            <a:solidFill>
              <a:srgbClr val="F97316"/>
            </a:solidFill>
            <a:prstDash val="solid"/>
          </a:ln>
        </p:spPr>
        <p:txBody>
          <a:bodyPr/>
          <a:lstStyle/>
          <a:p>
            <a:endParaRPr lang="ko-KR" altLang="en-US"/>
          </a:p>
        </p:txBody>
      </p:sp>
      <p:sp>
        <p:nvSpPr>
          <p:cNvPr id="36" name="Text 34">
            <a:extLst>
              <a:ext uri="{FF2B5EF4-FFF2-40B4-BE49-F238E27FC236}">
                <a16:creationId xmlns:a16="http://schemas.microsoft.com/office/drawing/2014/main" id="{FDB578A3-4C56-E190-515A-A34C7BB11B66}"/>
              </a:ext>
            </a:extLst>
          </p:cNvPr>
          <p:cNvSpPr/>
          <p:nvPr/>
        </p:nvSpPr>
        <p:spPr>
          <a:xfrm>
            <a:off x="733806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Q4</a:t>
            </a:r>
            <a:endParaRPr lang="en-US" sz="1300" dirty="0"/>
          </a:p>
        </p:txBody>
      </p:sp>
      <p:sp>
        <p:nvSpPr>
          <p:cNvPr id="37" name="Text 35">
            <a:extLst>
              <a:ext uri="{FF2B5EF4-FFF2-40B4-BE49-F238E27FC236}">
                <a16:creationId xmlns:a16="http://schemas.microsoft.com/office/drawing/2014/main" id="{24D11FFB-D1C5-38C9-56FF-B6832D74C3F5}"/>
              </a:ext>
            </a:extLst>
          </p:cNvPr>
          <p:cNvSpPr/>
          <p:nvPr/>
        </p:nvSpPr>
        <p:spPr>
          <a:xfrm>
            <a:off x="6931152" y="1874520"/>
            <a:ext cx="1591056" cy="1234440"/>
          </a:xfrm>
          <a:prstGeom prst="rect">
            <a:avLst/>
          </a:prstGeom>
          <a:noFill/>
          <a:ln/>
        </p:spPr>
        <p:txBody>
          <a:bodyPr wrap="square" rtlCol="0" anchor="ctr"/>
          <a:lstStyle/>
          <a:p>
            <a:pPr marL="0" indent="0" algn="ctr">
              <a:lnSpc>
                <a:spcPct val="130000"/>
              </a:lnSpc>
              <a:buNone/>
            </a:pPr>
            <a:r>
              <a:rPr lang="en-US" sz="1400" dirty="0">
                <a:solidFill>
                  <a:srgbClr val="7C2D12"/>
                </a:solidFill>
                <a:latin typeface="맑은 고딕" pitchFamily="34" charset="0"/>
                <a:ea typeface="맑은 고딕" pitchFamily="34" charset="-122"/>
                <a:cs typeface="맑은 고딕" pitchFamily="34" charset="-120"/>
              </a:rPr>
              <a:t>Q4. 드론 위치가 (3, 2, 5)일 때 높이는 몇 미터? </a:t>
            </a:r>
            <a:endParaRPr lang="en-US" sz="1400" dirty="0"/>
          </a:p>
        </p:txBody>
      </p:sp>
      <p:sp>
        <p:nvSpPr>
          <p:cNvPr id="38" name="Shape 36">
            <a:extLst>
              <a:ext uri="{FF2B5EF4-FFF2-40B4-BE49-F238E27FC236}">
                <a16:creationId xmlns:a16="http://schemas.microsoft.com/office/drawing/2014/main" id="{71B1F003-84DD-3428-1F1C-715E00955D1C}"/>
              </a:ext>
            </a:extLst>
          </p:cNvPr>
          <p:cNvSpPr/>
          <p:nvPr/>
        </p:nvSpPr>
        <p:spPr>
          <a:xfrm>
            <a:off x="6903720" y="3291840"/>
            <a:ext cx="1645920" cy="914400"/>
          </a:xfrm>
          <a:prstGeom prst="roundRect">
            <a:avLst>
              <a:gd name="adj" fmla="val 10000"/>
            </a:avLst>
          </a:prstGeom>
          <a:solidFill>
            <a:srgbClr val="FFF7ED"/>
          </a:solidFill>
          <a:ln w="12700">
            <a:solidFill>
              <a:srgbClr val="FB923C"/>
            </a:solidFill>
            <a:prstDash val="solid"/>
          </a:ln>
        </p:spPr>
        <p:txBody>
          <a:bodyPr/>
          <a:lstStyle/>
          <a:p>
            <a:endParaRPr lang="ko-KR" altLang="en-US" dirty="0"/>
          </a:p>
        </p:txBody>
      </p:sp>
      <p:sp>
        <p:nvSpPr>
          <p:cNvPr id="39" name="Text 37">
            <a:extLst>
              <a:ext uri="{FF2B5EF4-FFF2-40B4-BE49-F238E27FC236}">
                <a16:creationId xmlns:a16="http://schemas.microsoft.com/office/drawing/2014/main" id="{9E83AC87-0253-2A5C-D229-65E60CA13C98}"/>
              </a:ext>
            </a:extLst>
          </p:cNvPr>
          <p:cNvSpPr/>
          <p:nvPr/>
        </p:nvSpPr>
        <p:spPr>
          <a:xfrm>
            <a:off x="6995160" y="3607039"/>
            <a:ext cx="1463040" cy="219456"/>
          </a:xfrm>
          <a:prstGeom prst="rect">
            <a:avLst/>
          </a:prstGeom>
          <a:noFill/>
          <a:ln/>
        </p:spPr>
        <p:txBody>
          <a:bodyPr wrap="square" rtlCol="0" anchor="ctr"/>
          <a:lstStyle/>
          <a:p>
            <a:pPr marL="0" indent="0" algn="ctr">
              <a:buNone/>
            </a:pPr>
            <a:r>
              <a:rPr lang="en-US" sz="1400" b="1" dirty="0">
                <a:solidFill>
                  <a:srgbClr val="F97316"/>
                </a:solidFill>
                <a:latin typeface="맑은 고딕" pitchFamily="34" charset="0"/>
                <a:ea typeface="맑은 고딕" pitchFamily="34" charset="-122"/>
                <a:cs typeface="맑은 고딕" pitchFamily="34" charset="-120"/>
              </a:rPr>
              <a:t>정답: </a:t>
            </a:r>
          </a:p>
          <a:p>
            <a:pPr algn="ctr"/>
            <a:r>
              <a:rPr lang="en-US" altLang="ko-KR" sz="1400" dirty="0">
                <a:solidFill>
                  <a:srgbClr val="7C2D12"/>
                </a:solidFill>
                <a:latin typeface="맑은 고딕" pitchFamily="34" charset="0"/>
                <a:ea typeface="맑은 고딕" pitchFamily="34" charset="-122"/>
                <a:cs typeface="맑은 고딕" pitchFamily="34" charset="-120"/>
              </a:rPr>
              <a:t>(5m)</a:t>
            </a:r>
            <a:endParaRPr lang="en-US" sz="1400" dirty="0"/>
          </a:p>
        </p:txBody>
      </p:sp>
      <p:sp>
        <p:nvSpPr>
          <p:cNvPr id="40" name="Text 38">
            <a:extLst>
              <a:ext uri="{FF2B5EF4-FFF2-40B4-BE49-F238E27FC236}">
                <a16:creationId xmlns:a16="http://schemas.microsoft.com/office/drawing/2014/main" id="{C929A80F-49C0-436C-EB4B-8EC0F21CDFE8}"/>
              </a:ext>
            </a:extLst>
          </p:cNvPr>
          <p:cNvSpPr/>
          <p:nvPr/>
        </p:nvSpPr>
        <p:spPr>
          <a:xfrm>
            <a:off x="6995160" y="3657600"/>
            <a:ext cx="1463040" cy="438912"/>
          </a:xfrm>
          <a:prstGeom prst="rect">
            <a:avLst/>
          </a:prstGeom>
          <a:noFill/>
          <a:ln/>
        </p:spPr>
        <p:txBody>
          <a:bodyPr wrap="square" rtlCol="0" anchor="ctr"/>
          <a:lstStyle/>
          <a:p>
            <a:pPr marL="0" indent="0" algn="ctr">
              <a:lnSpc>
                <a:spcPct val="120000"/>
              </a:lnSpc>
              <a:buNone/>
            </a:pPr>
            <a:endParaRPr lang="en-US" sz="1100" dirty="0"/>
          </a:p>
        </p:txBody>
      </p:sp>
      <p:sp>
        <p:nvSpPr>
          <p:cNvPr id="42" name="Text 39">
            <a:extLst>
              <a:ext uri="{FF2B5EF4-FFF2-40B4-BE49-F238E27FC236}">
                <a16:creationId xmlns:a16="http://schemas.microsoft.com/office/drawing/2014/main" id="{58E40336-22C4-483C-15C0-F66DD064A088}"/>
              </a:ext>
            </a:extLst>
          </p:cNvPr>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43" name="Text 40">
            <a:extLst>
              <a:ext uri="{FF2B5EF4-FFF2-40B4-BE49-F238E27FC236}">
                <a16:creationId xmlns:a16="http://schemas.microsoft.com/office/drawing/2014/main" id="{B6010D59-EAC6-9D35-3E84-DC83C60572BB}"/>
              </a:ext>
            </a:extLst>
          </p:cNvPr>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12 / 17</a:t>
            </a:r>
            <a:endParaRPr lang="en-US" sz="900" dirty="0"/>
          </a:p>
        </p:txBody>
      </p:sp>
    </p:spTree>
    <p:extLst>
      <p:ext uri="{BB962C8B-B14F-4D97-AF65-F5344CB8AC3E}">
        <p14:creationId xmlns:p14="http://schemas.microsoft.com/office/powerpoint/2010/main" val="318937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F97316"/>
          </a:solidFill>
          <a:ln w="12700">
            <a:solidFill>
              <a:srgbClr val="F97316"/>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다음 시간 예고</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4주차</a:t>
            </a:r>
            <a:endParaRPr lang="en-US" sz="1200" dirty="0"/>
          </a:p>
        </p:txBody>
      </p:sp>
      <p:sp>
        <p:nvSpPr>
          <p:cNvPr id="9" name="Shape 7"/>
          <p:cNvSpPr/>
          <p:nvPr/>
        </p:nvSpPr>
        <p:spPr>
          <a:xfrm rot="900000">
            <a:off x="8412480" y="4114800"/>
            <a:ext cx="1097280" cy="1097280"/>
          </a:xfrm>
          <a:prstGeom prst="triangle">
            <a:avLst/>
          </a:prstGeom>
          <a:solidFill>
            <a:srgbClr val="FB923C">
              <a:alpha val="15000"/>
            </a:srgbClr>
          </a:solidFill>
          <a:ln w="12700">
            <a:solidFill>
              <a:srgbClr val="FB923C"/>
            </a:solidFill>
            <a:prstDash val="solid"/>
          </a:ln>
        </p:spPr>
        <p:txBody>
          <a:bodyPr/>
          <a:lstStyle/>
          <a:p>
            <a:endParaRPr lang="ko-KR" altLang="en-US"/>
          </a:p>
        </p:txBody>
      </p:sp>
      <p:sp>
        <p:nvSpPr>
          <p:cNvPr id="10" name="Text 8"/>
          <p:cNvSpPr/>
          <p:nvPr/>
        </p:nvSpPr>
        <p:spPr>
          <a:xfrm>
            <a:off x="640080" y="804672"/>
            <a:ext cx="4572000" cy="365760"/>
          </a:xfrm>
          <a:prstGeom prst="rect">
            <a:avLst/>
          </a:prstGeom>
          <a:noFill/>
          <a:ln/>
        </p:spPr>
        <p:txBody>
          <a:bodyPr wrap="square" rtlCol="0" anchor="ctr"/>
          <a:lstStyle/>
          <a:p>
            <a:pPr marL="0" indent="0">
              <a:buNone/>
            </a:pPr>
            <a:r>
              <a:rPr lang="en-US" sz="1800" b="1" dirty="0">
                <a:solidFill>
                  <a:srgbClr val="EA580C"/>
                </a:solidFill>
                <a:latin typeface="맑은 고딕" pitchFamily="34" charset="0"/>
                <a:ea typeface="맑은 고딕" pitchFamily="34" charset="-122"/>
                <a:cs typeface="맑은 고딕" pitchFamily="34" charset="-120"/>
              </a:rPr>
              <a:t>시뮬레이터로 직접 드론을 날려보자!</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다음 주 주제: 첫 비행 — 시뮬레이터 이착륙</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배울 내용: 웹 시뮬레이터에서 키보드로 드론 조종</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스로틀·롤·피치·요를 키보드로 직접 경험</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X·Y·Z 좌표가 바뀌는 걸 화면에서 실시간 확인</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준비물: 없음 (선생님이 모든 준비)</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txBody>
          <a:bodyPr/>
          <a:lstStyle/>
          <a:p>
            <a:endParaRPr lang="ko-KR" altLang="en-US"/>
          </a:p>
        </p:txBody>
      </p:sp>
      <p:sp>
        <p:nvSpPr>
          <p:cNvPr id="13" name="Shape 11"/>
          <p:cNvSpPr/>
          <p:nvPr/>
        </p:nvSpPr>
        <p:spPr>
          <a:xfrm>
            <a:off x="5303520" y="868680"/>
            <a:ext cx="3931920" cy="3520440"/>
          </a:xfrm>
          <a:prstGeom prst="roundRect">
            <a:avLst>
              <a:gd name="adj" fmla="val 3117"/>
            </a:avLst>
          </a:prstGeom>
          <a:solidFill>
            <a:srgbClr val="FFF7ED"/>
          </a:solidFill>
          <a:ln w="12700">
            <a:solidFill>
              <a:srgbClr val="E2E8F0"/>
            </a:solidFill>
            <a:prstDash val="solid"/>
          </a:ln>
        </p:spPr>
        <p:txBody>
          <a:bodyPr/>
          <a:lstStyle/>
          <a:p>
            <a:endParaRPr lang="ko-KR" altLang="en-US"/>
          </a:p>
        </p:txBody>
      </p:sp>
      <p:pic>
        <p:nvPicPr>
          <p:cNvPr id="14" name="Image 0" descr="/Users/admin/Desktop/codrone/materials/PPT/.ppt-work/images/week04/slide13.jpg"/>
          <p:cNvPicPr>
            <a:picLocks noChangeAspect="1"/>
          </p:cNvPicPr>
          <p:nvPr/>
        </p:nvPicPr>
        <p:blipFill>
          <a:blip r:embed="rId3"/>
          <a:srcRect/>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13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Users/admin/Desktop/codrone/materials/PPT/.ppt-work/images/week04/slide14.jp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2286000"/>
            <a:ext cx="9144000" cy="2857500"/>
          </a:xfrm>
          <a:prstGeom prst="rect">
            <a:avLst/>
          </a:prstGeom>
          <a:solidFill>
            <a:srgbClr val="7C2D12">
              <a:alpha val="80000"/>
            </a:srgbClr>
          </a:solidFill>
          <a:ln w="12700">
            <a:solidFill>
              <a:srgbClr val="7C2D12"/>
            </a:solidFill>
            <a:prstDash val="solid"/>
          </a:ln>
        </p:spPr>
        <p:txBody>
          <a:bodyPr/>
          <a:lstStyle/>
          <a:p>
            <a:endParaRPr lang="ko-KR" altLang="en-US"/>
          </a:p>
        </p:txBody>
      </p:sp>
      <p:sp>
        <p:nvSpPr>
          <p:cNvPr id="4" name="Shape 1"/>
          <p:cNvSpPr/>
          <p:nvPr/>
        </p:nvSpPr>
        <p:spPr>
          <a:xfrm>
            <a:off x="0" y="3200400"/>
            <a:ext cx="9144000" cy="1943100"/>
          </a:xfrm>
          <a:prstGeom prst="rect">
            <a:avLst/>
          </a:prstGeom>
          <a:solidFill>
            <a:srgbClr val="7C2D12">
              <a:alpha val="90000"/>
            </a:srgbClr>
          </a:solidFill>
          <a:ln w="12700">
            <a:solidFill>
              <a:srgbClr val="7C2D12"/>
            </a:solidFill>
            <a:prstDash val="solid"/>
          </a:ln>
        </p:spPr>
        <p:txBody>
          <a:bodyPr/>
          <a:lstStyle/>
          <a:p>
            <a:endParaRPr lang="ko-KR" altLang="en-US"/>
          </a:p>
        </p:txBody>
      </p:sp>
      <p:sp>
        <p:nvSpPr>
          <p:cNvPr id="5" name="Shape 2"/>
          <p:cNvSpPr/>
          <p:nvPr/>
        </p:nvSpPr>
        <p:spPr>
          <a:xfrm>
            <a:off x="0" y="0"/>
            <a:ext cx="9144000" cy="54864"/>
          </a:xfrm>
          <a:prstGeom prst="rect">
            <a:avLst/>
          </a:prstGeom>
          <a:solidFill>
            <a:srgbClr val="FB923C"/>
          </a:solidFill>
          <a:ln w="12700">
            <a:solidFill>
              <a:srgbClr val="FB923C"/>
            </a:solidFill>
            <a:prstDash val="solid"/>
          </a:ln>
        </p:spPr>
        <p:txBody>
          <a:bodyPr/>
          <a:lstStyle/>
          <a:p>
            <a:endParaRPr lang="ko-KR" altLang="en-US"/>
          </a:p>
        </p:txBody>
      </p:sp>
      <p:sp>
        <p:nvSpPr>
          <p:cNvPr id="6" name="Text 3"/>
          <p:cNvSpPr/>
          <p:nvPr/>
        </p:nvSpPr>
        <p:spPr>
          <a:xfrm>
            <a:off x="457200" y="640080"/>
            <a:ext cx="8229600" cy="411480"/>
          </a:xfrm>
          <a:prstGeom prst="rect">
            <a:avLst/>
          </a:prstGeom>
          <a:noFill/>
          <a:ln/>
        </p:spPr>
        <p:txBody>
          <a:bodyPr wrap="square" rtlCol="0" anchor="ctr"/>
          <a:lstStyle/>
          <a:p>
            <a:pPr marL="0" indent="0" algn="ctr">
              <a:buNone/>
            </a:pPr>
            <a:r>
              <a:rPr lang="en-US" sz="2200" b="1" dirty="0">
                <a:solidFill>
                  <a:srgbClr val="FFFFFF"/>
                </a:solidFill>
                <a:latin typeface="맑은 고딕" pitchFamily="34" charset="0"/>
                <a:ea typeface="맑은 고딕" pitchFamily="34" charset="-122"/>
                <a:cs typeface="맑은 고딕" pitchFamily="34" charset="-120"/>
              </a:rPr>
              <a:t>C++ 연산자 레슨</a:t>
            </a:r>
            <a:endParaRPr lang="en-US" sz="2200" dirty="0"/>
          </a:p>
        </p:txBody>
      </p:sp>
      <p:sp>
        <p:nvSpPr>
          <p:cNvPr id="7" name="Text 4"/>
          <p:cNvSpPr/>
          <p:nvPr/>
        </p:nvSpPr>
        <p:spPr>
          <a:xfrm>
            <a:off x="457200" y="1463040"/>
            <a:ext cx="8229600" cy="1005840"/>
          </a:xfrm>
          <a:prstGeom prst="rect">
            <a:avLst/>
          </a:prstGeom>
          <a:noFill/>
          <a:ln/>
        </p:spPr>
        <p:txBody>
          <a:bodyPr wrap="square" rtlCol="0" anchor="ctr"/>
          <a:lstStyle/>
          <a:p>
            <a:pPr marL="0" indent="0" algn="ctr">
              <a:buNone/>
            </a:pPr>
            <a:r>
              <a:rPr lang="en-US" sz="3600" b="1" dirty="0">
                <a:solidFill>
                  <a:srgbClr val="FFFFFF"/>
                </a:solidFill>
                <a:latin typeface="맑은 고딕" pitchFamily="34" charset="0"/>
                <a:ea typeface="맑은 고딕" pitchFamily="34" charset="-122"/>
                <a:cs typeface="맑은 고딕" pitchFamily="34" charset="-120"/>
              </a:rPr>
              <a:t>보너스 코딩 타임!</a:t>
            </a:r>
            <a:endParaRPr lang="en-US" sz="3600" dirty="0"/>
          </a:p>
        </p:txBody>
      </p:sp>
      <p:sp>
        <p:nvSpPr>
          <p:cNvPr id="8" name="Text 5"/>
          <p:cNvSpPr/>
          <p:nvPr/>
        </p:nvSpPr>
        <p:spPr>
          <a:xfrm>
            <a:off x="914400" y="2651760"/>
            <a:ext cx="7315200" cy="731520"/>
          </a:xfrm>
          <a:prstGeom prst="rect">
            <a:avLst/>
          </a:prstGeom>
          <a:noFill/>
          <a:ln/>
        </p:spPr>
        <p:txBody>
          <a:bodyPr wrap="square" rtlCol="0" anchor="ctr"/>
          <a:lstStyle/>
          <a:p>
            <a:pPr marL="0" indent="0" algn="ctr">
              <a:lnSpc>
                <a:spcPct val="130000"/>
              </a:lnSpc>
              <a:buNone/>
            </a:pPr>
            <a:r>
              <a:rPr lang="en-US" sz="2000" dirty="0">
                <a:solidFill>
                  <a:srgbClr val="FFFFFF"/>
                </a:solidFill>
                <a:latin typeface="맑은 고딕" pitchFamily="34" charset="0"/>
                <a:ea typeface="맑은 고딕" pitchFamily="34" charset="-122"/>
                <a:cs typeface="맑은 고딕" pitchFamily="34" charset="-120"/>
              </a:rPr>
              <a:t>C++ 레슨 4 — 연산자: 더하기부터 나머지까지!</a:t>
            </a:r>
            <a:endParaRPr lang="en-US" sz="2000" dirty="0"/>
          </a:p>
        </p:txBody>
      </p:sp>
      <p:sp>
        <p:nvSpPr>
          <p:cNvPr id="9" name="Text 6"/>
          <p:cNvSpPr/>
          <p:nvPr/>
        </p:nvSpPr>
        <p:spPr>
          <a:xfrm>
            <a:off x="457200" y="4389120"/>
            <a:ext cx="8229600" cy="320040"/>
          </a:xfrm>
          <a:prstGeom prst="rect">
            <a:avLst/>
          </a:prstGeom>
          <a:noFill/>
          <a:ln/>
        </p:spPr>
        <p:txBody>
          <a:bodyPr wrap="square" rtlCol="0" anchor="ctr"/>
          <a:lstStyle/>
          <a:p>
            <a:pPr marL="0" indent="0" algn="ctr">
              <a:buNone/>
            </a:pPr>
            <a:r>
              <a:rPr lang="en-US" sz="1400" dirty="0">
                <a:solidFill>
                  <a:srgbClr val="FFFFFF"/>
                </a:solidFill>
                <a:latin typeface="맑은 고딕" pitchFamily="34" charset="0"/>
                <a:ea typeface="맑은 고딕" pitchFamily="34" charset="-122"/>
                <a:cs typeface="맑은 고딕" pitchFamily="34" charset="-120"/>
              </a:rPr>
              <a:t>더하기, 빼기, 곱하기, 나누기, 나머지</a:t>
            </a:r>
            <a:endParaRPr lang="en-US" sz="1400" dirty="0"/>
          </a:p>
        </p:txBody>
      </p:sp>
      <p:sp>
        <p:nvSpPr>
          <p:cNvPr id="11" name="Text 7"/>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2" name="Text 8"/>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14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F97316"/>
          </a:solidFill>
          <a:ln w="12700">
            <a:solidFill>
              <a:srgbClr val="F97316"/>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C++ 연산자 5가지</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4주차</a:t>
            </a:r>
            <a:endParaRPr lang="en-US" sz="1200" dirty="0"/>
          </a:p>
        </p:txBody>
      </p:sp>
      <p:sp>
        <p:nvSpPr>
          <p:cNvPr id="9" name="Text 7"/>
          <p:cNvSpPr/>
          <p:nvPr/>
        </p:nvSpPr>
        <p:spPr>
          <a:xfrm>
            <a:off x="640080" y="804672"/>
            <a:ext cx="7863840" cy="365760"/>
          </a:xfrm>
          <a:prstGeom prst="rect">
            <a:avLst/>
          </a:prstGeom>
          <a:noFill/>
          <a:ln/>
        </p:spPr>
        <p:txBody>
          <a:bodyPr wrap="square" rtlCol="0" anchor="ctr"/>
          <a:lstStyle/>
          <a:p>
            <a:pPr marL="0" indent="0">
              <a:buNone/>
            </a:pPr>
            <a:r>
              <a:rPr lang="en-US" sz="1800" b="1" dirty="0">
                <a:solidFill>
                  <a:srgbClr val="EA580C"/>
                </a:solidFill>
                <a:latin typeface="맑은 고딕" pitchFamily="34" charset="0"/>
                <a:ea typeface="맑은 고딕" pitchFamily="34" charset="-122"/>
                <a:cs typeface="맑은 고딕" pitchFamily="34" charset="-120"/>
              </a:rPr>
              <a:t>사칙연산과 정수 나눗셈 주의!</a:t>
            </a:r>
            <a:endParaRPr lang="en-US" sz="1800" dirty="0"/>
          </a:p>
        </p:txBody>
      </p:sp>
      <p:sp>
        <p:nvSpPr>
          <p:cNvPr id="10" name="Shape 8"/>
          <p:cNvSpPr/>
          <p:nvPr/>
        </p:nvSpPr>
        <p:spPr>
          <a:xfrm>
            <a:off x="640080" y="1280160"/>
            <a:ext cx="502920" cy="502920"/>
          </a:xfrm>
          <a:prstGeom prst="ellipse">
            <a:avLst/>
          </a:prstGeom>
          <a:solidFill>
            <a:srgbClr val="F97316"/>
          </a:solidFill>
          <a:ln w="12700">
            <a:solidFill>
              <a:srgbClr val="F97316"/>
            </a:solidFill>
            <a:prstDash val="solid"/>
          </a:ln>
        </p:spPr>
        <p:txBody>
          <a:bodyPr/>
          <a:lstStyle/>
          <a:p>
            <a:endParaRPr lang="ko-KR" altLang="en-US"/>
          </a:p>
        </p:txBody>
      </p:sp>
      <p:sp>
        <p:nvSpPr>
          <p:cNvPr id="11" name="Text 9"/>
          <p:cNvSpPr/>
          <p:nvPr/>
        </p:nvSpPr>
        <p:spPr>
          <a:xfrm>
            <a:off x="640080" y="1399032"/>
            <a:ext cx="502920" cy="228600"/>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01</a:t>
            </a:r>
            <a:endParaRPr lang="en-US" sz="1400" dirty="0"/>
          </a:p>
        </p:txBody>
      </p:sp>
      <p:sp>
        <p:nvSpPr>
          <p:cNvPr id="12" name="Text 10"/>
          <p:cNvSpPr/>
          <p:nvPr/>
        </p:nvSpPr>
        <p:spPr>
          <a:xfrm>
            <a:off x="1280160" y="1298448"/>
            <a:ext cx="7223760" cy="420624"/>
          </a:xfrm>
          <a:prstGeom prst="rect">
            <a:avLst/>
          </a:prstGeom>
          <a:noFill/>
          <a:ln/>
        </p:spPr>
        <p:txBody>
          <a:bodyPr wrap="square" rtlCol="0" anchor="ctr"/>
          <a:lstStyle/>
          <a:p>
            <a:pPr marL="0" indent="0">
              <a:lnSpc>
                <a:spcPct val="130000"/>
              </a:lnSpc>
              <a:buNone/>
            </a:pPr>
            <a:r>
              <a:rPr lang="en-US" sz="1600" dirty="0">
                <a:solidFill>
                  <a:srgbClr val="7C2D12"/>
                </a:solidFill>
                <a:latin typeface="맑은 고딕" pitchFamily="34" charset="0"/>
                <a:ea typeface="맑은 고딕" pitchFamily="34" charset="-122"/>
                <a:cs typeface="맑은 고딕" pitchFamily="34" charset="-120"/>
              </a:rPr>
              <a:t>int a = 10, b = 3;</a:t>
            </a:r>
            <a:endParaRPr lang="en-US" sz="1600" dirty="0"/>
          </a:p>
        </p:txBody>
      </p:sp>
      <p:sp>
        <p:nvSpPr>
          <p:cNvPr id="13" name="Shape 11"/>
          <p:cNvSpPr/>
          <p:nvPr/>
        </p:nvSpPr>
        <p:spPr>
          <a:xfrm>
            <a:off x="640080" y="1938528"/>
            <a:ext cx="502920" cy="502920"/>
          </a:xfrm>
          <a:prstGeom prst="ellipse">
            <a:avLst/>
          </a:prstGeom>
          <a:solidFill>
            <a:srgbClr val="EA580C"/>
          </a:solidFill>
          <a:ln w="12700">
            <a:solidFill>
              <a:srgbClr val="EA580C"/>
            </a:solidFill>
            <a:prstDash val="solid"/>
          </a:ln>
        </p:spPr>
        <p:txBody>
          <a:bodyPr/>
          <a:lstStyle/>
          <a:p>
            <a:endParaRPr lang="ko-KR" altLang="en-US"/>
          </a:p>
        </p:txBody>
      </p:sp>
      <p:sp>
        <p:nvSpPr>
          <p:cNvPr id="14" name="Text 12"/>
          <p:cNvSpPr/>
          <p:nvPr/>
        </p:nvSpPr>
        <p:spPr>
          <a:xfrm>
            <a:off x="640080" y="2057400"/>
            <a:ext cx="502920" cy="228600"/>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02</a:t>
            </a:r>
            <a:endParaRPr lang="en-US" sz="1400" dirty="0"/>
          </a:p>
        </p:txBody>
      </p:sp>
      <p:sp>
        <p:nvSpPr>
          <p:cNvPr id="15" name="Text 13"/>
          <p:cNvSpPr/>
          <p:nvPr/>
        </p:nvSpPr>
        <p:spPr>
          <a:xfrm>
            <a:off x="1280160" y="1956816"/>
            <a:ext cx="7223760" cy="420624"/>
          </a:xfrm>
          <a:prstGeom prst="rect">
            <a:avLst/>
          </a:prstGeom>
          <a:noFill/>
          <a:ln/>
        </p:spPr>
        <p:txBody>
          <a:bodyPr wrap="square" rtlCol="0" anchor="ctr"/>
          <a:lstStyle/>
          <a:p>
            <a:pPr marL="0" indent="0">
              <a:lnSpc>
                <a:spcPct val="130000"/>
              </a:lnSpc>
              <a:buNone/>
            </a:pPr>
            <a:r>
              <a:rPr lang="en-US" sz="1600" dirty="0">
                <a:solidFill>
                  <a:srgbClr val="7C2D12"/>
                </a:solidFill>
                <a:latin typeface="맑은 고딕" pitchFamily="34" charset="0"/>
                <a:ea typeface="맑은 고딕" pitchFamily="34" charset="-122"/>
                <a:cs typeface="맑은 고딕" pitchFamily="34" charset="-120"/>
              </a:rPr>
              <a:t>cout &lt;&lt; a + b;  // 13 (덧셈)</a:t>
            </a:r>
            <a:endParaRPr lang="en-US" sz="1600" dirty="0"/>
          </a:p>
        </p:txBody>
      </p:sp>
      <p:sp>
        <p:nvSpPr>
          <p:cNvPr id="16" name="Shape 14"/>
          <p:cNvSpPr/>
          <p:nvPr/>
        </p:nvSpPr>
        <p:spPr>
          <a:xfrm>
            <a:off x="640080" y="2596896"/>
            <a:ext cx="502920" cy="502920"/>
          </a:xfrm>
          <a:prstGeom prst="ellipse">
            <a:avLst/>
          </a:prstGeom>
          <a:solidFill>
            <a:srgbClr val="FB923C"/>
          </a:solidFill>
          <a:ln w="12700">
            <a:solidFill>
              <a:srgbClr val="FB923C"/>
            </a:solidFill>
            <a:prstDash val="solid"/>
          </a:ln>
        </p:spPr>
        <p:txBody>
          <a:bodyPr/>
          <a:lstStyle/>
          <a:p>
            <a:endParaRPr lang="ko-KR" altLang="en-US"/>
          </a:p>
        </p:txBody>
      </p:sp>
      <p:sp>
        <p:nvSpPr>
          <p:cNvPr id="17" name="Text 15"/>
          <p:cNvSpPr/>
          <p:nvPr/>
        </p:nvSpPr>
        <p:spPr>
          <a:xfrm>
            <a:off x="640080" y="2715768"/>
            <a:ext cx="502920" cy="228600"/>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03</a:t>
            </a:r>
            <a:endParaRPr lang="en-US" sz="1400" dirty="0"/>
          </a:p>
        </p:txBody>
      </p:sp>
      <p:sp>
        <p:nvSpPr>
          <p:cNvPr id="18" name="Text 16"/>
          <p:cNvSpPr/>
          <p:nvPr/>
        </p:nvSpPr>
        <p:spPr>
          <a:xfrm>
            <a:off x="1280160" y="2615184"/>
            <a:ext cx="7223760" cy="420624"/>
          </a:xfrm>
          <a:prstGeom prst="rect">
            <a:avLst/>
          </a:prstGeom>
          <a:noFill/>
          <a:ln/>
        </p:spPr>
        <p:txBody>
          <a:bodyPr wrap="square" rtlCol="0" anchor="ctr"/>
          <a:lstStyle/>
          <a:p>
            <a:pPr marL="0" indent="0">
              <a:lnSpc>
                <a:spcPct val="130000"/>
              </a:lnSpc>
              <a:buNone/>
            </a:pPr>
            <a:r>
              <a:rPr lang="en-US" sz="1600" dirty="0">
                <a:solidFill>
                  <a:srgbClr val="7C2D12"/>
                </a:solidFill>
                <a:latin typeface="맑은 고딕" pitchFamily="34" charset="0"/>
                <a:ea typeface="맑은 고딕" pitchFamily="34" charset="-122"/>
                <a:cs typeface="맑은 고딕" pitchFamily="34" charset="-120"/>
              </a:rPr>
              <a:t>cout &lt;&lt; a - b;  // 7 (뺄셈)</a:t>
            </a:r>
            <a:endParaRPr lang="en-US" sz="1600" dirty="0"/>
          </a:p>
        </p:txBody>
      </p:sp>
      <p:sp>
        <p:nvSpPr>
          <p:cNvPr id="19" name="Shape 17"/>
          <p:cNvSpPr/>
          <p:nvPr/>
        </p:nvSpPr>
        <p:spPr>
          <a:xfrm>
            <a:off x="640080" y="3255264"/>
            <a:ext cx="502920" cy="502920"/>
          </a:xfrm>
          <a:prstGeom prst="ellipse">
            <a:avLst/>
          </a:prstGeom>
          <a:solidFill>
            <a:srgbClr val="F97316"/>
          </a:solidFill>
          <a:ln w="12700">
            <a:solidFill>
              <a:srgbClr val="F97316"/>
            </a:solidFill>
            <a:prstDash val="solid"/>
          </a:ln>
        </p:spPr>
        <p:txBody>
          <a:bodyPr/>
          <a:lstStyle/>
          <a:p>
            <a:endParaRPr lang="ko-KR" altLang="en-US"/>
          </a:p>
        </p:txBody>
      </p:sp>
      <p:sp>
        <p:nvSpPr>
          <p:cNvPr id="20" name="Text 18"/>
          <p:cNvSpPr/>
          <p:nvPr/>
        </p:nvSpPr>
        <p:spPr>
          <a:xfrm>
            <a:off x="640080" y="3374136"/>
            <a:ext cx="502920" cy="228600"/>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04</a:t>
            </a:r>
            <a:endParaRPr lang="en-US" sz="1400" dirty="0"/>
          </a:p>
        </p:txBody>
      </p:sp>
      <p:sp>
        <p:nvSpPr>
          <p:cNvPr id="21" name="Text 19"/>
          <p:cNvSpPr/>
          <p:nvPr/>
        </p:nvSpPr>
        <p:spPr>
          <a:xfrm>
            <a:off x="1280160" y="3273552"/>
            <a:ext cx="7223760" cy="420624"/>
          </a:xfrm>
          <a:prstGeom prst="rect">
            <a:avLst/>
          </a:prstGeom>
          <a:noFill/>
          <a:ln/>
        </p:spPr>
        <p:txBody>
          <a:bodyPr wrap="square" rtlCol="0" anchor="ctr"/>
          <a:lstStyle/>
          <a:p>
            <a:pPr marL="0" indent="0">
              <a:lnSpc>
                <a:spcPct val="130000"/>
              </a:lnSpc>
              <a:buNone/>
            </a:pPr>
            <a:r>
              <a:rPr lang="en-US" sz="1600" dirty="0">
                <a:solidFill>
                  <a:srgbClr val="7C2D12"/>
                </a:solidFill>
                <a:latin typeface="맑은 고딕" pitchFamily="34" charset="0"/>
                <a:ea typeface="맑은 고딕" pitchFamily="34" charset="-122"/>
                <a:cs typeface="맑은 고딕" pitchFamily="34" charset="-120"/>
              </a:rPr>
              <a:t>cout &lt;&lt; a * b;  // 30 (곱셈)</a:t>
            </a:r>
            <a:endParaRPr lang="en-US" sz="1600" dirty="0"/>
          </a:p>
        </p:txBody>
      </p:sp>
      <p:sp>
        <p:nvSpPr>
          <p:cNvPr id="22" name="Shape 20"/>
          <p:cNvSpPr/>
          <p:nvPr/>
        </p:nvSpPr>
        <p:spPr>
          <a:xfrm>
            <a:off x="640080" y="3913632"/>
            <a:ext cx="502920" cy="502920"/>
          </a:xfrm>
          <a:prstGeom prst="ellipse">
            <a:avLst/>
          </a:prstGeom>
          <a:solidFill>
            <a:srgbClr val="EA580C"/>
          </a:solidFill>
          <a:ln w="12700">
            <a:solidFill>
              <a:srgbClr val="EA580C"/>
            </a:solidFill>
            <a:prstDash val="solid"/>
          </a:ln>
        </p:spPr>
        <p:txBody>
          <a:bodyPr/>
          <a:lstStyle/>
          <a:p>
            <a:endParaRPr lang="ko-KR" altLang="en-US"/>
          </a:p>
        </p:txBody>
      </p:sp>
      <p:sp>
        <p:nvSpPr>
          <p:cNvPr id="23" name="Text 21"/>
          <p:cNvSpPr/>
          <p:nvPr/>
        </p:nvSpPr>
        <p:spPr>
          <a:xfrm>
            <a:off x="640080" y="4032504"/>
            <a:ext cx="502920" cy="228600"/>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05</a:t>
            </a:r>
            <a:endParaRPr lang="en-US" sz="1400" dirty="0"/>
          </a:p>
        </p:txBody>
      </p:sp>
      <p:sp>
        <p:nvSpPr>
          <p:cNvPr id="24" name="Text 22"/>
          <p:cNvSpPr/>
          <p:nvPr/>
        </p:nvSpPr>
        <p:spPr>
          <a:xfrm>
            <a:off x="1280160" y="3931920"/>
            <a:ext cx="7223760" cy="420624"/>
          </a:xfrm>
          <a:prstGeom prst="rect">
            <a:avLst/>
          </a:prstGeom>
          <a:noFill/>
          <a:ln/>
        </p:spPr>
        <p:txBody>
          <a:bodyPr wrap="square" rtlCol="0" anchor="ctr"/>
          <a:lstStyle/>
          <a:p>
            <a:pPr marL="0" indent="0">
              <a:lnSpc>
                <a:spcPct val="130000"/>
              </a:lnSpc>
              <a:buNone/>
            </a:pPr>
            <a:r>
              <a:rPr lang="en-US" sz="1600" dirty="0">
                <a:solidFill>
                  <a:srgbClr val="7C2D12"/>
                </a:solidFill>
                <a:latin typeface="맑은 고딕" pitchFamily="34" charset="0"/>
                <a:ea typeface="맑은 고딕" pitchFamily="34" charset="-122"/>
                <a:cs typeface="맑은 고딕" pitchFamily="34" charset="-120"/>
              </a:rPr>
              <a:t>cout &lt;&lt; a / b;  // 3 ⚠ 소수점 버림! (3.333이 아님)</a:t>
            </a:r>
            <a:endParaRPr lang="en-US" sz="1600" dirty="0"/>
          </a:p>
        </p:txBody>
      </p:sp>
      <p:sp>
        <p:nvSpPr>
          <p:cNvPr id="25" name="Shape 23"/>
          <p:cNvSpPr/>
          <p:nvPr/>
        </p:nvSpPr>
        <p:spPr>
          <a:xfrm>
            <a:off x="640080" y="4572000"/>
            <a:ext cx="502920" cy="502920"/>
          </a:xfrm>
          <a:prstGeom prst="ellipse">
            <a:avLst/>
          </a:prstGeom>
          <a:solidFill>
            <a:srgbClr val="F97316"/>
          </a:solidFill>
          <a:ln w="12700">
            <a:solidFill>
              <a:srgbClr val="F97316"/>
            </a:solidFill>
            <a:prstDash val="solid"/>
          </a:ln>
        </p:spPr>
        <p:txBody>
          <a:bodyPr/>
          <a:lstStyle/>
          <a:p>
            <a:endParaRPr lang="ko-KR" altLang="en-US"/>
          </a:p>
        </p:txBody>
      </p:sp>
      <p:sp>
        <p:nvSpPr>
          <p:cNvPr id="26" name="Text 24"/>
          <p:cNvSpPr/>
          <p:nvPr/>
        </p:nvSpPr>
        <p:spPr>
          <a:xfrm>
            <a:off x="640080" y="4690872"/>
            <a:ext cx="502920" cy="228600"/>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06</a:t>
            </a:r>
            <a:endParaRPr lang="en-US" sz="1400" dirty="0"/>
          </a:p>
        </p:txBody>
      </p:sp>
      <p:sp>
        <p:nvSpPr>
          <p:cNvPr id="27" name="Text 25"/>
          <p:cNvSpPr/>
          <p:nvPr/>
        </p:nvSpPr>
        <p:spPr>
          <a:xfrm>
            <a:off x="1280160" y="4590288"/>
            <a:ext cx="7223760" cy="420624"/>
          </a:xfrm>
          <a:prstGeom prst="rect">
            <a:avLst/>
          </a:prstGeom>
          <a:noFill/>
          <a:ln/>
        </p:spPr>
        <p:txBody>
          <a:bodyPr wrap="square" rtlCol="0" anchor="ctr"/>
          <a:lstStyle/>
          <a:p>
            <a:pPr marL="0" indent="0">
              <a:lnSpc>
                <a:spcPct val="130000"/>
              </a:lnSpc>
              <a:buNone/>
            </a:pPr>
            <a:r>
              <a:rPr lang="en-US" sz="1600" dirty="0">
                <a:solidFill>
                  <a:srgbClr val="7C2D12"/>
                </a:solidFill>
                <a:latin typeface="맑은 고딕" pitchFamily="34" charset="0"/>
                <a:ea typeface="맑은 고딕" pitchFamily="34" charset="-122"/>
                <a:cs typeface="맑은 고딕" pitchFamily="34" charset="-120"/>
              </a:rPr>
              <a:t>cout &lt;&lt; a % b;  // 1 (나머지)</a:t>
            </a:r>
            <a:endParaRPr lang="en-US" sz="1600" dirty="0"/>
          </a:p>
        </p:txBody>
      </p:sp>
      <p:sp>
        <p:nvSpPr>
          <p:cNvPr id="28" name="Shape 26"/>
          <p:cNvSpPr/>
          <p:nvPr/>
        </p:nvSpPr>
        <p:spPr>
          <a:xfrm>
            <a:off x="640080" y="5230368"/>
            <a:ext cx="502920" cy="502920"/>
          </a:xfrm>
          <a:prstGeom prst="ellipse">
            <a:avLst/>
          </a:prstGeom>
          <a:solidFill>
            <a:srgbClr val="EA580C"/>
          </a:solidFill>
          <a:ln w="12700">
            <a:solidFill>
              <a:srgbClr val="EA580C"/>
            </a:solidFill>
            <a:prstDash val="solid"/>
          </a:ln>
        </p:spPr>
        <p:txBody>
          <a:bodyPr/>
          <a:lstStyle/>
          <a:p>
            <a:endParaRPr lang="ko-KR" altLang="en-US"/>
          </a:p>
        </p:txBody>
      </p:sp>
      <p:sp>
        <p:nvSpPr>
          <p:cNvPr id="29" name="Text 27"/>
          <p:cNvSpPr/>
          <p:nvPr/>
        </p:nvSpPr>
        <p:spPr>
          <a:xfrm>
            <a:off x="640080" y="5349240"/>
            <a:ext cx="502920" cy="228600"/>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07</a:t>
            </a:r>
            <a:endParaRPr lang="en-US" sz="1400" dirty="0"/>
          </a:p>
        </p:txBody>
      </p:sp>
      <p:sp>
        <p:nvSpPr>
          <p:cNvPr id="30" name="Text 28"/>
          <p:cNvSpPr/>
          <p:nvPr/>
        </p:nvSpPr>
        <p:spPr>
          <a:xfrm>
            <a:off x="1280160" y="5248656"/>
            <a:ext cx="7223760" cy="420624"/>
          </a:xfrm>
          <a:prstGeom prst="rect">
            <a:avLst/>
          </a:prstGeom>
          <a:noFill/>
          <a:ln/>
        </p:spPr>
        <p:txBody>
          <a:bodyPr wrap="square" rtlCol="0" anchor="ctr"/>
          <a:lstStyle/>
          <a:p>
            <a:pPr marL="0" indent="0">
              <a:lnSpc>
                <a:spcPct val="130000"/>
              </a:lnSpc>
              <a:buNone/>
            </a:pPr>
            <a:r>
              <a:rPr lang="en-US" sz="1600" dirty="0">
                <a:solidFill>
                  <a:srgbClr val="7C2D12"/>
                </a:solidFill>
                <a:latin typeface="맑은 고딕" pitchFamily="34" charset="0"/>
                <a:ea typeface="맑은 고딕" pitchFamily="34" charset="-122"/>
                <a:cs typeface="맑은 고딕" pitchFamily="34" charset="-120"/>
              </a:rPr>
              <a:t>소수점 결과가 필요하면: (double)a / b → 3.333</a:t>
            </a:r>
            <a:endParaRPr lang="en-US" sz="1600" dirty="0"/>
          </a:p>
        </p:txBody>
      </p:sp>
      <p:sp>
        <p:nvSpPr>
          <p:cNvPr id="32" name="Text 29"/>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33" name="Text 30"/>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15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F97316"/>
          </a:solidFill>
          <a:ln w="12700">
            <a:solidFill>
              <a:srgbClr val="F97316"/>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파이썬 vs C++</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4주차</a:t>
            </a:r>
            <a:endParaRPr lang="en-US" sz="1200" dirty="0"/>
          </a:p>
        </p:txBody>
      </p:sp>
      <p:sp>
        <p:nvSpPr>
          <p:cNvPr id="9" name="Shape 7"/>
          <p:cNvSpPr/>
          <p:nvPr/>
        </p:nvSpPr>
        <p:spPr>
          <a:xfrm>
            <a:off x="457200" y="868680"/>
            <a:ext cx="3931920" cy="3657600"/>
          </a:xfrm>
          <a:prstGeom prst="roundRect">
            <a:avLst>
              <a:gd name="adj" fmla="val 3000"/>
            </a:avLst>
          </a:prstGeom>
          <a:solidFill>
            <a:srgbClr val="FFF7ED"/>
          </a:solidFill>
          <a:ln w="12700">
            <a:solidFill>
              <a:srgbClr val="E2E8F0"/>
            </a:solidFill>
            <a:prstDash val="solid"/>
          </a:ln>
        </p:spPr>
        <p:txBody>
          <a:bodyPr/>
          <a:lstStyle/>
          <a:p>
            <a:endParaRPr lang="ko-KR" altLang="en-US"/>
          </a:p>
        </p:txBody>
      </p:sp>
      <p:sp>
        <p:nvSpPr>
          <p:cNvPr id="10" name="Text 8"/>
          <p:cNvSpPr/>
          <p:nvPr/>
        </p:nvSpPr>
        <p:spPr>
          <a:xfrm>
            <a:off x="640080" y="1051560"/>
            <a:ext cx="3566160" cy="329184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500" dirty="0">
                <a:solidFill>
                  <a:srgbClr val="7C2D12"/>
                </a:solidFill>
                <a:latin typeface="맑은 고딕" pitchFamily="34" charset="0"/>
                <a:ea typeface="맑은 고딕" pitchFamily="34" charset="-122"/>
                <a:cs typeface="맑은 고딕" pitchFamily="34" charset="-120"/>
              </a:rPr>
              <a:t>[파이썬]</a:t>
            </a:r>
            <a:endParaRPr lang="en-US" sz="1500" dirty="0"/>
          </a:p>
          <a:p>
            <a:pPr marL="203200" indent="-203200">
              <a:lnSpc>
                <a:spcPct val="130000"/>
              </a:lnSpc>
              <a:spcAft>
                <a:spcPts val="1000"/>
              </a:spcAft>
              <a:buSzPct val="100000"/>
              <a:buChar char="•"/>
            </a:pPr>
            <a:r>
              <a:rPr lang="en-US" sz="1500" dirty="0">
                <a:solidFill>
                  <a:srgbClr val="7C2D12"/>
                </a:solidFill>
                <a:latin typeface="맑은 고딕" pitchFamily="34" charset="0"/>
                <a:ea typeface="맑은 고딕" pitchFamily="34" charset="-122"/>
                <a:cs typeface="맑은 고딕" pitchFamily="34" charset="-120"/>
              </a:rPr>
              <a:t>a = 10, b = 3</a:t>
            </a:r>
            <a:endParaRPr lang="en-US" sz="1500" dirty="0"/>
          </a:p>
          <a:p>
            <a:pPr marL="203200" indent="-203200">
              <a:lnSpc>
                <a:spcPct val="130000"/>
              </a:lnSpc>
              <a:spcAft>
                <a:spcPts val="1000"/>
              </a:spcAft>
              <a:buSzPct val="100000"/>
              <a:buChar char="•"/>
            </a:pPr>
            <a:r>
              <a:rPr lang="en-US" sz="1500" dirty="0">
                <a:solidFill>
                  <a:srgbClr val="7C2D12"/>
                </a:solidFill>
                <a:latin typeface="맑은 고딕" pitchFamily="34" charset="0"/>
                <a:ea typeface="맑은 고딕" pitchFamily="34" charset="-122"/>
                <a:cs typeface="맑은 고딕" pitchFamily="34" charset="-120"/>
              </a:rPr>
              <a:t>print(a / b)   # 3.333...</a:t>
            </a:r>
            <a:endParaRPr lang="en-US" sz="1500" dirty="0"/>
          </a:p>
          <a:p>
            <a:pPr marL="203200" indent="-203200">
              <a:lnSpc>
                <a:spcPct val="130000"/>
              </a:lnSpc>
              <a:spcAft>
                <a:spcPts val="1000"/>
              </a:spcAft>
              <a:buSzPct val="100000"/>
              <a:buChar char="•"/>
            </a:pPr>
            <a:r>
              <a:rPr lang="en-US" sz="1500" dirty="0">
                <a:solidFill>
                  <a:srgbClr val="7C2D12"/>
                </a:solidFill>
                <a:latin typeface="맑은 고딕" pitchFamily="34" charset="0"/>
                <a:ea typeface="맑은 고딕" pitchFamily="34" charset="-122"/>
                <a:cs typeface="맑은 고딕" pitchFamily="34" charset="-120"/>
              </a:rPr>
              <a:t>print(a // b)  # 3 (몫)</a:t>
            </a:r>
            <a:endParaRPr lang="en-US" sz="1500" dirty="0"/>
          </a:p>
          <a:p>
            <a:pPr marL="203200" indent="-203200">
              <a:lnSpc>
                <a:spcPct val="130000"/>
              </a:lnSpc>
              <a:spcAft>
                <a:spcPts val="1000"/>
              </a:spcAft>
              <a:buSzPct val="100000"/>
              <a:buChar char="•"/>
            </a:pPr>
            <a:r>
              <a:rPr lang="en-US" sz="1500" dirty="0">
                <a:solidFill>
                  <a:srgbClr val="7C2D12"/>
                </a:solidFill>
                <a:latin typeface="맑은 고딕" pitchFamily="34" charset="0"/>
                <a:ea typeface="맑은 고딕" pitchFamily="34" charset="-122"/>
                <a:cs typeface="맑은 고딕" pitchFamily="34" charset="-120"/>
              </a:rPr>
              <a:t>print(a % b)   # 1 (나머지)</a:t>
            </a:r>
            <a:endParaRPr lang="en-US" sz="1500" dirty="0"/>
          </a:p>
        </p:txBody>
      </p:sp>
      <p:sp>
        <p:nvSpPr>
          <p:cNvPr id="11" name="Shape 9"/>
          <p:cNvSpPr/>
          <p:nvPr/>
        </p:nvSpPr>
        <p:spPr>
          <a:xfrm>
            <a:off x="4754880" y="868680"/>
            <a:ext cx="3931920" cy="3657600"/>
          </a:xfrm>
          <a:prstGeom prst="roundRect">
            <a:avLst>
              <a:gd name="adj" fmla="val 3000"/>
            </a:avLst>
          </a:prstGeom>
          <a:solidFill>
            <a:srgbClr val="FFFFFF"/>
          </a:solidFill>
          <a:ln w="12700">
            <a:solidFill>
              <a:srgbClr val="E2E8F0"/>
            </a:solidFill>
            <a:prstDash val="solid"/>
          </a:ln>
        </p:spPr>
        <p:txBody>
          <a:bodyPr/>
          <a:lstStyle/>
          <a:p>
            <a:endParaRPr lang="ko-KR" altLang="en-US"/>
          </a:p>
        </p:txBody>
      </p:sp>
      <p:sp>
        <p:nvSpPr>
          <p:cNvPr id="12" name="Text 10"/>
          <p:cNvSpPr/>
          <p:nvPr/>
        </p:nvSpPr>
        <p:spPr>
          <a:xfrm>
            <a:off x="4937760" y="1051560"/>
            <a:ext cx="3566160" cy="329184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500" dirty="0">
                <a:solidFill>
                  <a:srgbClr val="7C2D12"/>
                </a:solidFill>
                <a:latin typeface="맑은 고딕" pitchFamily="34" charset="0"/>
                <a:ea typeface="맑은 고딕" pitchFamily="34" charset="-122"/>
                <a:cs typeface="맑은 고딕" pitchFamily="34" charset="-120"/>
              </a:rPr>
              <a:t>[C++]</a:t>
            </a:r>
            <a:endParaRPr lang="en-US" sz="1500" dirty="0"/>
          </a:p>
          <a:p>
            <a:pPr marL="203200" indent="-203200">
              <a:lnSpc>
                <a:spcPct val="130000"/>
              </a:lnSpc>
              <a:spcAft>
                <a:spcPts val="1000"/>
              </a:spcAft>
              <a:buSzPct val="100000"/>
              <a:buChar char="•"/>
            </a:pPr>
            <a:r>
              <a:rPr lang="en-US" sz="1500" dirty="0">
                <a:solidFill>
                  <a:srgbClr val="7C2D12"/>
                </a:solidFill>
                <a:latin typeface="맑은 고딕" pitchFamily="34" charset="0"/>
                <a:ea typeface="맑은 고딕" pitchFamily="34" charset="-122"/>
                <a:cs typeface="맑은 고딕" pitchFamily="34" charset="-120"/>
              </a:rPr>
              <a:t>int a = 10, b = 3;</a:t>
            </a:r>
            <a:endParaRPr lang="en-US" sz="1500" dirty="0"/>
          </a:p>
          <a:p>
            <a:pPr marL="203200" indent="-203200">
              <a:lnSpc>
                <a:spcPct val="130000"/>
              </a:lnSpc>
              <a:spcAft>
                <a:spcPts val="1000"/>
              </a:spcAft>
              <a:buSzPct val="100000"/>
              <a:buChar char="•"/>
            </a:pPr>
            <a:r>
              <a:rPr lang="en-US" sz="1500" dirty="0">
                <a:solidFill>
                  <a:srgbClr val="7C2D12"/>
                </a:solidFill>
                <a:latin typeface="맑은 고딕" pitchFamily="34" charset="0"/>
                <a:ea typeface="맑은 고딕" pitchFamily="34" charset="-122"/>
                <a:cs typeface="맑은 고딕" pitchFamily="34" charset="-120"/>
              </a:rPr>
              <a:t>cout &lt;&lt; a / b;   // 3 (자동으로 몫!)</a:t>
            </a:r>
            <a:endParaRPr lang="en-US" sz="1500" dirty="0"/>
          </a:p>
          <a:p>
            <a:pPr marL="203200" indent="-203200">
              <a:lnSpc>
                <a:spcPct val="130000"/>
              </a:lnSpc>
              <a:spcAft>
                <a:spcPts val="1000"/>
              </a:spcAft>
              <a:buSzPct val="100000"/>
              <a:buChar char="•"/>
            </a:pPr>
            <a:r>
              <a:rPr lang="en-US" sz="1500" dirty="0">
                <a:solidFill>
                  <a:srgbClr val="7C2D12"/>
                </a:solidFill>
                <a:latin typeface="맑은 고딕" pitchFamily="34" charset="0"/>
                <a:ea typeface="맑은 고딕" pitchFamily="34" charset="-122"/>
                <a:cs typeface="맑은 고딕" pitchFamily="34" charset="-120"/>
              </a:rPr>
              <a:t>cout &lt;&lt; a % b;   // 1 (나머지)</a:t>
            </a:r>
            <a:endParaRPr lang="en-US" sz="1500" dirty="0"/>
          </a:p>
          <a:p>
            <a:pPr marL="203200" indent="-203200">
              <a:lnSpc>
                <a:spcPct val="130000"/>
              </a:lnSpc>
              <a:spcAft>
                <a:spcPts val="1000"/>
              </a:spcAft>
              <a:buSzPct val="100000"/>
              <a:buChar char="•"/>
            </a:pPr>
            <a:r>
              <a:rPr lang="en-US" sz="1500" dirty="0">
                <a:solidFill>
                  <a:srgbClr val="7C2D12"/>
                </a:solidFill>
                <a:latin typeface="맑은 고딕" pitchFamily="34" charset="0"/>
                <a:ea typeface="맑은 고딕" pitchFamily="34" charset="-122"/>
                <a:cs typeface="맑은 고딕" pitchFamily="34" charset="-120"/>
              </a:rPr>
              <a:t>// 소수점 결과: (double)a / b → 3.333</a:t>
            </a:r>
            <a:endParaRPr lang="en-US" sz="1500" dirty="0"/>
          </a:p>
        </p:txBody>
      </p:sp>
      <p:sp>
        <p:nvSpPr>
          <p:cNvPr id="14" name="Text 11"/>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5" name="Text 12"/>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16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F97316"/>
          </a:solidFill>
          <a:ln w="12700">
            <a:solidFill>
              <a:srgbClr val="F97316"/>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직사각형 계산</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4주차</a:t>
            </a:r>
            <a:endParaRPr lang="en-US" sz="1200" dirty="0"/>
          </a:p>
        </p:txBody>
      </p:sp>
      <p:sp>
        <p:nvSpPr>
          <p:cNvPr id="9" name="Shape 7"/>
          <p:cNvSpPr/>
          <p:nvPr/>
        </p:nvSpPr>
        <p:spPr>
          <a:xfrm>
            <a:off x="457200" y="822960"/>
            <a:ext cx="8229600" cy="548640"/>
          </a:xfrm>
          <a:prstGeom prst="roundRect">
            <a:avLst>
              <a:gd name="adj" fmla="val 16667"/>
            </a:avLst>
          </a:prstGeom>
          <a:solidFill>
            <a:srgbClr val="FB923C">
              <a:alpha val="15000"/>
            </a:srgbClr>
          </a:solidFill>
          <a:ln w="12700">
            <a:solidFill>
              <a:srgbClr val="FB923C"/>
            </a:solidFill>
            <a:prstDash val="solid"/>
          </a:ln>
        </p:spPr>
        <p:txBody>
          <a:bodyPr/>
          <a:lstStyle/>
          <a:p>
            <a:endParaRPr lang="ko-KR" altLang="en-US"/>
          </a:p>
        </p:txBody>
      </p:sp>
      <p:sp>
        <p:nvSpPr>
          <p:cNvPr id="10" name="Text 8"/>
          <p:cNvSpPr/>
          <p:nvPr/>
        </p:nvSpPr>
        <p:spPr>
          <a:xfrm>
            <a:off x="640080" y="896112"/>
            <a:ext cx="7863840" cy="365760"/>
          </a:xfrm>
          <a:prstGeom prst="rect">
            <a:avLst/>
          </a:prstGeom>
          <a:noFill/>
          <a:ln/>
        </p:spPr>
        <p:txBody>
          <a:bodyPr wrap="square" rtlCol="0" anchor="ctr"/>
          <a:lstStyle/>
          <a:p>
            <a:pPr marL="0" indent="0" algn="ctr">
              <a:buNone/>
            </a:pPr>
            <a:r>
              <a:rPr lang="en-US" sz="1800" b="1" dirty="0">
                <a:solidFill>
                  <a:srgbClr val="7C2D12"/>
                </a:solidFill>
                <a:latin typeface="맑은 고딕" pitchFamily="34" charset="0"/>
                <a:ea typeface="맑은 고딕" pitchFamily="34" charset="-122"/>
                <a:cs typeface="맑은 고딕" pitchFamily="34" charset="-120"/>
              </a:rPr>
              <a:t>C++ 연산자로 둘레와 넓이를 구해보자!</a:t>
            </a:r>
            <a:endParaRPr lang="en-US" sz="1800" dirty="0"/>
          </a:p>
        </p:txBody>
      </p:sp>
      <p:sp>
        <p:nvSpPr>
          <p:cNvPr id="11" name="Text 9"/>
          <p:cNvSpPr/>
          <p:nvPr/>
        </p:nvSpPr>
        <p:spPr>
          <a:xfrm>
            <a:off x="640080" y="1554480"/>
            <a:ext cx="7863840" cy="283464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가로 7, 세로 2인 직사각형을 C++로 계산!</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int w = 7, h = 2;</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cout &lt;&lt; (w + h) * 2;  // 둘레 = ?</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cout &lt;&lt; w * h;        // 넓이 = ?</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정답: 둘레 = 18, 넓이 = 14</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도전: 가로 5, 세로 4이면 둘레와 넓이는?</a:t>
            </a:r>
            <a:endParaRPr lang="en-US" sz="1600" dirty="0"/>
          </a:p>
        </p:txBody>
      </p:sp>
      <p:sp>
        <p:nvSpPr>
          <p:cNvPr id="13" name="Text 10"/>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1"/>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17 / 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TotalTime>
  <Words>2373</Words>
  <Application>Microsoft Macintosh PowerPoint</Application>
  <PresentationFormat>화면 슬라이드 쇼(16:9)</PresentationFormat>
  <Paragraphs>245</Paragraphs>
  <Slides>16</Slides>
  <Notes>16</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16</vt:i4>
      </vt:variant>
    </vt:vector>
  </HeadingPairs>
  <TitlesOfParts>
    <vt:vector size="19" baseType="lpstr">
      <vt:lpstr>맑은 고딕</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4주차 3차원 좌표</dc:title>
  <dc:subject>초등생 드론 코딩 교실 4주차</dc:subject>
  <dc:creator>강경태 (UNIST)</dc:creator>
  <cp:lastModifiedBy>(대학원생) 강경태 (기계공학과)</cp:lastModifiedBy>
  <cp:revision>3</cp:revision>
  <dcterms:created xsi:type="dcterms:W3CDTF">2026-03-18T03:46:14Z</dcterms:created>
  <dcterms:modified xsi:type="dcterms:W3CDTF">2026-03-20T04:27:49Z</dcterms:modified>
</cp:coreProperties>
</file>