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8" r:id="rId2"/>
    <p:sldId id="277" r:id="rId3"/>
    <p:sldId id="280" r:id="rId4"/>
    <p:sldId id="282" r:id="rId5"/>
    <p:sldId id="284" r:id="rId6"/>
    <p:sldId id="286" r:id="rId7"/>
    <p:sldId id="288" r:id="rId8"/>
    <p:sldId id="290" r:id="rId9"/>
    <p:sldId id="292" r:id="rId10"/>
    <p:sldId id="294" r:id="rId11"/>
    <p:sldId id="296" r:id="rId12"/>
    <p:sldId id="298" r:id="rId13"/>
    <p:sldId id="300" r:id="rId14"/>
    <p:sldId id="302" r:id="rId1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679"/>
    <p:restoredTop sz="94704"/>
  </p:normalViewPr>
  <p:slideViewPr>
    <p:cSldViewPr snapToGrid="0">
      <p:cViewPr>
        <p:scale>
          <a:sx n="58" d="100"/>
          <a:sy n="58" d="100"/>
        </p:scale>
        <p:origin x="-336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E4E51-70AC-45D9-F727-7E3DCD34B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851582-1A20-9DB7-A483-CD7B46219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3EB510-73EE-3A26-42CA-9F765823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797D1A-860E-6D0A-22A7-E0E41654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219233-E969-6640-6124-9D15FDFA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7757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D654B-FFE9-7692-4FAB-38F01AC77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9D0DD-C63D-21C7-6349-B8D2AF18A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4A9D6-57C0-2402-030B-B5A50AD6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E34067-11C0-1841-84FB-22C3616F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CB489-7D26-167D-0E01-97B40657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807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7D8C1-EA03-D4E8-99B3-A0616E02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D027B3-5BE9-BEB7-749B-DA61A791D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AA1470-C0A9-9AB8-9973-C8E78134C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8C79B-67ED-8763-A233-05085A0F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F06239-7A9F-842E-DA9B-D07D87AC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4590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0FEC1-45A3-96EE-85EC-CFCA0D20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010578-B75F-FB30-F3F4-69F735593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5E4654-DD1D-191E-72AD-5FC23055F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B346A-0AD4-ACF9-869B-8767B244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1D4068-7477-404F-002B-969A0790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7CBF62-4C56-B594-030E-734F4520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2771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081FA-48A8-0B82-0551-3DBF51B4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36044B-3169-3869-D24E-E18AB3F5F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797A6D-4271-8D8C-F268-8D14B89A0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D71C4B-AE35-1264-DE51-5FA8F4FF6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C02174-4390-BECE-2687-385F88C8F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A86094-6C19-3966-7C37-323918C7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8D21DC-553D-0F09-64CF-8060FDA6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BC0ACA-08B6-DFF1-AD80-156B7A58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3918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8470D-1E6E-914B-0BEE-18131B8F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A6009A-0C1D-3CD2-53D2-21FF3252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D982E7-979C-32F9-8DB4-DF6385BD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BE4C82-03AE-B006-D1BC-01990401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9699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EA4E39-01C0-14D9-F92F-DDC91EC4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B33746-D4DE-8CD7-2B9E-E9F27085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AB67DE-67B1-AE37-CE99-FF86ECF8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6131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F47DB-68DD-174B-DD17-35B12695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A1133-0EF1-93F3-3CE6-C1606425F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572F54-B3F8-84B4-0567-F7D23F3A0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F3798B-3BD2-8BBC-E821-C2F91A5F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213F02-2E87-E4BC-40AD-260DDE3E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5FDF57-E3F8-A9A0-7279-D7B2CD4D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625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B142E-C08C-144F-707E-3930D188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9F0090-8429-83DA-46B1-396414194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646075-BD17-8E30-0122-C4F41FB67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EF9045-54A3-7E49-00DF-A0A2AC0B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0DC089-5D5A-AF02-A77A-D4723E3E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6E3E2D-C41E-28F9-4EFF-8B0C8CCA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093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82BF1-A88B-0CDD-B67D-2DDF7E4E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054E58-46F7-D187-0296-B5108241B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8555C-AA44-E894-A3F6-DA18A736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566DB-A4B5-D2FB-4345-8764F388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6C3793-C815-A823-1590-26A2E95C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884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243FD07-BF3F-DCDB-8305-D78C5D752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476413-5575-6FEC-CE25-D1FBEA3D1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AEBE1C-4773-7C47-564C-ABE3C984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F2377-20CD-C530-BC46-12B8487C1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FCCEC3-B05A-505B-3972-39D1956C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97911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682721-33B2-3183-2F07-214125580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4DA9DB-2924-A616-C81F-AE0B08156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1AB29-1F68-A6B2-87B1-5A0D77177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D6CB-9800-DF42-B533-459823DCB9D6}" type="datetimeFigureOut">
              <a:rPr kumimoji="1" lang="ko-Kore-KR" altLang="en-US" smtClean="0"/>
              <a:t>2026. 2. 17.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8C52D-539A-BD8F-F2AC-040363AC7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825BB-998E-988F-B2CC-FFEE3D826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9CED9-D49C-F641-8477-E9B6ADF38D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2875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C576B-D4D5-44F2-0805-05A81476D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346200"/>
            <a:ext cx="10160000" cy="2387600"/>
          </a:xfrm>
        </p:spPr>
        <p:txBody>
          <a:bodyPr/>
          <a:lstStyle/>
          <a:p>
            <a:r>
              <a:rPr kumimoji="1" lang="ko-KR" altLang="en-US" sz="3600" b="1" dirty="0">
                <a:solidFill>
                  <a:srgbClr val="1E3A5F"/>
                </a:solidFill>
                <a:latin typeface="Bahnschrift"/>
              </a:rPr>
              <a:t>드론 교육 과정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281A0C-4BBB-C8A3-D778-34B02A26F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3810000"/>
            <a:ext cx="10160000" cy="1655762"/>
          </a:xfrm>
        </p:spPr>
        <p:txBody>
          <a:bodyPr/>
          <a:lstStyle/>
          <a:p>
            <a:r>
              <a:rPr kumimoji="1" lang="ko-KR" altLang="en-US" sz="2000" dirty="0">
                <a:solidFill>
                  <a:srgbClr val="2D3436"/>
                </a:solidFill>
                <a:latin typeface="Bahnschrift"/>
              </a:rPr>
              <a:t>드론의 기초부터 실전 비행까지</a:t>
            </a:r>
          </a:p>
          <a:p>
            <a:r>
              <a:rPr kumimoji="1" lang="en-US" altLang="ko-KR" sz="1600" dirty="0">
                <a:solidFill>
                  <a:srgbClr val="4A90D9"/>
                </a:solidFill>
                <a:latin typeface="Bahnschrift"/>
              </a:rPr>
              <a:t>40</a:t>
            </a:r>
            <a:r>
              <a:rPr kumimoji="1" lang="ko-KR" altLang="en-US" sz="1600" dirty="0">
                <a:solidFill>
                  <a:srgbClr val="4A90D9"/>
                </a:solidFill>
                <a:latin typeface="Bahnschrift"/>
              </a:rPr>
              <a:t>분 완성 커리큘럼</a:t>
            </a:r>
          </a:p>
        </p:txBody>
      </p:sp>
      <p:sp>
        <p:nvSpPr>
          <p:cNvPr id="1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9730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FC9D2-80F6-2C5F-A4F0-008A6992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35000"/>
          </a:xfrm>
        </p:spPr>
        <p:txBody>
          <a:bodyPr>
            <a:noAutofit/>
          </a:bodyPr>
          <a:lstStyle/>
          <a:p>
            <a:r>
              <a:rPr kumimoji="1" lang="en-US" altLang="ko-KR" sz="3000" b="1"/>
              <a:t>1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드론이란</a:t>
            </a:r>
            <a:r>
              <a:rPr kumimoji="1" lang="en-US" altLang="ko-KR" sz="3000" b="1"/>
              <a:t>?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AE36A68-0CF6-2D48-AF23-31C15D115FC7}"/>
              </a:ext>
            </a:extLst>
          </p:cNvPr>
          <p:cNvSpPr/>
          <p:nvPr/>
        </p:nvSpPr>
        <p:spPr>
          <a:xfrm>
            <a:off x="508000" y="1016000"/>
            <a:ext cx="2286000" cy="381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1 · </a:t>
            </a:r>
            <a:r>
              <a:rPr lang="ko-KR" altLang="en-US" sz="1400" b="1">
                <a:solidFill>
                  <a:srgbClr val="FFFFFF"/>
                </a:solidFill>
              </a:rPr>
              <a:t>드론 기초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D702B17-83A5-B44A-9D9D-B1B343E76B63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FDCD8AA-7A5E-0746-8478-C8924F993F0A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?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ECAFD-474A-4A48-AA3E-3C25CBDF12A8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드론의 정의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2396F-7AC2-2047-8EB5-C26CA44CAFA2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무인항공기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en" altLang="ko-Kore-KR" sz="1500">
                <a:solidFill>
                  <a:srgbClr val="2D3436"/>
                </a:solidFill>
              </a:rPr>
              <a:t>UAV)</a:t>
            </a:r>
            <a:r>
              <a:rPr lang="ko-KR" altLang="en-US" sz="1500">
                <a:solidFill>
                  <a:srgbClr val="2D3436"/>
                </a:solidFill>
              </a:rPr>
              <a:t>란 무엇인지 알아봐요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사람이 타지 않고 원격 또는 자동으로
비행하는 항공기에요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FA892-79DC-C94F-B841-7D705334787D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9AC27C8-54B0-5348-A98F-AAD705F96AB1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38D8F-E9DD-0046-8963-6595BCE66AFB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드론의 종류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A15F2-0CD8-2A41-B76C-9EA64B0C389E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멀티콥터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고정익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en" altLang="ko-Kore-KR" sz="1500">
                <a:solidFill>
                  <a:srgbClr val="2D3436"/>
                </a:solidFill>
              </a:rPr>
              <a:t>VTOL </a:t>
            </a:r>
            <a:r>
              <a:rPr lang="ko-KR" altLang="en-US" sz="1500">
                <a:solidFill>
                  <a:srgbClr val="2D3436"/>
                </a:solidFill>
              </a:rPr>
              <a:t>등
다양한 드론의 형태와
각각의 특징을 비교해봐요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3F242D5-4DFE-F74B-9A6D-B1A1D16D4EFA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335110A-3118-DC48-B7D1-E421CC215A33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A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C3BB7-2D67-DE41-A073-12030B88A37F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활용 분야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8D2960-EEB2-2F4D-96C8-21C5E3D5E335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배달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촬영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농업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측량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구조 등
드론이 우리 생활에서 어떻게
활용되는지 알아봐요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9D9A050-0B1D-ED45-84A8-5C9F6FDCDE54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FE765E2-4C10-B642-93A6-7C0A5ECD7FB9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!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4E361D-EF5C-4C47-A48A-4D8BA7134783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안전 규칙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8331E5-9B66-C14B-9FBA-A41BE5C2E8F5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드론 비행 시 꼭 지켜야 할 안전 수칙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비행 금지 구역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안전 거리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배터리 관리법을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8181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14388-20DF-1441-9DCD-1859EBEA236C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드론이란 무엇일까요</a:t>
            </a:r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?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B087E-2559-9E44-83C6-F9F81378489B}"/>
              </a:ext>
            </a:extLst>
          </p:cNvPr>
          <p:cNvSpPr txBox="1"/>
          <p:nvPr/>
        </p:nvSpPr>
        <p:spPr>
          <a:xfrm>
            <a:off x="635000" y="9144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600">
                <a:solidFill>
                  <a:srgbClr val="4A90D9"/>
                </a:solidFill>
                <a:latin typeface="Bahnschrift"/>
              </a:rPr>
              <a:t>UAV (Unmanned Aerial Vehicle) = </a:t>
            </a:r>
            <a:r>
              <a:rPr lang="ko-KR" altLang="en-US" sz="1600">
                <a:solidFill>
                  <a:srgbClr val="4A90D9"/>
                </a:solidFill>
                <a:latin typeface="Bahnschrift"/>
              </a:rPr>
              <a:t>무인항공기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E60AB63-F5B6-464D-A52D-215957988776}"/>
              </a:ext>
            </a:extLst>
          </p:cNvPr>
          <p:cNvSpPr/>
          <p:nvPr/>
        </p:nvSpPr>
        <p:spPr>
          <a:xfrm>
            <a:off x="508000" y="1460500"/>
            <a:ext cx="5588000" cy="381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40E58E8-17CD-CF4A-8304-5DB6C717E5F7}"/>
              </a:ext>
            </a:extLst>
          </p:cNvPr>
          <p:cNvSpPr/>
          <p:nvPr/>
        </p:nvSpPr>
        <p:spPr>
          <a:xfrm>
            <a:off x="698500" y="1651000"/>
            <a:ext cx="635000" cy="635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  <a:latin typeface="Bahnschrift"/>
              </a:rPr>
              <a:t>?</a:t>
            </a:r>
            <a:endParaRPr lang="ko-Kore-KR" altLang="en-US" sz="22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92C47-04EB-B64D-999A-D9E5C9FCB383}"/>
              </a:ext>
            </a:extLst>
          </p:cNvPr>
          <p:cNvSpPr txBox="1"/>
          <p:nvPr/>
        </p:nvSpPr>
        <p:spPr>
          <a:xfrm>
            <a:off x="1498600" y="1714500"/>
            <a:ext cx="431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정의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C3930-B599-574F-8AA9-BC747CDD538D}"/>
              </a:ext>
            </a:extLst>
          </p:cNvPr>
          <p:cNvSpPr txBox="1"/>
          <p:nvPr/>
        </p:nvSpPr>
        <p:spPr>
          <a:xfrm>
            <a:off x="762000" y="2413000"/>
            <a:ext cx="5080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사람이 탑승하지 않고
원격 조종 또는 자율 비행하는
모든 비행체를 말해요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.
'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Drone'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이라는 이름은
벌의 윙윙거리는 소리에서
유래했다고 해요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!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5989220-035D-0845-B86F-28B21A67D6A5}"/>
              </a:ext>
            </a:extLst>
          </p:cNvPr>
          <p:cNvSpPr/>
          <p:nvPr/>
        </p:nvSpPr>
        <p:spPr>
          <a:xfrm>
            <a:off x="6350000" y="1460500"/>
            <a:ext cx="5588000" cy="381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435E93A-31B7-2445-84D7-5CA4C5978771}"/>
              </a:ext>
            </a:extLst>
          </p:cNvPr>
          <p:cNvSpPr/>
          <p:nvPr/>
        </p:nvSpPr>
        <p:spPr>
          <a:xfrm>
            <a:off x="6540500" y="1651000"/>
            <a:ext cx="635000" cy="6350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200" b="1">
                <a:solidFill>
                  <a:srgbClr val="FFFFFF"/>
                </a:solidFill>
                <a:latin typeface="Bahnschrift"/>
              </a:rPr>
              <a:t>H</a:t>
            </a:r>
            <a:endParaRPr lang="ko-Kore-KR" altLang="en-US" sz="22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65413-17EC-3E42-B60C-F222EADBEC20}"/>
              </a:ext>
            </a:extLst>
          </p:cNvPr>
          <p:cNvSpPr txBox="1"/>
          <p:nvPr/>
        </p:nvSpPr>
        <p:spPr>
          <a:xfrm>
            <a:off x="7340600" y="1714500"/>
            <a:ext cx="431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역사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32E75F-D19B-EE40-AB0F-2F8DB6E83D84}"/>
              </a:ext>
            </a:extLst>
          </p:cNvPr>
          <p:cNvSpPr txBox="1"/>
          <p:nvPr/>
        </p:nvSpPr>
        <p:spPr>
          <a:xfrm>
            <a:off x="6604000" y="2413000"/>
            <a:ext cx="5080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  <a:latin typeface="Bahnschrift"/>
              </a:rPr>
              <a:t>1849 -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오스트리아 무인 풍선 폭격
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1917 -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최초 무인 비행체 실험
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1960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s -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군사 정찰용 드론
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2010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s -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민간 드론 대중화
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2020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s -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/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촬영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/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농업 확대
군사 목적에서 시작해 이제는
일상 속으로 들어왔어요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02471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730AF5-EA11-BB4D-AC4D-D5EBE2FF9D8B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드론의 종류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B26B0-BF05-904E-9089-1970CA0F2C1D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형태와 날개 구조에 따른 분류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4576E3A-83D9-3146-8E55-F63072127D98}"/>
              </a:ext>
            </a:extLst>
          </p:cNvPr>
          <p:cNvSpPr/>
          <p:nvPr/>
        </p:nvSpPr>
        <p:spPr>
          <a:xfrm>
            <a:off x="508000" y="1397000"/>
            <a:ext cx="3556000" cy="3937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5E36E16-11AB-9648-97B1-636A52CC438A}"/>
              </a:ext>
            </a:extLst>
          </p:cNvPr>
          <p:cNvSpPr/>
          <p:nvPr/>
        </p:nvSpPr>
        <p:spPr>
          <a:xfrm>
            <a:off x="698500" y="1587500"/>
            <a:ext cx="584200" cy="584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M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12D9D-62BD-DB4A-AFEE-C32E4EBFFC78}"/>
              </a:ext>
            </a:extLst>
          </p:cNvPr>
          <p:cNvSpPr txBox="1"/>
          <p:nvPr/>
        </p:nvSpPr>
        <p:spPr>
          <a:xfrm>
            <a:off x="1397000" y="1651000"/>
            <a:ext cx="2476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멀티콥터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430AE-718E-F14F-AFE8-8129AB6C1A91}"/>
              </a:ext>
            </a:extLst>
          </p:cNvPr>
          <p:cNvSpPr txBox="1"/>
          <p:nvPr/>
        </p:nvSpPr>
        <p:spPr>
          <a:xfrm>
            <a:off x="762000" y="2349500"/>
            <a:ext cx="3048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  <a:latin typeface="Bahnschrift"/>
              </a:rPr>
              <a:t>4~8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개의 프로펠러로 비행
제자리 비행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호버링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가능
촬영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배달에 최적화
대표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DJI Mavic, Mini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시리즈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CBE7F5D-3CF3-0E40-9174-083F6722CCC0}"/>
              </a:ext>
            </a:extLst>
          </p:cNvPr>
          <p:cNvSpPr/>
          <p:nvPr/>
        </p:nvSpPr>
        <p:spPr>
          <a:xfrm>
            <a:off x="4318000" y="1397000"/>
            <a:ext cx="3556000" cy="3937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12F4E37-7F55-B541-9B46-9FD63FF118B9}"/>
              </a:ext>
            </a:extLst>
          </p:cNvPr>
          <p:cNvSpPr/>
          <p:nvPr/>
        </p:nvSpPr>
        <p:spPr>
          <a:xfrm>
            <a:off x="4508500" y="1587500"/>
            <a:ext cx="584200" cy="5842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F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2ED28-E23D-8F4F-B7CA-E12D957D850C}"/>
              </a:ext>
            </a:extLst>
          </p:cNvPr>
          <p:cNvSpPr txBox="1"/>
          <p:nvPr/>
        </p:nvSpPr>
        <p:spPr>
          <a:xfrm>
            <a:off x="5207000" y="1651000"/>
            <a:ext cx="2476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고정익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b="1">
                <a:solidFill>
                  <a:srgbClr val="1E3A5F"/>
                </a:solidFill>
                <a:latin typeface="Bahnschrift"/>
              </a:rPr>
              <a:t>Fixed-wing)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D2E81-39AB-BF4B-ADF4-1E6FCAE6E8EC}"/>
              </a:ext>
            </a:extLst>
          </p:cNvPr>
          <p:cNvSpPr txBox="1"/>
          <p:nvPr/>
        </p:nvSpPr>
        <p:spPr>
          <a:xfrm>
            <a:off x="4572000" y="2349500"/>
            <a:ext cx="3048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비행기처럼 고정된 날개
넓은 범위를 빠르게 비행
에너지 효율이 높음
대표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군용 정찰기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매핑 드론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B79E3D4-52A6-6B4B-B37F-3723D9A33766}"/>
              </a:ext>
            </a:extLst>
          </p:cNvPr>
          <p:cNvSpPr/>
          <p:nvPr/>
        </p:nvSpPr>
        <p:spPr>
          <a:xfrm>
            <a:off x="8128000" y="1397000"/>
            <a:ext cx="3556000" cy="3937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66DFC62-FCDD-6247-AED4-FCA83543B545}"/>
              </a:ext>
            </a:extLst>
          </p:cNvPr>
          <p:cNvSpPr/>
          <p:nvPr/>
        </p:nvSpPr>
        <p:spPr>
          <a:xfrm>
            <a:off x="8318500" y="1587500"/>
            <a:ext cx="584200" cy="5842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V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BF6744-8F33-4549-B4F7-BD6606140A80}"/>
              </a:ext>
            </a:extLst>
          </p:cNvPr>
          <p:cNvSpPr txBox="1"/>
          <p:nvPr/>
        </p:nvSpPr>
        <p:spPr>
          <a:xfrm>
            <a:off x="9017000" y="1651000"/>
            <a:ext cx="2476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  <a:latin typeface="Bahnschrift"/>
              </a:rPr>
              <a:t>VTOL(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복합형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)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7D6B3B-63EF-1643-B3D5-0557FF97A4A6}"/>
              </a:ext>
            </a:extLst>
          </p:cNvPr>
          <p:cNvSpPr txBox="1"/>
          <p:nvPr/>
        </p:nvSpPr>
        <p:spPr>
          <a:xfrm>
            <a:off x="8382000" y="2349500"/>
            <a:ext cx="3048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수직 이착륙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+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고정익 비행
두 가지 장점을 결합
장거리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+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호버링 모두 가능
대표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물류 배송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도심항공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8982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C1C3A4-6890-1242-B388-0085DAD2F2AE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멀티콥터의 종류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A77550-FD79-C84D-98D3-03EADD61B44E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프로펠러 개수에 따른 분류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D474B9F-54D9-5440-A893-C1D6C383998A}"/>
              </a:ext>
            </a:extLst>
          </p:cNvPr>
          <p:cNvSpPr/>
          <p:nvPr/>
        </p:nvSpPr>
        <p:spPr>
          <a:xfrm>
            <a:off x="508000" y="14605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6AC357-73C9-AC45-8249-027E1A6B7BB5}"/>
              </a:ext>
            </a:extLst>
          </p:cNvPr>
          <p:cNvSpPr/>
          <p:nvPr/>
        </p:nvSpPr>
        <p:spPr>
          <a:xfrm>
            <a:off x="698500" y="1651000"/>
            <a:ext cx="533400" cy="533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3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C06F3-6F9F-8843-A4F1-80F855155D09}"/>
              </a:ext>
            </a:extLst>
          </p:cNvPr>
          <p:cNvSpPr txBox="1"/>
          <p:nvPr/>
        </p:nvSpPr>
        <p:spPr>
          <a:xfrm>
            <a:off x="1371600" y="1689100"/>
            <a:ext cx="4381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트라이콥터 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(3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개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)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79977-7E9C-F349-B077-D7D9C314C660}"/>
              </a:ext>
            </a:extLst>
          </p:cNvPr>
          <p:cNvSpPr txBox="1"/>
          <p:nvPr/>
        </p:nvSpPr>
        <p:spPr>
          <a:xfrm>
            <a:off x="762000" y="2222500"/>
            <a:ext cx="495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프로펠러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3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개로 비행
가볍고 민첩한 기동
카메라 틸트에 유리
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Yaw)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제어에 서보모터 사용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5B6F3E8-259C-484A-B29A-48BC1725EB44}"/>
              </a:ext>
            </a:extLst>
          </p:cNvPr>
          <p:cNvSpPr/>
          <p:nvPr/>
        </p:nvSpPr>
        <p:spPr>
          <a:xfrm>
            <a:off x="6286500" y="14605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E686415-7E72-F945-AA15-F01873BB7381}"/>
              </a:ext>
            </a:extLst>
          </p:cNvPr>
          <p:cNvSpPr/>
          <p:nvPr/>
        </p:nvSpPr>
        <p:spPr>
          <a:xfrm>
            <a:off x="6477000" y="1651000"/>
            <a:ext cx="533400" cy="5334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4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64FEF-727E-9542-B04C-FFB93A49097B}"/>
              </a:ext>
            </a:extLst>
          </p:cNvPr>
          <p:cNvSpPr txBox="1"/>
          <p:nvPr/>
        </p:nvSpPr>
        <p:spPr>
          <a:xfrm>
            <a:off x="7150100" y="1689100"/>
            <a:ext cx="4381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쿼드콥터 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(4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개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)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DB4D9-88A8-FB45-897A-5A7A0B11B07A}"/>
              </a:ext>
            </a:extLst>
          </p:cNvPr>
          <p:cNvSpPr txBox="1"/>
          <p:nvPr/>
        </p:nvSpPr>
        <p:spPr>
          <a:xfrm>
            <a:off x="6540500" y="2222500"/>
            <a:ext cx="495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가장 대중적인 형태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안정적인 호버링 가능
구조가 단순하고 저렴
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DJI,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레이싱 드론 대부분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C387177-6B03-A844-BA6D-F98533FB5767}"/>
              </a:ext>
            </a:extLst>
          </p:cNvPr>
          <p:cNvSpPr/>
          <p:nvPr/>
        </p:nvSpPr>
        <p:spPr>
          <a:xfrm>
            <a:off x="508000" y="39370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1305CEA-2105-5F4B-B4D3-D37A26A95CB1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6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2FA88-4ACC-6844-A913-3EA7E1092356}"/>
              </a:ext>
            </a:extLst>
          </p:cNvPr>
          <p:cNvSpPr txBox="1"/>
          <p:nvPr/>
        </p:nvSpPr>
        <p:spPr>
          <a:xfrm>
            <a:off x="1371600" y="4165600"/>
            <a:ext cx="4381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헥사콥터 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(6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개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)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071DC4-F5A4-9E49-A932-2AF1C354356E}"/>
              </a:ext>
            </a:extLst>
          </p:cNvPr>
          <p:cNvSpPr txBox="1"/>
          <p:nvPr/>
        </p:nvSpPr>
        <p:spPr>
          <a:xfrm>
            <a:off x="762000" y="4699000"/>
            <a:ext cx="495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더 큰 하중 탑재 가능
모터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1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개 고장 시에도 비행
전문 항공 촬영에 사용
안정성이 높음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7C63E5D-07FB-434A-B980-40865F138D2D}"/>
              </a:ext>
            </a:extLst>
          </p:cNvPr>
          <p:cNvSpPr/>
          <p:nvPr/>
        </p:nvSpPr>
        <p:spPr>
          <a:xfrm>
            <a:off x="6286500" y="39370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A8DBC4C-04DD-D848-8B89-2D3D53EA9B0D}"/>
              </a:ext>
            </a:extLst>
          </p:cNvPr>
          <p:cNvSpPr/>
          <p:nvPr/>
        </p:nvSpPr>
        <p:spPr>
          <a:xfrm>
            <a:off x="6477000" y="4127500"/>
            <a:ext cx="533400" cy="5334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8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B1D8E-7276-B64A-9AD9-69CAC4E484A1}"/>
              </a:ext>
            </a:extLst>
          </p:cNvPr>
          <p:cNvSpPr txBox="1"/>
          <p:nvPr/>
        </p:nvSpPr>
        <p:spPr>
          <a:xfrm>
            <a:off x="7150100" y="4165600"/>
            <a:ext cx="4381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옥토콥터 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(8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개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)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BEA325-C124-8545-BADF-139996F310AD}"/>
              </a:ext>
            </a:extLst>
          </p:cNvPr>
          <p:cNvSpPr txBox="1"/>
          <p:nvPr/>
        </p:nvSpPr>
        <p:spPr>
          <a:xfrm>
            <a:off x="6540500" y="4699000"/>
            <a:ext cx="495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최대 안정성과 하중
전문 산업용 드론
무거운 카메라 장비 탑재
매핑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측량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배송용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26251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AAC37-6033-4245-8475-FB086AD22162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드론의 활용 분야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0E317-E59C-2749-AAFC-6CE733F05C71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우리 생활 곳곳에서 활약하는 드론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959D5A0-99DF-304C-82E7-F05A00AA3580}"/>
              </a:ext>
            </a:extLst>
          </p:cNvPr>
          <p:cNvSpPr/>
          <p:nvPr/>
        </p:nvSpPr>
        <p:spPr>
          <a:xfrm>
            <a:off x="50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643F003-9CB3-BC4B-8B1A-908A266877BA}"/>
              </a:ext>
            </a:extLst>
          </p:cNvPr>
          <p:cNvSpPr/>
          <p:nvPr/>
        </p:nvSpPr>
        <p:spPr>
          <a:xfrm>
            <a:off x="698500" y="1587500"/>
            <a:ext cx="533400" cy="533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C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66712-9F12-A146-B344-3FC1EF5C0CCD}"/>
              </a:ext>
            </a:extLst>
          </p:cNvPr>
          <p:cNvSpPr txBox="1"/>
          <p:nvPr/>
        </p:nvSpPr>
        <p:spPr>
          <a:xfrm>
            <a:off x="137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항공 촬영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DE46B-4DB5-CB46-B38C-33879A0843D5}"/>
              </a:ext>
            </a:extLst>
          </p:cNvPr>
          <p:cNvSpPr txBox="1"/>
          <p:nvPr/>
        </p:nvSpPr>
        <p:spPr>
          <a:xfrm>
            <a:off x="762000" y="22606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영화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방송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부동산
관광지 홍보 영상 촬영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1A28EFC-73A5-6446-82A9-B3E0192AA242}"/>
              </a:ext>
            </a:extLst>
          </p:cNvPr>
          <p:cNvSpPr/>
          <p:nvPr/>
        </p:nvSpPr>
        <p:spPr>
          <a:xfrm>
            <a:off x="431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A6CF1C7-08ED-A74B-8E03-0B72533D89A5}"/>
              </a:ext>
            </a:extLst>
          </p:cNvPr>
          <p:cNvSpPr/>
          <p:nvPr/>
        </p:nvSpPr>
        <p:spPr>
          <a:xfrm>
            <a:off x="4508500" y="1587500"/>
            <a:ext cx="533400" cy="5334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A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DDC19-C53A-7F43-9A2E-D9A0AF0B5214}"/>
              </a:ext>
            </a:extLst>
          </p:cNvPr>
          <p:cNvSpPr txBox="1"/>
          <p:nvPr/>
        </p:nvSpPr>
        <p:spPr>
          <a:xfrm>
            <a:off x="518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농업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895F77-D42B-3A42-9DAD-73A7AB5E91CD}"/>
              </a:ext>
            </a:extLst>
          </p:cNvPr>
          <p:cNvSpPr txBox="1"/>
          <p:nvPr/>
        </p:nvSpPr>
        <p:spPr>
          <a:xfrm>
            <a:off x="4572000" y="22606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농약 살포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작물 모니터링
정밀 농업 데이터 수집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B521FA2-2C95-BF40-A4B6-CC4285424C54}"/>
              </a:ext>
            </a:extLst>
          </p:cNvPr>
          <p:cNvSpPr/>
          <p:nvPr/>
        </p:nvSpPr>
        <p:spPr>
          <a:xfrm>
            <a:off x="812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224D98B-B309-B149-B7BF-C39288EF613B}"/>
              </a:ext>
            </a:extLst>
          </p:cNvPr>
          <p:cNvSpPr/>
          <p:nvPr/>
        </p:nvSpPr>
        <p:spPr>
          <a:xfrm>
            <a:off x="8318500" y="1587500"/>
            <a:ext cx="533400" cy="5334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D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088428-7B0D-1545-8261-59D2B9D6A29F}"/>
              </a:ext>
            </a:extLst>
          </p:cNvPr>
          <p:cNvSpPr txBox="1"/>
          <p:nvPr/>
        </p:nvSpPr>
        <p:spPr>
          <a:xfrm>
            <a:off x="899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배달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/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물류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E79CCA-CF38-3541-9BD5-592F0574BF89}"/>
              </a:ext>
            </a:extLst>
          </p:cNvPr>
          <p:cNvSpPr txBox="1"/>
          <p:nvPr/>
        </p:nvSpPr>
        <p:spPr>
          <a:xfrm>
            <a:off x="8382000" y="22606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택배 배송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음식 배달
도서 산간 지역 물류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59524EF-1B3A-5549-B189-DE7FBE886E28}"/>
              </a:ext>
            </a:extLst>
          </p:cNvPr>
          <p:cNvSpPr/>
          <p:nvPr/>
        </p:nvSpPr>
        <p:spPr>
          <a:xfrm>
            <a:off x="50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FD71D58-FDCC-BE42-8AF8-63270471740F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S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41584-DD4B-F040-B257-F61DAB94264A}"/>
              </a:ext>
            </a:extLst>
          </p:cNvPr>
          <p:cNvSpPr txBox="1"/>
          <p:nvPr/>
        </p:nvSpPr>
        <p:spPr>
          <a:xfrm>
            <a:off x="137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측량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/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지도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F01B1-5DB4-7D44-967B-FC139668791B}"/>
              </a:ext>
            </a:extLst>
          </p:cNvPr>
          <p:cNvSpPr txBox="1"/>
          <p:nvPr/>
        </p:nvSpPr>
        <p:spPr>
          <a:xfrm>
            <a:off x="762000" y="48006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3D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지형 매핑
건설 현장 측량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C0FC69BE-3D24-5E49-B52F-440EF9FF79B7}"/>
              </a:ext>
            </a:extLst>
          </p:cNvPr>
          <p:cNvSpPr/>
          <p:nvPr/>
        </p:nvSpPr>
        <p:spPr>
          <a:xfrm>
            <a:off x="431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96899B8-E86E-F940-9E28-9AC8486F0B2A}"/>
              </a:ext>
            </a:extLst>
          </p:cNvPr>
          <p:cNvSpPr/>
          <p:nvPr/>
        </p:nvSpPr>
        <p:spPr>
          <a:xfrm>
            <a:off x="4508500" y="4127500"/>
            <a:ext cx="533400" cy="533400"/>
          </a:xfrm>
          <a:prstGeom prst="ellipse">
            <a:avLst/>
          </a:prstGeom>
          <a:solidFill>
            <a:srgbClr val="CC5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R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57C58-6B3D-9148-806D-C0C76F18A623}"/>
              </a:ext>
            </a:extLst>
          </p:cNvPr>
          <p:cNvSpPr txBox="1"/>
          <p:nvPr/>
        </p:nvSpPr>
        <p:spPr>
          <a:xfrm>
            <a:off x="518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구조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/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재난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C0C4D2-7C52-1049-AC45-8FDF5C27FC4E}"/>
              </a:ext>
            </a:extLst>
          </p:cNvPr>
          <p:cNvSpPr txBox="1"/>
          <p:nvPr/>
        </p:nvSpPr>
        <p:spPr>
          <a:xfrm>
            <a:off x="4572000" y="48006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실종자 수색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재난 현장
위험 지역 정찰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1601448-C45D-724F-9034-8ABE1B4C8734}"/>
              </a:ext>
            </a:extLst>
          </p:cNvPr>
          <p:cNvSpPr/>
          <p:nvPr/>
        </p:nvSpPr>
        <p:spPr>
          <a:xfrm>
            <a:off x="812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C6DB1BC-42B7-8648-873F-969CF02AD205}"/>
              </a:ext>
            </a:extLst>
          </p:cNvPr>
          <p:cNvSpPr/>
          <p:nvPr/>
        </p:nvSpPr>
        <p:spPr>
          <a:xfrm>
            <a:off x="8318500" y="4127500"/>
            <a:ext cx="533400" cy="533400"/>
          </a:xfrm>
          <a:prstGeom prst="ellipse">
            <a:avLst/>
          </a:prstGeom>
          <a:solidFill>
            <a:srgbClr val="FCC41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I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CA714E-F907-2947-B3CB-5BE6FAC6BB7C}"/>
              </a:ext>
            </a:extLst>
          </p:cNvPr>
          <p:cNvSpPr txBox="1"/>
          <p:nvPr/>
        </p:nvSpPr>
        <p:spPr>
          <a:xfrm>
            <a:off x="899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점검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/</a:t>
            </a:r>
            <a:r>
              <a:rPr lang="ko-KR" altLang="en-US" b="1">
                <a:solidFill>
                  <a:srgbClr val="1E3A5F"/>
                </a:solidFill>
                <a:latin typeface="Bahnschrift"/>
              </a:rPr>
              <a:t>검사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0E1668-84EB-594E-B459-2976EB2B476B}"/>
              </a:ext>
            </a:extLst>
          </p:cNvPr>
          <p:cNvSpPr txBox="1"/>
          <p:nvPr/>
        </p:nvSpPr>
        <p:spPr>
          <a:xfrm>
            <a:off x="8382000" y="48006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교량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송전탑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풍력발전기
시설물 안전 점검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3622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58540D-00A1-8449-8CE2-3BF8745B2520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드론의 기본 구조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B3383-E120-0E45-AC49-7A79C2EC220A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드론을 구성하는 핵심 부품들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F3E51B0-9943-0248-BDBD-77141A8AF0E9}"/>
              </a:ext>
            </a:extLst>
          </p:cNvPr>
          <p:cNvSpPr/>
          <p:nvPr/>
        </p:nvSpPr>
        <p:spPr>
          <a:xfrm>
            <a:off x="50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0AC9C81-4886-8E45-B5A6-46C96E6F1356}"/>
              </a:ext>
            </a:extLst>
          </p:cNvPr>
          <p:cNvSpPr/>
          <p:nvPr/>
        </p:nvSpPr>
        <p:spPr>
          <a:xfrm>
            <a:off x="698500" y="1587500"/>
            <a:ext cx="533400" cy="533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F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5E81C-C6BC-504B-A4B3-6A9D7894F526}"/>
              </a:ext>
            </a:extLst>
          </p:cNvPr>
          <p:cNvSpPr txBox="1"/>
          <p:nvPr/>
        </p:nvSpPr>
        <p:spPr>
          <a:xfrm>
            <a:off x="137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프레임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14E097-6168-A845-8171-375708C8BBFE}"/>
              </a:ext>
            </a:extLst>
          </p:cNvPr>
          <p:cNvSpPr txBox="1"/>
          <p:nvPr/>
        </p:nvSpPr>
        <p:spPr>
          <a:xfrm>
            <a:off x="762000" y="222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드론의 뼈대
모든 부품이 여기에 부착
소재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카본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플라스틱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알루미늄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9064649-642C-BE4F-8E37-F799888B5CAD}"/>
              </a:ext>
            </a:extLst>
          </p:cNvPr>
          <p:cNvSpPr/>
          <p:nvPr/>
        </p:nvSpPr>
        <p:spPr>
          <a:xfrm>
            <a:off x="431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924B947-6445-4C4B-820B-8C97E69C4D1C}"/>
              </a:ext>
            </a:extLst>
          </p:cNvPr>
          <p:cNvSpPr/>
          <p:nvPr/>
        </p:nvSpPr>
        <p:spPr>
          <a:xfrm>
            <a:off x="4508500" y="1587500"/>
            <a:ext cx="533400" cy="5334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M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34960-FC0C-8E44-BE9F-5DF9B78533B3}"/>
              </a:ext>
            </a:extLst>
          </p:cNvPr>
          <p:cNvSpPr txBox="1"/>
          <p:nvPr/>
        </p:nvSpPr>
        <p:spPr>
          <a:xfrm>
            <a:off x="518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모터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CD468-1D47-744C-A19F-5AECE3B661DE}"/>
              </a:ext>
            </a:extLst>
          </p:cNvPr>
          <p:cNvSpPr txBox="1"/>
          <p:nvPr/>
        </p:nvSpPr>
        <p:spPr>
          <a:xfrm>
            <a:off x="4572000" y="222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프로펠러를 회전시키는 동력원
브러시리스 모터가 주로 사용
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KV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값이 회전 속도를 결정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922D81E-1E27-A642-BACE-F0C475E578F8}"/>
              </a:ext>
            </a:extLst>
          </p:cNvPr>
          <p:cNvSpPr/>
          <p:nvPr/>
        </p:nvSpPr>
        <p:spPr>
          <a:xfrm>
            <a:off x="812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3F9B0F-EDF0-2E4A-AADA-FB6DCC6E2E82}"/>
              </a:ext>
            </a:extLst>
          </p:cNvPr>
          <p:cNvSpPr/>
          <p:nvPr/>
        </p:nvSpPr>
        <p:spPr>
          <a:xfrm>
            <a:off x="8318500" y="1587500"/>
            <a:ext cx="533400" cy="5334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P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CE9D0-4EC6-BB4B-869F-1E7609EC0163}"/>
              </a:ext>
            </a:extLst>
          </p:cNvPr>
          <p:cNvSpPr txBox="1"/>
          <p:nvPr/>
        </p:nvSpPr>
        <p:spPr>
          <a:xfrm>
            <a:off x="899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프로펠러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C2E8A4-38E4-EA47-BD52-63CE04C77781}"/>
              </a:ext>
            </a:extLst>
          </p:cNvPr>
          <p:cNvSpPr txBox="1"/>
          <p:nvPr/>
        </p:nvSpPr>
        <p:spPr>
          <a:xfrm>
            <a:off x="8382000" y="222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공기를 밀어내 양력 생성
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CW/CCW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방향 쌍으로 구성
크기와 피치가 성능에 영향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9F3B4A0-1487-5543-BC7C-BB70667D3053}"/>
              </a:ext>
            </a:extLst>
          </p:cNvPr>
          <p:cNvSpPr/>
          <p:nvPr/>
        </p:nvSpPr>
        <p:spPr>
          <a:xfrm>
            <a:off x="50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5C3C99F-B958-6649-94F4-4EDDC9EDB824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B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C9772-DF4C-3E40-89E4-80950CC6AF5F}"/>
              </a:ext>
            </a:extLst>
          </p:cNvPr>
          <p:cNvSpPr txBox="1"/>
          <p:nvPr/>
        </p:nvSpPr>
        <p:spPr>
          <a:xfrm>
            <a:off x="137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배터리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7DA04-13A3-7C44-BD37-1E62871759EB}"/>
              </a:ext>
            </a:extLst>
          </p:cNvPr>
          <p:cNvSpPr txBox="1"/>
          <p:nvPr/>
        </p:nvSpPr>
        <p:spPr>
          <a:xfrm>
            <a:off x="762000" y="476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LiPo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리튬폴리머 배터리
전압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V),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용량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mAh)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이 중요
비행 시간을 결정하는 핵심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CA51137-EEC7-B946-A986-E2876B19F5A2}"/>
              </a:ext>
            </a:extLst>
          </p:cNvPr>
          <p:cNvSpPr/>
          <p:nvPr/>
        </p:nvSpPr>
        <p:spPr>
          <a:xfrm>
            <a:off x="431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AD13D68-826D-2748-AFA3-47AC8131D572}"/>
              </a:ext>
            </a:extLst>
          </p:cNvPr>
          <p:cNvSpPr/>
          <p:nvPr/>
        </p:nvSpPr>
        <p:spPr>
          <a:xfrm>
            <a:off x="4508500" y="4127500"/>
            <a:ext cx="533400" cy="533400"/>
          </a:xfrm>
          <a:prstGeom prst="ellipse">
            <a:avLst/>
          </a:prstGeom>
          <a:solidFill>
            <a:srgbClr val="CC5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C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42BB1E-3F09-F14A-86C1-67B68426DAE7}"/>
              </a:ext>
            </a:extLst>
          </p:cNvPr>
          <p:cNvSpPr txBox="1"/>
          <p:nvPr/>
        </p:nvSpPr>
        <p:spPr>
          <a:xfrm>
            <a:off x="518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비행 컨트롤러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FC)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C0A0F4-1AEE-F146-8C02-FDC77355F1E8}"/>
              </a:ext>
            </a:extLst>
          </p:cNvPr>
          <p:cNvSpPr txBox="1"/>
          <p:nvPr/>
        </p:nvSpPr>
        <p:spPr>
          <a:xfrm>
            <a:off x="4572000" y="476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드론의 두뇌 역할
자이로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/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가속도 센서 내장
자세 안정화 자동 수행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252C7F1-C85A-3444-8C1D-ADA422410AE6}"/>
              </a:ext>
            </a:extLst>
          </p:cNvPr>
          <p:cNvSpPr/>
          <p:nvPr/>
        </p:nvSpPr>
        <p:spPr>
          <a:xfrm>
            <a:off x="812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4EF2930-D87F-9F4F-91A5-6C41C974972D}"/>
              </a:ext>
            </a:extLst>
          </p:cNvPr>
          <p:cNvSpPr/>
          <p:nvPr/>
        </p:nvSpPr>
        <p:spPr>
          <a:xfrm>
            <a:off x="8318500" y="4127500"/>
            <a:ext cx="533400" cy="533400"/>
          </a:xfrm>
          <a:prstGeom prst="ellipse">
            <a:avLst/>
          </a:prstGeom>
          <a:solidFill>
            <a:srgbClr val="FCC41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E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89B431-456E-964C-BA21-0444F4E43640}"/>
              </a:ext>
            </a:extLst>
          </p:cNvPr>
          <p:cNvSpPr txBox="1"/>
          <p:nvPr/>
        </p:nvSpPr>
        <p:spPr>
          <a:xfrm>
            <a:off x="899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ESC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BD6348-5C47-BF45-BEC4-F79771BFED7F}"/>
              </a:ext>
            </a:extLst>
          </p:cNvPr>
          <p:cNvSpPr txBox="1"/>
          <p:nvPr/>
        </p:nvSpPr>
        <p:spPr>
          <a:xfrm>
            <a:off x="8382000" y="476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전자 속도 컨트롤러
모터 회전 속도를 제어
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FC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의 명령을 모터에 전달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79755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CEBB6-27FA-524A-BC76-B84981E9C1E4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드론은 어떻게 날까</a:t>
            </a:r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?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42C6A-5F29-F34D-9D44-481667C4B400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4A90D9"/>
                </a:solidFill>
                <a:latin typeface="Bahnschrift"/>
              </a:rPr>
              <a:t>4</a:t>
            </a:r>
            <a:r>
              <a:rPr lang="ko-KR" altLang="en-US" sz="1600">
                <a:solidFill>
                  <a:srgbClr val="4A90D9"/>
                </a:solidFill>
                <a:latin typeface="Bahnschrift"/>
              </a:rPr>
              <a:t>가지 힘의 원리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813470D-0038-174F-9AA8-53050C22038C}"/>
              </a:ext>
            </a:extLst>
          </p:cNvPr>
          <p:cNvSpPr/>
          <p:nvPr/>
        </p:nvSpPr>
        <p:spPr>
          <a:xfrm>
            <a:off x="508000" y="14605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743C9E3-B51F-3C47-87BF-1E9B5678E3C4}"/>
              </a:ext>
            </a:extLst>
          </p:cNvPr>
          <p:cNvSpPr/>
          <p:nvPr/>
        </p:nvSpPr>
        <p:spPr>
          <a:xfrm>
            <a:off x="698500" y="1651000"/>
            <a:ext cx="584200" cy="584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L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771E0-4B2D-0145-B878-2F310AAED936}"/>
              </a:ext>
            </a:extLst>
          </p:cNvPr>
          <p:cNvSpPr txBox="1"/>
          <p:nvPr/>
        </p:nvSpPr>
        <p:spPr>
          <a:xfrm>
            <a:off x="1422400" y="17145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양력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Lift)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1360F-1BE1-0844-8A18-F3D66F47467A}"/>
              </a:ext>
            </a:extLst>
          </p:cNvPr>
          <p:cNvSpPr txBox="1"/>
          <p:nvPr/>
        </p:nvSpPr>
        <p:spPr>
          <a:xfrm>
            <a:off x="762000" y="2324100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프로펠러가 공기를 아래로 밀어
위로 떠오르는 힘이에요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양력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&gt;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중력이면 상승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!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F136D3C-F49F-294B-8019-2410446B1C11}"/>
              </a:ext>
            </a:extLst>
          </p:cNvPr>
          <p:cNvSpPr/>
          <p:nvPr/>
        </p:nvSpPr>
        <p:spPr>
          <a:xfrm>
            <a:off x="6286500" y="14605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5E4C92C-FDD5-F54B-8D7C-F29D83B18BAB}"/>
              </a:ext>
            </a:extLst>
          </p:cNvPr>
          <p:cNvSpPr/>
          <p:nvPr/>
        </p:nvSpPr>
        <p:spPr>
          <a:xfrm>
            <a:off x="6477000" y="1651000"/>
            <a:ext cx="584200" cy="5842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G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2D95E-83ED-F54E-845C-20EA3C3F40A5}"/>
              </a:ext>
            </a:extLst>
          </p:cNvPr>
          <p:cNvSpPr txBox="1"/>
          <p:nvPr/>
        </p:nvSpPr>
        <p:spPr>
          <a:xfrm>
            <a:off x="7200900" y="17145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중력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Gravity)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4B76B-2F15-DB48-9DF4-F335BCA8FCA4}"/>
              </a:ext>
            </a:extLst>
          </p:cNvPr>
          <p:cNvSpPr txBox="1"/>
          <p:nvPr/>
        </p:nvSpPr>
        <p:spPr>
          <a:xfrm>
            <a:off x="6540500" y="2324100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지구가 드론을 아래로
당기는 힘이에요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드론의 무게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=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중력의 크기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2741036-80E5-FB46-9783-9E8373A6EE9F}"/>
              </a:ext>
            </a:extLst>
          </p:cNvPr>
          <p:cNvSpPr/>
          <p:nvPr/>
        </p:nvSpPr>
        <p:spPr>
          <a:xfrm>
            <a:off x="508000" y="39370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5F18E7A-BDB7-4540-83A8-6037BAF8C7CF}"/>
              </a:ext>
            </a:extLst>
          </p:cNvPr>
          <p:cNvSpPr/>
          <p:nvPr/>
        </p:nvSpPr>
        <p:spPr>
          <a:xfrm>
            <a:off x="698500" y="4127500"/>
            <a:ext cx="584200" cy="5842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T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FA976C-071B-9B49-BD19-1763AFA53251}"/>
              </a:ext>
            </a:extLst>
          </p:cNvPr>
          <p:cNvSpPr txBox="1"/>
          <p:nvPr/>
        </p:nvSpPr>
        <p:spPr>
          <a:xfrm>
            <a:off x="1422400" y="4191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추력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Thrust)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83EDD9-5518-3C4B-A6F4-14D2C1E553A3}"/>
              </a:ext>
            </a:extLst>
          </p:cNvPr>
          <p:cNvSpPr txBox="1"/>
          <p:nvPr/>
        </p:nvSpPr>
        <p:spPr>
          <a:xfrm>
            <a:off x="762000" y="4800600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앞으로 나아가게 하는 힘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드론이 기울어지면
추력 방향이 변해요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9703AD2-10CD-8E42-BEBF-CD569862AB13}"/>
              </a:ext>
            </a:extLst>
          </p:cNvPr>
          <p:cNvSpPr/>
          <p:nvPr/>
        </p:nvSpPr>
        <p:spPr>
          <a:xfrm>
            <a:off x="6286500" y="3937000"/>
            <a:ext cx="5461000" cy="2222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93B74D8-A2C2-8B48-80F5-B502A780CC2C}"/>
              </a:ext>
            </a:extLst>
          </p:cNvPr>
          <p:cNvSpPr/>
          <p:nvPr/>
        </p:nvSpPr>
        <p:spPr>
          <a:xfrm>
            <a:off x="6477000" y="4127500"/>
            <a:ext cx="584200" cy="5842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D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98AB06-F5E5-924B-BEEE-1AD208158D7B}"/>
              </a:ext>
            </a:extLst>
          </p:cNvPr>
          <p:cNvSpPr txBox="1"/>
          <p:nvPr/>
        </p:nvSpPr>
        <p:spPr>
          <a:xfrm>
            <a:off x="7200900" y="4191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항력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Drag)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6EAC17-7F79-B74C-B760-33EF355FB97A}"/>
              </a:ext>
            </a:extLst>
          </p:cNvPr>
          <p:cNvSpPr txBox="1"/>
          <p:nvPr/>
        </p:nvSpPr>
        <p:spPr>
          <a:xfrm>
            <a:off x="6540500" y="4800600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공기 저항으로 인한
운동 반대 방향의 힘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속도가 빠를수록 커져요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09218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72A909-289D-474D-8BEC-BB0A2CDBE594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 조종의 </a:t>
            </a:r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4</a:t>
            </a:r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가지 동작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53B79-243B-5244-B7D4-98BD943D6155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스로틀 </a:t>
            </a:r>
            <a:r>
              <a:rPr lang="en-US" altLang="ko-KR" sz="1600">
                <a:solidFill>
                  <a:srgbClr val="4A90D9"/>
                </a:solidFill>
                <a:latin typeface="Bahnschrift"/>
              </a:rPr>
              <a:t>/ </a:t>
            </a:r>
            <a:r>
              <a:rPr lang="ko-KR" altLang="en-US" sz="1600">
                <a:solidFill>
                  <a:srgbClr val="4A90D9"/>
                </a:solidFill>
                <a:latin typeface="Bahnschrift"/>
              </a:rPr>
              <a:t>요 </a:t>
            </a:r>
            <a:r>
              <a:rPr lang="en-US" altLang="ko-KR" sz="1600">
                <a:solidFill>
                  <a:srgbClr val="4A90D9"/>
                </a:solidFill>
                <a:latin typeface="Bahnschrift"/>
              </a:rPr>
              <a:t>/ </a:t>
            </a:r>
            <a:r>
              <a:rPr lang="ko-KR" altLang="en-US" sz="1600">
                <a:solidFill>
                  <a:srgbClr val="4A90D9"/>
                </a:solidFill>
                <a:latin typeface="Bahnschrift"/>
              </a:rPr>
              <a:t>피치 </a:t>
            </a:r>
            <a:r>
              <a:rPr lang="en-US" altLang="ko-KR" sz="1600">
                <a:solidFill>
                  <a:srgbClr val="4A90D9"/>
                </a:solidFill>
                <a:latin typeface="Bahnschrift"/>
              </a:rPr>
              <a:t>/ </a:t>
            </a:r>
            <a:r>
              <a:rPr lang="ko-KR" altLang="en-US" sz="1600">
                <a:solidFill>
                  <a:srgbClr val="4A90D9"/>
                </a:solidFill>
                <a:latin typeface="Bahnschrift"/>
              </a:rPr>
              <a:t>롤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CA8276B-0542-D24C-B1C0-4C9447C17D12}"/>
              </a:ext>
            </a:extLst>
          </p:cNvPr>
          <p:cNvSpPr/>
          <p:nvPr/>
        </p:nvSpPr>
        <p:spPr>
          <a:xfrm>
            <a:off x="508000" y="1460500"/>
            <a:ext cx="5461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15B3841-0A75-8948-B78C-528FCCD250BD}"/>
              </a:ext>
            </a:extLst>
          </p:cNvPr>
          <p:cNvSpPr/>
          <p:nvPr/>
        </p:nvSpPr>
        <p:spPr>
          <a:xfrm>
            <a:off x="698500" y="1651000"/>
            <a:ext cx="584200" cy="584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S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BDCA-4B12-FC43-B2F8-4831B9AF5ABD}"/>
              </a:ext>
            </a:extLst>
          </p:cNvPr>
          <p:cNvSpPr txBox="1"/>
          <p:nvPr/>
        </p:nvSpPr>
        <p:spPr>
          <a:xfrm>
            <a:off x="1422400" y="17145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스로틀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Throttle)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3820D-124D-F846-95BA-18E68DFEE5A1}"/>
              </a:ext>
            </a:extLst>
          </p:cNvPr>
          <p:cNvSpPr txBox="1"/>
          <p:nvPr/>
        </p:nvSpPr>
        <p:spPr>
          <a:xfrm>
            <a:off x="762000" y="2298700"/>
            <a:ext cx="49530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상승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/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하강을 제어해요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모든 모터의 속도를 동시에
올리거나 내리면 됩니다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조종기 왼쪽 스틱 상하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60F4245-6A43-4B41-B41B-5043B89607E1}"/>
              </a:ext>
            </a:extLst>
          </p:cNvPr>
          <p:cNvSpPr/>
          <p:nvPr/>
        </p:nvSpPr>
        <p:spPr>
          <a:xfrm>
            <a:off x="6286500" y="1460500"/>
            <a:ext cx="5461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356B574-46CC-AF4F-9A47-3378667E00D1}"/>
              </a:ext>
            </a:extLst>
          </p:cNvPr>
          <p:cNvSpPr/>
          <p:nvPr/>
        </p:nvSpPr>
        <p:spPr>
          <a:xfrm>
            <a:off x="6477000" y="1651000"/>
            <a:ext cx="584200" cy="5842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Y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53ADA-F36B-E94A-81B0-5FA4340DB23E}"/>
              </a:ext>
            </a:extLst>
          </p:cNvPr>
          <p:cNvSpPr txBox="1"/>
          <p:nvPr/>
        </p:nvSpPr>
        <p:spPr>
          <a:xfrm>
            <a:off x="7200900" y="17145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요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Yaw)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29934-6223-A642-8AFB-F67242E4E6F1}"/>
              </a:ext>
            </a:extLst>
          </p:cNvPr>
          <p:cNvSpPr txBox="1"/>
          <p:nvPr/>
        </p:nvSpPr>
        <p:spPr>
          <a:xfrm>
            <a:off x="6540500" y="2298700"/>
            <a:ext cx="49530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좌우 회전을 제어해요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대각선 모터 쌍의 속도 차이로
제자리에서 방향을 바꿔요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조종기 왼쪽 스틱 좌우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5638A64-9DA3-E74A-8DFD-012565A53F01}"/>
              </a:ext>
            </a:extLst>
          </p:cNvPr>
          <p:cNvSpPr/>
          <p:nvPr/>
        </p:nvSpPr>
        <p:spPr>
          <a:xfrm>
            <a:off x="508000" y="3937000"/>
            <a:ext cx="5461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7360C83-0680-3049-8E02-D0046109DB36}"/>
              </a:ext>
            </a:extLst>
          </p:cNvPr>
          <p:cNvSpPr/>
          <p:nvPr/>
        </p:nvSpPr>
        <p:spPr>
          <a:xfrm>
            <a:off x="698500" y="4127500"/>
            <a:ext cx="584200" cy="5842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P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789CB-DDC3-8648-9563-FC8E5013465A}"/>
              </a:ext>
            </a:extLst>
          </p:cNvPr>
          <p:cNvSpPr txBox="1"/>
          <p:nvPr/>
        </p:nvSpPr>
        <p:spPr>
          <a:xfrm>
            <a:off x="1422400" y="4191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피치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Pitch)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3638D-FF7A-3044-8A73-F8FC9BAE99F5}"/>
              </a:ext>
            </a:extLst>
          </p:cNvPr>
          <p:cNvSpPr txBox="1"/>
          <p:nvPr/>
        </p:nvSpPr>
        <p:spPr>
          <a:xfrm>
            <a:off x="762000" y="4775200"/>
            <a:ext cx="49530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앞뒤 기울기를 제어해요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앞으로 기울이면 전진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뒤로 기울이면 후진이에요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조종기 오른쪽 스틱 상하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B55261D7-B8CE-7748-83D2-EEFD65A4EEE7}"/>
              </a:ext>
            </a:extLst>
          </p:cNvPr>
          <p:cNvSpPr/>
          <p:nvPr/>
        </p:nvSpPr>
        <p:spPr>
          <a:xfrm>
            <a:off x="6286500" y="3937000"/>
            <a:ext cx="5461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02C716E-CD94-9E4F-A3E3-6A65F5A94AEC}"/>
              </a:ext>
            </a:extLst>
          </p:cNvPr>
          <p:cNvSpPr/>
          <p:nvPr/>
        </p:nvSpPr>
        <p:spPr>
          <a:xfrm>
            <a:off x="6477000" y="4127500"/>
            <a:ext cx="584200" cy="5842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000" b="1">
                <a:solidFill>
                  <a:srgbClr val="FFFFFF"/>
                </a:solidFill>
                <a:latin typeface="Bahnschrift"/>
              </a:rPr>
              <a:t>R</a:t>
            </a:r>
            <a:endParaRPr lang="ko-Kore-KR" altLang="en-US" sz="20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B1943-78CA-6F4A-933A-A5FF48BB2ADB}"/>
              </a:ext>
            </a:extLst>
          </p:cNvPr>
          <p:cNvSpPr txBox="1"/>
          <p:nvPr/>
        </p:nvSpPr>
        <p:spPr>
          <a:xfrm>
            <a:off x="7200900" y="4191000"/>
            <a:ext cx="431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롤 </a:t>
            </a:r>
            <a:r>
              <a:rPr lang="en-US" altLang="ko-KR" sz="20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000" b="1">
                <a:solidFill>
                  <a:srgbClr val="1E3A5F"/>
                </a:solidFill>
                <a:latin typeface="Bahnschrift"/>
              </a:rPr>
              <a:t>Roll)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CF3635-47E2-7F49-A1BA-9AB8BB9BBC22}"/>
              </a:ext>
            </a:extLst>
          </p:cNvPr>
          <p:cNvSpPr txBox="1"/>
          <p:nvPr/>
        </p:nvSpPr>
        <p:spPr>
          <a:xfrm>
            <a:off x="6540500" y="4775200"/>
            <a:ext cx="49530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좌우 기울기를 제어해요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왼쪽으로 기울이면 좌측 이동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오른쪽이면 우측 이동이에요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조종기 오른쪽 스틱 좌우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47118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E2F099-C51B-5F4C-914F-915D5B53B240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 안전 수칙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E0E6D-AF0A-114A-A0F9-EE02686D347C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안전한 비행을 위해 꼭 지켜야 할 규칙들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DA463A0-39D5-EB4E-9F3B-049A48E47696}"/>
              </a:ext>
            </a:extLst>
          </p:cNvPr>
          <p:cNvSpPr/>
          <p:nvPr/>
        </p:nvSpPr>
        <p:spPr>
          <a:xfrm>
            <a:off x="50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04A5B8D-41D5-124F-824D-B4BC7F0A1FBF}"/>
              </a:ext>
            </a:extLst>
          </p:cNvPr>
          <p:cNvSpPr/>
          <p:nvPr/>
        </p:nvSpPr>
        <p:spPr>
          <a:xfrm>
            <a:off x="698500" y="1587500"/>
            <a:ext cx="533400" cy="5334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1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F6835-2185-0440-8F37-C0CDBD86D9FE}"/>
              </a:ext>
            </a:extLst>
          </p:cNvPr>
          <p:cNvSpPr txBox="1"/>
          <p:nvPr/>
        </p:nvSpPr>
        <p:spPr>
          <a:xfrm>
            <a:off x="137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비행 금지 구역 확인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A9751-D8F4-0141-A912-57304B769E5B}"/>
              </a:ext>
            </a:extLst>
          </p:cNvPr>
          <p:cNvSpPr txBox="1"/>
          <p:nvPr/>
        </p:nvSpPr>
        <p:spPr>
          <a:xfrm>
            <a:off x="762000" y="222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공항 주변 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9.3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km,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군사시설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,
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국가보안시설 근처 비행 금지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!
'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Ready to Fly'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앱으로 확인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EB168A0-BA9C-0540-9004-4E60DBE50C67}"/>
              </a:ext>
            </a:extLst>
          </p:cNvPr>
          <p:cNvSpPr/>
          <p:nvPr/>
        </p:nvSpPr>
        <p:spPr>
          <a:xfrm>
            <a:off x="431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4DBBC0D-9538-D043-9938-94454C72A14A}"/>
              </a:ext>
            </a:extLst>
          </p:cNvPr>
          <p:cNvSpPr/>
          <p:nvPr/>
        </p:nvSpPr>
        <p:spPr>
          <a:xfrm>
            <a:off x="4508500" y="1587500"/>
            <a:ext cx="533400" cy="533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2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EFAE7-450F-E447-9AA4-F8E02F8E24FE}"/>
              </a:ext>
            </a:extLst>
          </p:cNvPr>
          <p:cNvSpPr txBox="1"/>
          <p:nvPr/>
        </p:nvSpPr>
        <p:spPr>
          <a:xfrm>
            <a:off x="518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고도 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150</a:t>
            </a:r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m </a:t>
            </a:r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이하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F26527-673C-5F4F-BDD5-4545ADA6761C}"/>
              </a:ext>
            </a:extLst>
          </p:cNvPr>
          <p:cNvSpPr txBox="1"/>
          <p:nvPr/>
        </p:nvSpPr>
        <p:spPr>
          <a:xfrm>
            <a:off x="4572000" y="222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최대 비행 고도 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150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m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준수
항공기와 충돌 위험 방지
시야 내에서만 비행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B1A0218-7FDE-1A49-8D11-FF62135898B1}"/>
              </a:ext>
            </a:extLst>
          </p:cNvPr>
          <p:cNvSpPr/>
          <p:nvPr/>
        </p:nvSpPr>
        <p:spPr>
          <a:xfrm>
            <a:off x="8128000" y="139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ADBFDD2-AB0E-CB4F-8487-F9D9F62E9E75}"/>
              </a:ext>
            </a:extLst>
          </p:cNvPr>
          <p:cNvSpPr/>
          <p:nvPr/>
        </p:nvSpPr>
        <p:spPr>
          <a:xfrm>
            <a:off x="8318500" y="1587500"/>
            <a:ext cx="533400" cy="5334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3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4E903-7F33-B040-894E-8B762697DF7C}"/>
              </a:ext>
            </a:extLst>
          </p:cNvPr>
          <p:cNvSpPr txBox="1"/>
          <p:nvPr/>
        </p:nvSpPr>
        <p:spPr>
          <a:xfrm>
            <a:off x="8991600" y="162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사람 위 비행 금지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CDABF-476D-7543-A796-EC24D501B7EB}"/>
              </a:ext>
            </a:extLst>
          </p:cNvPr>
          <p:cNvSpPr txBox="1"/>
          <p:nvPr/>
        </p:nvSpPr>
        <p:spPr>
          <a:xfrm>
            <a:off x="8382000" y="222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사람이 모인 곳 위로 비행 금지
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30</a:t>
            </a:r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m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이상 안전거리 유지
사고 시 인명 피해 위험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E19B644-C7BB-3748-818A-E9E5BD627450}"/>
              </a:ext>
            </a:extLst>
          </p:cNvPr>
          <p:cNvSpPr/>
          <p:nvPr/>
        </p:nvSpPr>
        <p:spPr>
          <a:xfrm>
            <a:off x="50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30EBFD3-2D10-7A4E-A931-28894B3B9559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4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B4265E-24F1-134C-864F-FBEFE9CD3495}"/>
              </a:ext>
            </a:extLst>
          </p:cNvPr>
          <p:cNvSpPr txBox="1"/>
          <p:nvPr/>
        </p:nvSpPr>
        <p:spPr>
          <a:xfrm>
            <a:off x="137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야간 비행 주의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CEC8D0-499A-CC44-8A45-1855F4966E79}"/>
              </a:ext>
            </a:extLst>
          </p:cNvPr>
          <p:cNvSpPr txBox="1"/>
          <p:nvPr/>
        </p:nvSpPr>
        <p:spPr>
          <a:xfrm>
            <a:off x="762000" y="476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일몰 후 비행 시 승인 필요
충분한 조명 장비 필수
시야 확보가 중요해요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3AFEEB6-E3B0-7C49-8B5C-16B601767E10}"/>
              </a:ext>
            </a:extLst>
          </p:cNvPr>
          <p:cNvSpPr/>
          <p:nvPr/>
        </p:nvSpPr>
        <p:spPr>
          <a:xfrm>
            <a:off x="431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A4CCDFE-21A9-804E-B89C-AF6ED5D22E88}"/>
              </a:ext>
            </a:extLst>
          </p:cNvPr>
          <p:cNvSpPr/>
          <p:nvPr/>
        </p:nvSpPr>
        <p:spPr>
          <a:xfrm>
            <a:off x="4508500" y="4127500"/>
            <a:ext cx="533400" cy="533400"/>
          </a:xfrm>
          <a:prstGeom prst="ellipse">
            <a:avLst/>
          </a:prstGeom>
          <a:solidFill>
            <a:srgbClr val="CC5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5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59E16B-6714-1144-A2D8-D095600D8E8F}"/>
              </a:ext>
            </a:extLst>
          </p:cNvPr>
          <p:cNvSpPr txBox="1"/>
          <p:nvPr/>
        </p:nvSpPr>
        <p:spPr>
          <a:xfrm>
            <a:off x="518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배터리 관리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FD1C24-CD84-EB4E-A065-8C999A3C8A06}"/>
              </a:ext>
            </a:extLst>
          </p:cNvPr>
          <p:cNvSpPr txBox="1"/>
          <p:nvPr/>
        </p:nvSpPr>
        <p:spPr>
          <a:xfrm>
            <a:off x="4572000" y="476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  <a:latin typeface="Bahnschrift"/>
              </a:rPr>
              <a:t>비행 전 배터리 잔량 확인
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30%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이하 시 즉시 복귀
과충전</a:t>
            </a:r>
            <a:r>
              <a:rPr lang="en-US" altLang="ko-KR" sz="14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과방전 금지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22A19882-B453-C940-9F46-4D6376A09032}"/>
              </a:ext>
            </a:extLst>
          </p:cNvPr>
          <p:cNvSpPr/>
          <p:nvPr/>
        </p:nvSpPr>
        <p:spPr>
          <a:xfrm>
            <a:off x="8128000" y="3937000"/>
            <a:ext cx="3556000" cy="228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A670AB5-D85A-B54A-AF19-84F249902253}"/>
              </a:ext>
            </a:extLst>
          </p:cNvPr>
          <p:cNvSpPr/>
          <p:nvPr/>
        </p:nvSpPr>
        <p:spPr>
          <a:xfrm>
            <a:off x="8318500" y="4127500"/>
            <a:ext cx="533400" cy="533400"/>
          </a:xfrm>
          <a:prstGeom prst="ellipse">
            <a:avLst/>
          </a:prstGeom>
          <a:solidFill>
            <a:srgbClr val="FCC41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6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BC897F-06CA-744A-8430-2FAFCFCE9821}"/>
              </a:ext>
            </a:extLst>
          </p:cNvPr>
          <p:cNvSpPr txBox="1"/>
          <p:nvPr/>
        </p:nvSpPr>
        <p:spPr>
          <a:xfrm>
            <a:off x="8991600" y="41656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기체 등록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07BC10-02DD-224B-9E5C-AB210EFB2743}"/>
              </a:ext>
            </a:extLst>
          </p:cNvPr>
          <p:cNvSpPr txBox="1"/>
          <p:nvPr/>
        </p:nvSpPr>
        <p:spPr>
          <a:xfrm>
            <a:off x="8382000" y="4762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>
                <a:solidFill>
                  <a:srgbClr val="2D3436"/>
                </a:solidFill>
                <a:latin typeface="Bahnschrift"/>
              </a:rPr>
              <a:t>250g </a:t>
            </a:r>
            <a:r>
              <a:rPr lang="ko-KR" altLang="en-US" sz="1400">
                <a:solidFill>
                  <a:srgbClr val="2D3436"/>
                </a:solidFill>
                <a:latin typeface="Bahnschrift"/>
              </a:rPr>
              <a:t>이상 드론은 등록 필수
한국교통안전공단 신고
미등록 시 과태료 부과</a:t>
            </a:r>
            <a:endParaRPr lang="ko-Kore-KR" altLang="en-US" sz="14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090532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DA002-F49C-D649-8050-194D9FBD6054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비행 전 체크리스트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3F2D5-DC38-4D48-BA72-E550E7663DBB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비행하기 전에 반드시 확인하세요</a:t>
            </a:r>
            <a:r>
              <a:rPr lang="en-US" altLang="ko-KR" sz="1600">
                <a:solidFill>
                  <a:srgbClr val="4A90D9"/>
                </a:solidFill>
                <a:latin typeface="Bahnschrift"/>
              </a:rPr>
              <a:t>!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962729D-991E-664C-8EB6-6DF68FDBEDBA}"/>
              </a:ext>
            </a:extLst>
          </p:cNvPr>
          <p:cNvSpPr/>
          <p:nvPr/>
        </p:nvSpPr>
        <p:spPr>
          <a:xfrm>
            <a:off x="508000" y="1460500"/>
            <a:ext cx="5461000" cy="482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488BB96-0023-9548-9DF8-09EC7530C64C}"/>
              </a:ext>
            </a:extLst>
          </p:cNvPr>
          <p:cNvSpPr/>
          <p:nvPr/>
        </p:nvSpPr>
        <p:spPr>
          <a:xfrm>
            <a:off x="698500" y="1651000"/>
            <a:ext cx="635000" cy="635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  <a:latin typeface="Bahnschrift"/>
              </a:rPr>
              <a:t>1</a:t>
            </a:r>
            <a:endParaRPr lang="ko-Kore-KR" altLang="en-US" sz="22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841ED-F15F-B545-B619-EE3B204D5C28}"/>
              </a:ext>
            </a:extLst>
          </p:cNvPr>
          <p:cNvSpPr txBox="1"/>
          <p:nvPr/>
        </p:nvSpPr>
        <p:spPr>
          <a:xfrm>
            <a:off x="1498600" y="1714500"/>
            <a:ext cx="419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기체 점검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4B0DF-2749-EF4B-8FDD-6CA1808DEDD3}"/>
              </a:ext>
            </a:extLst>
          </p:cNvPr>
          <p:cNvSpPr txBox="1"/>
          <p:nvPr/>
        </p:nvSpPr>
        <p:spPr>
          <a:xfrm>
            <a:off x="698500" y="2413000"/>
            <a:ext cx="5080000" cy="368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  프로펠러 파손 여부 확인
  프로펠러 방향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CW/CCW)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확인
  모터 정상 작동 확인
  배터리 완충 상태 확인
  배터리 단자 상태 점검
  카메라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/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짐벌 정상 확인
  기체 프레임 이상 여부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6005758-1197-8347-A383-B5F261420A06}"/>
              </a:ext>
            </a:extLst>
          </p:cNvPr>
          <p:cNvSpPr/>
          <p:nvPr/>
        </p:nvSpPr>
        <p:spPr>
          <a:xfrm>
            <a:off x="6350000" y="1460500"/>
            <a:ext cx="5461000" cy="4826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E2642F1-0AF5-8349-AC2C-6DDA6410746A}"/>
              </a:ext>
            </a:extLst>
          </p:cNvPr>
          <p:cNvSpPr/>
          <p:nvPr/>
        </p:nvSpPr>
        <p:spPr>
          <a:xfrm>
            <a:off x="6540500" y="1651000"/>
            <a:ext cx="635000" cy="6350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  <a:latin typeface="Bahnschrift"/>
              </a:rPr>
              <a:t>2</a:t>
            </a:r>
            <a:endParaRPr lang="ko-Kore-KR" altLang="en-US" sz="22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4A574-9D4D-7144-B2A4-2AE8D6F2A806}"/>
              </a:ext>
            </a:extLst>
          </p:cNvPr>
          <p:cNvSpPr txBox="1"/>
          <p:nvPr/>
        </p:nvSpPr>
        <p:spPr>
          <a:xfrm>
            <a:off x="7340600" y="1714500"/>
            <a:ext cx="419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E3A5F"/>
                </a:solidFill>
                <a:latin typeface="Bahnschrift"/>
              </a:rPr>
              <a:t>환경 점검</a:t>
            </a:r>
            <a:endParaRPr lang="ko-Kore-KR" altLang="en-US" sz="2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ED200-0C40-814A-BA96-4A6C7BF445A5}"/>
              </a:ext>
            </a:extLst>
          </p:cNvPr>
          <p:cNvSpPr txBox="1"/>
          <p:nvPr/>
        </p:nvSpPr>
        <p:spPr>
          <a:xfrm>
            <a:off x="6540500" y="2413000"/>
            <a:ext cx="5080000" cy="368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  날씨 확인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풍속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5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m/s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이하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
 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비행 금지 구역 확인
  주변 장애물 파악
  주변 사람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/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동물 확인
  조종기 배터리 확인
  조종기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-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드론 바인딩 확인
  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GPS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위성 수신 확인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29030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C7641F-8214-D447-B281-D37A8C78D792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퀴즈 타임</a:t>
            </a:r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!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DFD55-80A5-784A-9414-13F7314CDA7E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오늘 배운 내용을 확인해봐요</a:t>
            </a:r>
            <a:r>
              <a:rPr lang="en-US" altLang="ko-KR" sz="1600">
                <a:solidFill>
                  <a:srgbClr val="4A90D9"/>
                </a:solidFill>
                <a:latin typeface="Bahnschrift"/>
              </a:rPr>
              <a:t>!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E578636-AE03-794A-A966-0F825575EF56}"/>
              </a:ext>
            </a:extLst>
          </p:cNvPr>
          <p:cNvSpPr/>
          <p:nvPr/>
        </p:nvSpPr>
        <p:spPr>
          <a:xfrm>
            <a:off x="508000" y="1460500"/>
            <a:ext cx="11176000" cy="1460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0B05689-6D61-4E41-9011-B535981B6979}"/>
              </a:ext>
            </a:extLst>
          </p:cNvPr>
          <p:cNvSpPr/>
          <p:nvPr/>
        </p:nvSpPr>
        <p:spPr>
          <a:xfrm>
            <a:off x="698500" y="1625600"/>
            <a:ext cx="508000" cy="508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Q1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B284B-FC64-C346-A8C2-7A083741538B}"/>
              </a:ext>
            </a:extLst>
          </p:cNvPr>
          <p:cNvSpPr txBox="1"/>
          <p:nvPr/>
        </p:nvSpPr>
        <p:spPr>
          <a:xfrm>
            <a:off x="1371600" y="1600200"/>
            <a:ext cx="1003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UAV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는 무엇의 약자일까요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?
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정답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Unmanned Aerial Vehicle (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무인항공기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)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FC809CB-3176-BC4A-AB80-8214E48C12DD}"/>
              </a:ext>
            </a:extLst>
          </p:cNvPr>
          <p:cNvSpPr/>
          <p:nvPr/>
        </p:nvSpPr>
        <p:spPr>
          <a:xfrm>
            <a:off x="508000" y="3149600"/>
            <a:ext cx="11176000" cy="1460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3D5F18A-0738-B54B-AFC3-65E8B05E13F0}"/>
              </a:ext>
            </a:extLst>
          </p:cNvPr>
          <p:cNvSpPr/>
          <p:nvPr/>
        </p:nvSpPr>
        <p:spPr>
          <a:xfrm>
            <a:off x="698500" y="3314700"/>
            <a:ext cx="508000" cy="5080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Q2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E0FC1-8B59-A346-89F5-C2F1889D62E6}"/>
              </a:ext>
            </a:extLst>
          </p:cNvPr>
          <p:cNvSpPr txBox="1"/>
          <p:nvPr/>
        </p:nvSpPr>
        <p:spPr>
          <a:xfrm>
            <a:off x="1371600" y="3289300"/>
            <a:ext cx="1003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프로펠러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4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개인 드론을 뭐라고 부를까요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?
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정답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쿼드콥터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Quadcopter)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C8D9026D-B251-FA41-8981-0AC7F3785FAE}"/>
              </a:ext>
            </a:extLst>
          </p:cNvPr>
          <p:cNvSpPr/>
          <p:nvPr/>
        </p:nvSpPr>
        <p:spPr>
          <a:xfrm>
            <a:off x="508000" y="4838700"/>
            <a:ext cx="11176000" cy="1460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5B4880E-A639-CF4B-9589-D4D9B54DED15}"/>
              </a:ext>
            </a:extLst>
          </p:cNvPr>
          <p:cNvSpPr/>
          <p:nvPr/>
        </p:nvSpPr>
        <p:spPr>
          <a:xfrm>
            <a:off x="698500" y="5003800"/>
            <a:ext cx="508000" cy="5080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Q3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55951-1A06-A742-933A-96BDDC6BE358}"/>
              </a:ext>
            </a:extLst>
          </p:cNvPr>
          <p:cNvSpPr txBox="1"/>
          <p:nvPr/>
        </p:nvSpPr>
        <p:spPr>
          <a:xfrm>
            <a:off x="1371600" y="4978400"/>
            <a:ext cx="1003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드론을 위로 떠오르게 하는 힘의 이름은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?
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정답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양력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Lift)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733035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A63048-E24B-D34E-ADA1-6B1932AD7117}"/>
              </a:ext>
            </a:extLst>
          </p:cNvPr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1</a:t>
            </a:r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주차 정리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D111E-7FAF-E44C-B234-0AF6CE584C8E}"/>
              </a:ext>
            </a:extLst>
          </p:cNvPr>
          <p:cNvSpPr txBox="1"/>
          <p:nvPr/>
        </p:nvSpPr>
        <p:spPr>
          <a:xfrm>
            <a:off x="635000" y="9144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4A90D9"/>
                </a:solidFill>
                <a:latin typeface="Bahnschrift"/>
              </a:rPr>
              <a:t>오늘 배운 핵심 내용을 정리해봐요</a:t>
            </a:r>
            <a:r>
              <a:rPr lang="en-US" altLang="ko-KR" sz="1600">
                <a:solidFill>
                  <a:srgbClr val="4A90D9"/>
                </a:solidFill>
                <a:latin typeface="Bahnschrift"/>
              </a:rPr>
              <a:t>!</a:t>
            </a:r>
            <a:endParaRPr lang="ko-Kore-KR" altLang="en-US" sz="16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245B621-3A7B-7541-8467-1B4461AC14FE}"/>
              </a:ext>
            </a:extLst>
          </p:cNvPr>
          <p:cNvSpPr/>
          <p:nvPr/>
        </p:nvSpPr>
        <p:spPr>
          <a:xfrm>
            <a:off x="508000" y="1422400"/>
            <a:ext cx="11176000" cy="6096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98873BD-ED3E-264A-95DC-62140AB222E4}"/>
              </a:ext>
            </a:extLst>
          </p:cNvPr>
          <p:cNvSpPr/>
          <p:nvPr/>
        </p:nvSpPr>
        <p:spPr>
          <a:xfrm>
            <a:off x="660400" y="1498600"/>
            <a:ext cx="457200" cy="457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400" b="1">
                <a:solidFill>
                  <a:srgbClr val="FFFFFF"/>
                </a:solidFill>
                <a:latin typeface="Bahnschrift"/>
              </a:rPr>
              <a:t>01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823D4-92B9-AA43-8644-59CAB78EEFBD}"/>
              </a:ext>
            </a:extLst>
          </p:cNvPr>
          <p:cNvSpPr txBox="1"/>
          <p:nvPr/>
        </p:nvSpPr>
        <p:spPr>
          <a:xfrm>
            <a:off x="1270000" y="15240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드론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=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사람이 탑승하지 않는 무인항공기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UAV)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2B5BAC5-556E-9F4F-ACC4-19CAE583C720}"/>
              </a:ext>
            </a:extLst>
          </p:cNvPr>
          <p:cNvSpPr/>
          <p:nvPr/>
        </p:nvSpPr>
        <p:spPr>
          <a:xfrm>
            <a:off x="508000" y="2133600"/>
            <a:ext cx="11176000" cy="6096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A2C943D-D15B-D849-B8C7-1107C7CA3777}"/>
              </a:ext>
            </a:extLst>
          </p:cNvPr>
          <p:cNvSpPr/>
          <p:nvPr/>
        </p:nvSpPr>
        <p:spPr>
          <a:xfrm>
            <a:off x="660400" y="2209800"/>
            <a:ext cx="457200" cy="457200"/>
          </a:xfrm>
          <a:prstGeom prst="ellipse">
            <a:avLst/>
          </a:prstGeom>
          <a:solidFill>
            <a:srgbClr val="51CF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400" b="1">
                <a:solidFill>
                  <a:srgbClr val="FFFFFF"/>
                </a:solidFill>
                <a:latin typeface="Bahnschrift"/>
              </a:rPr>
              <a:t>02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EE977-1BA1-234A-94B8-0945D9FC664C}"/>
              </a:ext>
            </a:extLst>
          </p:cNvPr>
          <p:cNvSpPr txBox="1"/>
          <p:nvPr/>
        </p:nvSpPr>
        <p:spPr>
          <a:xfrm>
            <a:off x="1270000" y="22352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종류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멀티콥터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/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고정익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/ 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VTOL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복합형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A3A09D0-C3F2-0C4A-8E70-B876D18B4251}"/>
              </a:ext>
            </a:extLst>
          </p:cNvPr>
          <p:cNvSpPr/>
          <p:nvPr/>
        </p:nvSpPr>
        <p:spPr>
          <a:xfrm>
            <a:off x="508000" y="2844800"/>
            <a:ext cx="11176000" cy="6096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9E9FC18-EDF0-4C4D-AE7F-B235F6B909C1}"/>
              </a:ext>
            </a:extLst>
          </p:cNvPr>
          <p:cNvSpPr/>
          <p:nvPr/>
        </p:nvSpPr>
        <p:spPr>
          <a:xfrm>
            <a:off x="660400" y="2921000"/>
            <a:ext cx="457200" cy="457200"/>
          </a:xfrm>
          <a:prstGeom prst="ellipse">
            <a:avLst/>
          </a:prstGeom>
          <a:solidFill>
            <a:srgbClr val="FCC41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400" b="1">
                <a:solidFill>
                  <a:srgbClr val="FFFFFF"/>
                </a:solidFill>
                <a:latin typeface="Bahnschrift"/>
              </a:rPr>
              <a:t>03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F2BFE4-C7E8-0241-87B7-30E71A8FC3BB}"/>
              </a:ext>
            </a:extLst>
          </p:cNvPr>
          <p:cNvSpPr txBox="1"/>
          <p:nvPr/>
        </p:nvSpPr>
        <p:spPr>
          <a:xfrm>
            <a:off x="1270000" y="29464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활용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촬영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농업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배달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측량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구조 등 다양한 분야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08A8601-2BAB-C54D-91B9-F4E405A9E71F}"/>
              </a:ext>
            </a:extLst>
          </p:cNvPr>
          <p:cNvSpPr/>
          <p:nvPr/>
        </p:nvSpPr>
        <p:spPr>
          <a:xfrm>
            <a:off x="508000" y="3556000"/>
            <a:ext cx="11176000" cy="6096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70BEBA1-3C21-A744-BB93-64FFFCFC43C8}"/>
              </a:ext>
            </a:extLst>
          </p:cNvPr>
          <p:cNvSpPr/>
          <p:nvPr/>
        </p:nvSpPr>
        <p:spPr>
          <a:xfrm>
            <a:off x="660400" y="3632200"/>
            <a:ext cx="457200" cy="4572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400" b="1">
                <a:solidFill>
                  <a:srgbClr val="FFFFFF"/>
                </a:solidFill>
                <a:latin typeface="Bahnschrift"/>
              </a:rPr>
              <a:t>04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2A3724-3DBC-1E47-903E-A5DFACD89EE0}"/>
              </a:ext>
            </a:extLst>
          </p:cNvPr>
          <p:cNvSpPr txBox="1"/>
          <p:nvPr/>
        </p:nvSpPr>
        <p:spPr>
          <a:xfrm>
            <a:off x="1270000" y="36576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구조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프레임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+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모터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+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프로펠러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+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배터리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+ 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FC + ESC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1A0EA25F-2483-ED47-B332-27D6D0EC6ECC}"/>
              </a:ext>
            </a:extLst>
          </p:cNvPr>
          <p:cNvSpPr/>
          <p:nvPr/>
        </p:nvSpPr>
        <p:spPr>
          <a:xfrm>
            <a:off x="508000" y="4267200"/>
            <a:ext cx="11176000" cy="6096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A98F2D7-909C-9442-9A73-38A14F028759}"/>
              </a:ext>
            </a:extLst>
          </p:cNvPr>
          <p:cNvSpPr/>
          <p:nvPr/>
        </p:nvSpPr>
        <p:spPr>
          <a:xfrm>
            <a:off x="660400" y="4343400"/>
            <a:ext cx="457200" cy="4572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400" b="1">
                <a:solidFill>
                  <a:srgbClr val="FFFFFF"/>
                </a:solidFill>
                <a:latin typeface="Bahnschrift"/>
              </a:rPr>
              <a:t>05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73EB7B-00C2-B64D-86FA-E82FFEB9276A}"/>
              </a:ext>
            </a:extLst>
          </p:cNvPr>
          <p:cNvSpPr txBox="1"/>
          <p:nvPr/>
        </p:nvSpPr>
        <p:spPr>
          <a:xfrm>
            <a:off x="1270000" y="43688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비행원리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양력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중력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추력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항력의 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4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가지 힘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47041F3-B427-7D4B-A526-4066913B4D10}"/>
              </a:ext>
            </a:extLst>
          </p:cNvPr>
          <p:cNvSpPr/>
          <p:nvPr/>
        </p:nvSpPr>
        <p:spPr>
          <a:xfrm>
            <a:off x="508000" y="4978400"/>
            <a:ext cx="11176000" cy="6096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BF9081E-F99B-F64F-B796-67E97041BFE5}"/>
              </a:ext>
            </a:extLst>
          </p:cNvPr>
          <p:cNvSpPr/>
          <p:nvPr/>
        </p:nvSpPr>
        <p:spPr>
          <a:xfrm>
            <a:off x="660400" y="5054600"/>
            <a:ext cx="457200" cy="457200"/>
          </a:xfrm>
          <a:prstGeom prst="ellipse">
            <a:avLst/>
          </a:prstGeom>
          <a:solidFill>
            <a:srgbClr val="CC5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400" b="1">
                <a:solidFill>
                  <a:srgbClr val="FFFFFF"/>
                </a:solidFill>
                <a:latin typeface="Bahnschrift"/>
              </a:rPr>
              <a:t>06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700B8F-455F-EA48-BE35-A545D6240162}"/>
              </a:ext>
            </a:extLst>
          </p:cNvPr>
          <p:cNvSpPr txBox="1"/>
          <p:nvPr/>
        </p:nvSpPr>
        <p:spPr>
          <a:xfrm>
            <a:off x="1270000" y="50800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조종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스로틀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상하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),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요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회전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),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피치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전후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),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롤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좌우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)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2C460394-9D49-8841-B2D2-0FF831FEE2C5}"/>
              </a:ext>
            </a:extLst>
          </p:cNvPr>
          <p:cNvSpPr/>
          <p:nvPr/>
        </p:nvSpPr>
        <p:spPr>
          <a:xfrm>
            <a:off x="508000" y="5689600"/>
            <a:ext cx="11176000" cy="6096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A99B5B7-1E28-6246-A0B2-5BB50E1956E3}"/>
              </a:ext>
            </a:extLst>
          </p:cNvPr>
          <p:cNvSpPr/>
          <p:nvPr/>
        </p:nvSpPr>
        <p:spPr>
          <a:xfrm>
            <a:off x="660400" y="5765800"/>
            <a:ext cx="457200" cy="457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400" b="1">
                <a:solidFill>
                  <a:srgbClr val="FFFFFF"/>
                </a:solidFill>
                <a:latin typeface="Bahnschrift"/>
              </a:rPr>
              <a:t>07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66FA27-6470-C64D-8844-2F9129B6A990}"/>
              </a:ext>
            </a:extLst>
          </p:cNvPr>
          <p:cNvSpPr txBox="1"/>
          <p:nvPr/>
        </p:nvSpPr>
        <p:spPr>
          <a:xfrm>
            <a:off x="1270000" y="5791200"/>
            <a:ext cx="1016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안전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비행 금지 구역 확인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150</a:t>
            </a:r>
            <a:r>
              <a:rPr lang="en" altLang="ko-Kore-KR" sz="1600">
                <a:solidFill>
                  <a:srgbClr val="2D3436"/>
                </a:solidFill>
                <a:latin typeface="Bahnschrift"/>
              </a:rPr>
              <a:t>m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이하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,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기체 등록 필수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8620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59F0D-55A4-D543-86C9-6AA77B505732}"/>
              </a:ext>
            </a:extLst>
          </p:cNvPr>
          <p:cNvSpPr txBox="1"/>
          <p:nvPr/>
        </p:nvSpPr>
        <p:spPr>
          <a:xfrm>
            <a:off x="1016000" y="12700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400" b="1">
                <a:solidFill>
                  <a:srgbClr val="1E3A5F"/>
                </a:solidFill>
                <a:latin typeface="Bahnschrift"/>
              </a:rPr>
              <a:t>감사합니다</a:t>
            </a:r>
            <a:r>
              <a:rPr lang="en-US" altLang="ko-KR" sz="4400" b="1">
                <a:solidFill>
                  <a:srgbClr val="1E3A5F"/>
                </a:solidFill>
                <a:latin typeface="Bahnschrift"/>
              </a:rPr>
              <a:t>!</a:t>
            </a:r>
            <a:endParaRPr lang="ko-Kore-KR" altLang="en-US" sz="44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3E7DF-639E-1D4E-BD06-963B925794A2}"/>
              </a:ext>
            </a:extLst>
          </p:cNvPr>
          <p:cNvSpPr txBox="1"/>
          <p:nvPr/>
        </p:nvSpPr>
        <p:spPr>
          <a:xfrm>
            <a:off x="1016000" y="24765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2D3436"/>
                </a:solidFill>
                <a:latin typeface="Bahnschrift"/>
              </a:rPr>
              <a:t>1</a:t>
            </a:r>
            <a:r>
              <a:rPr lang="ko-KR" altLang="en-US" sz="2000">
                <a:solidFill>
                  <a:srgbClr val="2D3436"/>
                </a:solidFill>
                <a:latin typeface="Bahnschrift"/>
              </a:rPr>
              <a:t>주차</a:t>
            </a:r>
            <a:r>
              <a:rPr lang="en-US" altLang="ko-KR" sz="20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2000">
                <a:solidFill>
                  <a:srgbClr val="2D3436"/>
                </a:solidFill>
                <a:latin typeface="Bahnschrift"/>
              </a:rPr>
              <a:t>드론이란</a:t>
            </a:r>
            <a:r>
              <a:rPr lang="en-US" altLang="ko-KR" sz="2000">
                <a:solidFill>
                  <a:srgbClr val="2D3436"/>
                </a:solidFill>
                <a:latin typeface="Bahnschrift"/>
              </a:rPr>
              <a:t>? </a:t>
            </a:r>
            <a:r>
              <a:rPr lang="ko-KR" altLang="en-US" sz="2000">
                <a:solidFill>
                  <a:srgbClr val="2D3436"/>
                </a:solidFill>
                <a:latin typeface="Bahnschrift"/>
              </a:rPr>
              <a:t>수업을 마칩니다</a:t>
            </a:r>
            <a:endParaRPr lang="ko-Kore-KR" altLang="en-US" sz="20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09A1F90-87FB-2E46-BFB2-1D7069B4B3EF}"/>
              </a:ext>
            </a:extLst>
          </p:cNvPr>
          <p:cNvSpPr/>
          <p:nvPr/>
        </p:nvSpPr>
        <p:spPr>
          <a:xfrm>
            <a:off x="2286000" y="3556000"/>
            <a:ext cx="7620000" cy="1778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62B1FE2-66E8-2B4D-AFC9-E59A995F4C08}"/>
              </a:ext>
            </a:extLst>
          </p:cNvPr>
          <p:cNvSpPr/>
          <p:nvPr/>
        </p:nvSpPr>
        <p:spPr>
          <a:xfrm>
            <a:off x="5651500" y="3683000"/>
            <a:ext cx="635000" cy="635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400" b="1">
                <a:solidFill>
                  <a:srgbClr val="FFFFFF"/>
                </a:solidFill>
                <a:latin typeface="Bahnschrift"/>
              </a:rPr>
              <a:t>Q</a:t>
            </a:r>
            <a:endParaRPr lang="ko-Kore-KR" altLang="en-US" sz="2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E3135-0575-1042-963E-28458872E0AD}"/>
              </a:ext>
            </a:extLst>
          </p:cNvPr>
          <p:cNvSpPr txBox="1"/>
          <p:nvPr/>
        </p:nvSpPr>
        <p:spPr>
          <a:xfrm>
            <a:off x="2540000" y="4381500"/>
            <a:ext cx="711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4A90D9"/>
                </a:solidFill>
                <a:latin typeface="Bahnschrift"/>
              </a:rPr>
              <a:t>궁금한 점이 있으면 질문해주세요</a:t>
            </a:r>
            <a:r>
              <a:rPr lang="en-US" altLang="ko-KR" sz="2000" b="1">
                <a:solidFill>
                  <a:srgbClr val="4A90D9"/>
                </a:solidFill>
                <a:latin typeface="Bahnschrift"/>
              </a:rPr>
              <a:t>!</a:t>
            </a:r>
            <a:endParaRPr lang="ko-Kore-KR" altLang="en-US" sz="2000" b="1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834A4-D0FB-474E-928C-8F240AA5A5A6}"/>
              </a:ext>
            </a:extLst>
          </p:cNvPr>
          <p:cNvSpPr txBox="1"/>
          <p:nvPr/>
        </p:nvSpPr>
        <p:spPr>
          <a:xfrm>
            <a:off x="2540000" y="48895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  <a:latin typeface="Bahnschrift"/>
              </a:rPr>
              <a:t>다음 시간</a:t>
            </a:r>
            <a:r>
              <a:rPr lang="en-US" altLang="ko-KR" sz="16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600">
                <a:solidFill>
                  <a:srgbClr val="2D3436"/>
                </a:solidFill>
                <a:latin typeface="Bahnschrift"/>
              </a:rPr>
              <a:t>드론의 구조와 원리</a:t>
            </a:r>
            <a:endParaRPr lang="ko-Kore-KR" altLang="en-US" sz="16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00" name="TopBlueLine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1" name="BottomRainbow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gradFill>
            <a:gsLst>
              <a:gs pos="0">
                <a:srgbClr val="4A90D9"/>
              </a:gs>
              <a:gs pos="17000">
                <a:srgbClr val="51CF66"/>
              </a:gs>
              <a:gs pos="33000">
                <a:srgbClr val="FCC419"/>
              </a:gs>
              <a:gs pos="50000">
                <a:srgbClr val="FF922B"/>
              </a:gs>
              <a:gs pos="67000">
                <a:srgbClr val="FF6B6B"/>
              </a:gs>
              <a:gs pos="83000">
                <a:srgbClr val="CC5DE8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91532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F1345A-7FE7-4944-86AB-62DD27885C1D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1207</Words>
  <Application>Microsoft Macintosh PowerPoint</Application>
  <PresentationFormat>와이드스크린</PresentationFormat>
  <Paragraphs>175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Office 테마</vt:lpstr>
      <vt:lpstr>드론 교육 과정</vt:lpstr>
      <vt:lpstr>1주차: 드론이란?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(대학원생) 강경태 (기계공학과)</dc:creator>
  <cp:lastModifiedBy>(대학원생) 강경태 (기계공학과)</cp:lastModifiedBy>
  <cp:revision>1</cp:revision>
  <dcterms:created xsi:type="dcterms:W3CDTF">2026-02-17T08:47:05Z</dcterms:created>
  <dcterms:modified xsi:type="dcterms:W3CDTF">2026-02-17T16:55:45Z</dcterms:modified>
</cp:coreProperties>
</file>