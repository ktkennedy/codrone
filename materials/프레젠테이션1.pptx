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77" r:id="rId3"/>
    <p:sldId id="275" r:id="rId4"/>
    <p:sldId id="278" r:id="rId5"/>
    <p:sldId id="280" r:id="rId6"/>
    <p:sldId id="281" r:id="rId7"/>
    <p:sldId id="282" r:id="rId8"/>
    <p:sldId id="283" r:id="rId9"/>
    <p:sldId id="284" r:id="rId10"/>
    <p:sldId id="285" r:id="rId11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94694"/>
  </p:normalViewPr>
  <p:slideViewPr>
    <p:cSldViewPr snapToGrid="0">
      <p:cViewPr varScale="1">
        <p:scale>
          <a:sx n="73" d="100"/>
          <a:sy n="73" d="100"/>
        </p:scale>
        <p:origin x="208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5A83-CE92-C5C0-E5D1-DA420B61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41FC28-9AA5-DCDD-0DEF-69F72574B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A9342D-A756-0692-AC7C-8E63F1FC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655B96-9709-BA19-4DC6-00B3CC9A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892AFB-68EF-62AA-287E-CD06DCD9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22234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F730C-E8D5-D922-25B6-28CD3B49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31FCC-312C-9476-454F-3CCC801E6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B2A00E-8BC1-FFEC-8FD1-D4E04F737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98E63-E95C-393F-F68F-2DE67FAA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73B684-1C2B-035C-AC05-F455962F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763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B9453-0AAB-0569-9DC5-C05F1DF4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50EBAC-2170-849C-206D-1397B3A23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966984-4ED3-9772-AC52-27E14174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14F1DD-4E41-F80C-8C50-9298CAFF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5E330-77B1-D643-409D-A2B92208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9006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FD027-2035-FA3F-3A0E-DB586420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23BB2-FF90-7058-245C-0236E7B29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81DCBF-BCD1-FCD3-7AE4-7A14C1F0D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534FD1-27FC-BF0B-BC86-40EC8C7F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C5FDC2-D1D8-FBE6-A5DF-70F307CFB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B1FA0A-860F-52E5-AA4F-4728D2DD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2240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73AFA-E10F-C541-56C8-4603313B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80D0E1-C86C-F4C0-0025-6B7AD8502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32F926-27AD-FCFD-8C41-1357CC9E8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326DAF-D648-40E1-EBA7-BA2194C01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08B2B2-8257-4445-EDD6-0DF749236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3DAC6CE-03D0-C35C-5B4D-DC42153B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E898ED-F10C-0143-3732-6D40D3FE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398153-B6A0-9DB1-6D4A-85FD25C8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3787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2AAB0-122E-15EA-99BE-D18F9C78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9FE674-E7CF-72D9-C6BB-E3A8B053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6C47F4-C9CC-455A-6D78-A0BAC19F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9B3C73-56EF-B0C2-FCEC-B581EC8C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585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933953-C18D-9317-6652-392C926E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CACEB7-3D82-8942-3A31-9F2C6074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6648BE-A3F6-6751-71DF-B6D86025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8716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5567C-4FA4-3CC5-5F0C-45580C771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3A59C7-9E45-7F54-50FA-FF9DDF812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433423-8C19-1EFC-C14D-E388DF1FB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758ACC-E455-DC66-FB19-4E29F070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5311E6-09F4-45C0-3658-A3017DCA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C294A3-63EC-B60D-118F-0233A8D2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8801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9049E-0F02-18F3-0A7B-741B0C62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947100-83A9-518D-FCAA-ECADAA536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E401C1-85F8-0137-F1D2-A7C194763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6264C7-55EA-79B8-449F-A0D78BA8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5C6D30-DB4A-E4D6-67F6-92BB625A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8D78D3-3D6B-04A7-2D93-B71E35F4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420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B165E-1977-C12D-8D35-54BF46FA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B39F7A-7F70-4F77-4E87-D1B25A37F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BE62D1-E0CA-D87C-FA27-2B56CA85F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AD8DD-32BA-D5F2-B097-E5324309E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49DCA-D842-704D-4DA2-71EF9484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4963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04D934-1160-23FE-D058-0DBE42FD2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EA29F7-FF1C-27E2-DAC5-46A707208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286FA2-FE92-EAA3-8A91-775D5828D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C8DF82-1D11-62F0-1844-478F39F72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8E2D6-E4A3-88DE-2BD1-F931BBBB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77540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5A83-CE92-C5C0-E5D1-DA420B61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41FC28-9AA5-DCDD-0DEF-69F72574B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A9342D-A756-0692-AC7C-8E63F1FC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655B96-9709-BA19-4DC6-00B3CC9A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892AFB-68EF-62AA-287E-CD06DCD98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22234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F730C-E8D5-D922-25B6-28CD3B49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31FCC-312C-9476-454F-3CCC801E6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B2A00E-8BC1-FFEC-8FD1-D4E04F737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98E63-E95C-393F-F68F-2DE67FAA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73B684-1C2B-035C-AC05-F455962FE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76378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B9453-0AAB-0569-9DC5-C05F1DF4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50EBAC-2170-849C-206D-1397B3A23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966984-4ED3-9772-AC52-27E14174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14F1DD-4E41-F80C-8C50-9298CAFF2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25E330-77B1-D643-409D-A2B922080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90067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6FD027-2035-FA3F-3A0E-DB586420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23BB2-FF90-7058-245C-0236E7B29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81DCBF-BCD1-FCD3-7AE4-7A14C1F0D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534FD1-27FC-BF0B-BC86-40EC8C7F4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C5FDC2-D1D8-FBE6-A5DF-70F307CFB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B1FA0A-860F-52E5-AA4F-4728D2DD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22403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73AFA-E10F-C541-56C8-4603313BE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80D0E1-C86C-F4C0-0025-6B7AD8502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32F926-27AD-FCFD-8C41-1357CC9E8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326DAF-D648-40E1-EBA7-BA2194C01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08B2B2-8257-4445-EDD6-0DF749236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3DAC6CE-03D0-C35C-5B4D-DC42153B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E898ED-F10C-0143-3732-6D40D3FE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398153-B6A0-9DB1-6D4A-85FD25C8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378740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2AAB0-122E-15EA-99BE-D18F9C78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B9FE674-E7CF-72D9-C6BB-E3A8B053C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6C47F4-C9CC-455A-6D78-A0BAC19F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9B3C73-56EF-B0C2-FCEC-B581EC8C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58564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933953-C18D-9317-6652-392C926EC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3CACEB7-3D82-8942-3A31-9F2C6074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6648BE-A3F6-6751-71DF-B6D860257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871696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5567C-4FA4-3CC5-5F0C-45580C771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3A59C7-9E45-7F54-50FA-FF9DDF812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433423-8C19-1EFC-C14D-E388DF1FB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758ACC-E455-DC66-FB19-4E29F070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5311E6-09F4-45C0-3658-A3017DCA4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C294A3-63EC-B60D-118F-0233A8D2F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88018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9049E-0F02-18F3-0A7B-741B0C626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947100-83A9-518D-FCAA-ECADAA5365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E401C1-85F8-0137-F1D2-A7C194763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6264C7-55EA-79B8-449F-A0D78BA8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5C6D30-DB4A-E4D6-67F6-92BB625A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8D78D3-3D6B-04A7-2D93-B71E35F47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342060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B165E-1977-C12D-8D35-54BF46FAA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B39F7A-7F70-4F77-4E87-D1B25A37F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BE62D1-E0CA-D87C-FA27-2B56CA85F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8AD8DD-32BA-D5F2-B097-E5324309E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149DCA-D842-704D-4DA2-71EF94848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94963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04D934-1160-23FE-D058-0DBE42FD2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EA29F7-FF1C-27E2-DAC5-46A707208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286FA2-FE92-EAA3-8A91-775D5828D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C8DF82-1D11-62F0-1844-478F39F72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8E2D6-E4A3-88DE-2BD1-F931BBBB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77540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17F1B0-BBD0-219B-0837-A4A50E63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A20D7E-7439-4C55-97E1-9BC65AD93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9FA1B1-5D94-BECE-5EA3-CF2485F2F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8FCE67-CD9A-143B-24B7-E4F9808D0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113560-384F-840E-829E-8AB153D09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7490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517F1B0-BBD0-219B-0837-A4A50E63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A20D7E-7439-4C55-97E1-9BC65AD93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9FA1B1-5D94-BECE-5EA3-CF2485F2F2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ABF33-E559-ED42-997F-50A668857706}" type="datetimeFigureOut">
              <a:rPr kumimoji="1" lang="ko-Kore-KR" altLang="en-US" smtClean="0"/>
              <a:t>2/20/26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8FCE67-CD9A-143B-24B7-E4F9808D0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113560-384F-840E-829E-8AB153D09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31018-A84E-D840-88BB-2A36BDB69A5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7490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3A3BF49-1362-B047-8DC3-C4C7C5A8299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C4F8EE5-452A-9A4D-8D22-44068719A9CC}"/>
              </a:ext>
            </a:extLst>
          </p:cNvPr>
          <p:cNvSpPr/>
          <p:nvPr/>
        </p:nvSpPr>
        <p:spPr>
          <a:xfrm>
            <a:off x="0" y="6705600"/>
            <a:ext cx="2044700" cy="152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4993B3-24A5-EA49-96A2-05EE4BADFB48}"/>
              </a:ext>
            </a:extLst>
          </p:cNvPr>
          <p:cNvSpPr/>
          <p:nvPr/>
        </p:nvSpPr>
        <p:spPr>
          <a:xfrm>
            <a:off x="2032000" y="6705600"/>
            <a:ext cx="2044700" cy="1524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628139C-7F22-944B-984E-00E86C9BE776}"/>
              </a:ext>
            </a:extLst>
          </p:cNvPr>
          <p:cNvSpPr/>
          <p:nvPr/>
        </p:nvSpPr>
        <p:spPr>
          <a:xfrm>
            <a:off x="4064000" y="6705600"/>
            <a:ext cx="2044700" cy="152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6D4F2C-2ABD-8741-894C-4D786AD2D2EC}"/>
              </a:ext>
            </a:extLst>
          </p:cNvPr>
          <p:cNvSpPr/>
          <p:nvPr/>
        </p:nvSpPr>
        <p:spPr>
          <a:xfrm>
            <a:off x="6096000" y="6705600"/>
            <a:ext cx="2044700" cy="152400"/>
          </a:xfrm>
          <a:prstGeom prst="rect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78918D-3140-BB4F-A4DC-5DC8B4599624}"/>
              </a:ext>
            </a:extLst>
          </p:cNvPr>
          <p:cNvSpPr/>
          <p:nvPr/>
        </p:nvSpPr>
        <p:spPr>
          <a:xfrm>
            <a:off x="8128000" y="6705600"/>
            <a:ext cx="2044700" cy="152400"/>
          </a:xfrm>
          <a:prstGeom prst="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9A629A-3669-354C-88CB-E9835345C1A4}"/>
              </a:ext>
            </a:extLst>
          </p:cNvPr>
          <p:cNvSpPr/>
          <p:nvPr/>
        </p:nvSpPr>
        <p:spPr>
          <a:xfrm>
            <a:off x="10160000" y="6705600"/>
            <a:ext cx="2044700" cy="1524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517761-7FF9-AB47-8630-FB3BA487535D}"/>
              </a:ext>
            </a:extLst>
          </p:cNvPr>
          <p:cNvSpPr txBox="1"/>
          <p:nvPr/>
        </p:nvSpPr>
        <p:spPr>
          <a:xfrm>
            <a:off x="1524000" y="1905000"/>
            <a:ext cx="9144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4000" b="1">
                <a:solidFill>
                  <a:srgbClr val="1E3A5F"/>
                </a:solidFill>
                <a:latin typeface="Bahnschrift"/>
              </a:rPr>
              <a:t>2</a:t>
            </a:r>
            <a:r>
              <a:rPr lang="ko-KR" altLang="en-US" sz="4000" b="1">
                <a:solidFill>
                  <a:srgbClr val="1E3A5F"/>
                </a:solidFill>
                <a:latin typeface="Bahnschrift"/>
              </a:rPr>
              <a:t>주차</a:t>
            </a:r>
            <a:r>
              <a:rPr lang="en-US" altLang="ko-KR" sz="4000" b="1">
                <a:solidFill>
                  <a:srgbClr val="1E3A5F"/>
                </a:solidFill>
                <a:latin typeface="Bahnschrift"/>
              </a:rPr>
              <a:t>: </a:t>
            </a:r>
            <a:r>
              <a:rPr lang="ko-KR" altLang="en-US" sz="4000" b="1">
                <a:solidFill>
                  <a:srgbClr val="1E3A5F"/>
                </a:solidFill>
                <a:latin typeface="Bahnschrift"/>
              </a:rPr>
              <a:t>드론의 구조</a:t>
            </a:r>
            <a:endParaRPr lang="ko-Kore-KR" altLang="en-US" sz="40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FBF689-9F95-F54F-8AC3-1260EC7544BB}"/>
              </a:ext>
            </a:extLst>
          </p:cNvPr>
          <p:cNvSpPr txBox="1"/>
          <p:nvPr/>
        </p:nvSpPr>
        <p:spPr>
          <a:xfrm>
            <a:off x="2794000" y="2921000"/>
            <a:ext cx="660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200">
                <a:solidFill>
                  <a:srgbClr val="4A90D9"/>
                </a:solidFill>
                <a:latin typeface="Bahnschrift"/>
              </a:rPr>
              <a:t>드론은 어떻게 생겼을까</a:t>
            </a:r>
            <a:r>
              <a:rPr lang="en-US" altLang="ko-KR" sz="2200">
                <a:solidFill>
                  <a:srgbClr val="4A90D9"/>
                </a:solidFill>
                <a:latin typeface="Bahnschrift"/>
              </a:rPr>
              <a:t>?</a:t>
            </a:r>
            <a:endParaRPr lang="ko-Kore-KR" altLang="en-US" sz="2200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595E8E3-3BF7-B842-B8F4-43D685FCDB4C}"/>
              </a:ext>
            </a:extLst>
          </p:cNvPr>
          <p:cNvSpPr/>
          <p:nvPr/>
        </p:nvSpPr>
        <p:spPr>
          <a:xfrm>
            <a:off x="4826000" y="3530600"/>
            <a:ext cx="2540000" cy="381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6BDABA-DE3B-6E45-82FC-981D62ACB54B}"/>
              </a:ext>
            </a:extLst>
          </p:cNvPr>
          <p:cNvSpPr txBox="1"/>
          <p:nvPr/>
        </p:nvSpPr>
        <p:spPr>
          <a:xfrm>
            <a:off x="3556000" y="3746500"/>
            <a:ext cx="508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636E72"/>
                </a:solidFill>
                <a:latin typeface="Bahnschrift"/>
              </a:rPr>
              <a:t>초등 드론 교실 </a:t>
            </a:r>
            <a:r>
              <a:rPr lang="en-US" altLang="ko-KR" sz="1600">
                <a:solidFill>
                  <a:srgbClr val="636E72"/>
                </a:solidFill>
                <a:latin typeface="Bahnschrift"/>
              </a:rPr>
              <a:t>· 40</a:t>
            </a:r>
            <a:r>
              <a:rPr lang="ko-KR" altLang="en-US" sz="1600">
                <a:solidFill>
                  <a:srgbClr val="636E72"/>
                </a:solidFill>
                <a:latin typeface="Bahnschrift"/>
              </a:rPr>
              <a:t>분 수업</a:t>
            </a:r>
            <a:endParaRPr lang="ko-Kore-KR" altLang="en-US" sz="1600">
              <a:solidFill>
                <a:srgbClr val="636E72"/>
              </a:solidFill>
              <a:latin typeface="Bahnschrift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0FA8081-63E1-C844-83FD-7C96684D0E3D}"/>
              </a:ext>
            </a:extLst>
          </p:cNvPr>
          <p:cNvSpPr/>
          <p:nvPr/>
        </p:nvSpPr>
        <p:spPr>
          <a:xfrm>
            <a:off x="3048000" y="4699000"/>
            <a:ext cx="635000" cy="6350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P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74664C2-510E-0D4C-8F0C-B7AC47A96810}"/>
              </a:ext>
            </a:extLst>
          </p:cNvPr>
          <p:cNvSpPr/>
          <p:nvPr/>
        </p:nvSpPr>
        <p:spPr>
          <a:xfrm>
            <a:off x="4191000" y="4699000"/>
            <a:ext cx="635000" cy="635000"/>
          </a:xfrm>
          <a:prstGeom prst="ellipse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M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C336953-2929-7243-B001-C1B1BD14B98E}"/>
              </a:ext>
            </a:extLst>
          </p:cNvPr>
          <p:cNvSpPr/>
          <p:nvPr/>
        </p:nvSpPr>
        <p:spPr>
          <a:xfrm>
            <a:off x="5334000" y="4699000"/>
            <a:ext cx="635000" cy="6350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F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4EE59CB-F52E-024E-8D28-CB97752A8CCA}"/>
              </a:ext>
            </a:extLst>
          </p:cNvPr>
          <p:cNvSpPr/>
          <p:nvPr/>
        </p:nvSpPr>
        <p:spPr>
          <a:xfrm>
            <a:off x="6477000" y="4699000"/>
            <a:ext cx="635000" cy="635000"/>
          </a:xfrm>
          <a:prstGeom prst="ellipse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1E3A5F"/>
                </a:solidFill>
                <a:latin typeface="Bahnschrift"/>
              </a:rPr>
              <a:t>C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C42EEEB-05C4-1845-AAF0-8CA7623EF1F5}"/>
              </a:ext>
            </a:extLst>
          </p:cNvPr>
          <p:cNvSpPr/>
          <p:nvPr/>
        </p:nvSpPr>
        <p:spPr>
          <a:xfrm>
            <a:off x="7620000" y="4699000"/>
            <a:ext cx="635000" cy="635000"/>
          </a:xfrm>
          <a:prstGeom prst="ellipse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B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7C3B92A-3A4C-704F-B85A-9BEF990C9094}"/>
              </a:ext>
            </a:extLst>
          </p:cNvPr>
          <p:cNvSpPr/>
          <p:nvPr/>
        </p:nvSpPr>
        <p:spPr>
          <a:xfrm>
            <a:off x="8763000" y="4699000"/>
            <a:ext cx="635000" cy="6350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E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01D558-DA38-4443-8653-507270C6980B}"/>
              </a:ext>
            </a:extLst>
          </p:cNvPr>
          <p:cNvSpPr txBox="1"/>
          <p:nvPr/>
        </p:nvSpPr>
        <p:spPr>
          <a:xfrm>
            <a:off x="2286000" y="54610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95A5A6"/>
                </a:solidFill>
                <a:latin typeface="Bahnschrift"/>
              </a:rPr>
              <a:t>프로펠러 </a:t>
            </a:r>
            <a:r>
              <a:rPr lang="en-US" altLang="ko-KR" sz="1400">
                <a:solidFill>
                  <a:srgbClr val="95A5A6"/>
                </a:solidFill>
                <a:latin typeface="Bahnschrift"/>
              </a:rPr>
              <a:t>· </a:t>
            </a:r>
            <a:r>
              <a:rPr lang="ko-KR" altLang="en-US" sz="1400">
                <a:solidFill>
                  <a:srgbClr val="95A5A6"/>
                </a:solidFill>
                <a:latin typeface="Bahnschrift"/>
              </a:rPr>
              <a:t>모터 </a:t>
            </a:r>
            <a:r>
              <a:rPr lang="en-US" altLang="ko-KR" sz="1400">
                <a:solidFill>
                  <a:srgbClr val="95A5A6"/>
                </a:solidFill>
                <a:latin typeface="Bahnschrift"/>
              </a:rPr>
              <a:t>· </a:t>
            </a:r>
            <a:r>
              <a:rPr lang="ko-KR" altLang="en-US" sz="1400">
                <a:solidFill>
                  <a:srgbClr val="95A5A6"/>
                </a:solidFill>
                <a:latin typeface="Bahnschrift"/>
              </a:rPr>
              <a:t>프레임 </a:t>
            </a:r>
            <a:r>
              <a:rPr lang="en-US" altLang="ko-KR" sz="1400">
                <a:solidFill>
                  <a:srgbClr val="95A5A6"/>
                </a:solidFill>
                <a:latin typeface="Bahnschrift"/>
              </a:rPr>
              <a:t>· </a:t>
            </a:r>
            <a:r>
              <a:rPr lang="en" altLang="ko-Kore-KR" sz="1400">
                <a:solidFill>
                  <a:srgbClr val="95A5A6"/>
                </a:solidFill>
                <a:latin typeface="Bahnschrift"/>
              </a:rPr>
              <a:t>FC · </a:t>
            </a:r>
            <a:r>
              <a:rPr lang="ko-KR" altLang="en-US" sz="1400">
                <a:solidFill>
                  <a:srgbClr val="95A5A6"/>
                </a:solidFill>
                <a:latin typeface="Bahnschrift"/>
              </a:rPr>
              <a:t>배터리 </a:t>
            </a:r>
            <a:r>
              <a:rPr lang="en-US" altLang="ko-KR" sz="1400">
                <a:solidFill>
                  <a:srgbClr val="95A5A6"/>
                </a:solidFill>
                <a:latin typeface="Bahnschrift"/>
              </a:rPr>
              <a:t>· </a:t>
            </a:r>
            <a:r>
              <a:rPr lang="en" altLang="ko-Kore-KR" sz="1400">
                <a:solidFill>
                  <a:srgbClr val="95A5A6"/>
                </a:solidFill>
                <a:latin typeface="Bahnschrift"/>
              </a:rPr>
              <a:t>ESC</a:t>
            </a:r>
            <a:endParaRPr lang="ko-Kore-KR" altLang="en-US" sz="1400">
              <a:solidFill>
                <a:srgbClr val="95A5A6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22579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4E3CB36A-1A0A-1C4D-9540-9428053B50F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AADEF14-C03A-4C4C-8E33-0DFFB8F8EFA3}"/>
              </a:ext>
            </a:extLst>
          </p:cNvPr>
          <p:cNvSpPr/>
          <p:nvPr/>
        </p:nvSpPr>
        <p:spPr>
          <a:xfrm>
            <a:off x="0" y="6705600"/>
            <a:ext cx="2044700" cy="152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13C2FA4-F8CD-8447-9B3B-7D5EC24E11A9}"/>
              </a:ext>
            </a:extLst>
          </p:cNvPr>
          <p:cNvSpPr/>
          <p:nvPr/>
        </p:nvSpPr>
        <p:spPr>
          <a:xfrm>
            <a:off x="2032000" y="6705600"/>
            <a:ext cx="2044700" cy="1524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872D63-F89C-4148-8F96-0BB67B84BD27}"/>
              </a:ext>
            </a:extLst>
          </p:cNvPr>
          <p:cNvSpPr/>
          <p:nvPr/>
        </p:nvSpPr>
        <p:spPr>
          <a:xfrm>
            <a:off x="4064000" y="6705600"/>
            <a:ext cx="2044700" cy="152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9B24AF-6FD2-A244-96AD-143AE702A3C8}"/>
              </a:ext>
            </a:extLst>
          </p:cNvPr>
          <p:cNvSpPr/>
          <p:nvPr/>
        </p:nvSpPr>
        <p:spPr>
          <a:xfrm>
            <a:off x="6096000" y="6705600"/>
            <a:ext cx="2044700" cy="152400"/>
          </a:xfrm>
          <a:prstGeom prst="rect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53CA8C7-9A94-3C4A-84DA-F956AB302095}"/>
              </a:ext>
            </a:extLst>
          </p:cNvPr>
          <p:cNvSpPr/>
          <p:nvPr/>
        </p:nvSpPr>
        <p:spPr>
          <a:xfrm>
            <a:off x="8128000" y="6705600"/>
            <a:ext cx="2044700" cy="152400"/>
          </a:xfrm>
          <a:prstGeom prst="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B612A0A-0971-F249-BB87-26E3C968C159}"/>
              </a:ext>
            </a:extLst>
          </p:cNvPr>
          <p:cNvSpPr/>
          <p:nvPr/>
        </p:nvSpPr>
        <p:spPr>
          <a:xfrm>
            <a:off x="10160000" y="6705600"/>
            <a:ext cx="2044700" cy="1524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7DAE1A-0238-1D49-B0E1-E06ECB6EC69C}"/>
              </a:ext>
            </a:extLst>
          </p:cNvPr>
          <p:cNvSpPr txBox="1"/>
          <p:nvPr/>
        </p:nvSpPr>
        <p:spPr>
          <a:xfrm>
            <a:off x="508000" y="1524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2800" b="1">
                <a:solidFill>
                  <a:srgbClr val="1E3A5F"/>
                </a:solidFill>
                <a:latin typeface="Bahnschrift"/>
              </a:rPr>
              <a:t>2</a:t>
            </a:r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주차</a:t>
            </a:r>
            <a:r>
              <a:rPr lang="en-US" altLang="ko-KR" sz="2800" b="1">
                <a:solidFill>
                  <a:srgbClr val="1E3A5F"/>
                </a:solidFill>
                <a:latin typeface="Bahnschrift"/>
              </a:rPr>
              <a:t>: </a:t>
            </a:r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드론의 구조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0FC04670-C70B-EE46-9889-2BE02CC4D25D}"/>
              </a:ext>
            </a:extLst>
          </p:cNvPr>
          <p:cNvSpPr/>
          <p:nvPr/>
        </p:nvSpPr>
        <p:spPr>
          <a:xfrm>
            <a:off x="508000" y="787400"/>
            <a:ext cx="2540000" cy="355600"/>
          </a:xfrm>
          <a:prstGeom prst="round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Phase 1 · </a:t>
            </a:r>
            <a:r>
              <a:rPr lang="ko-KR" altLang="en-US" sz="1400" b="1">
                <a:solidFill>
                  <a:srgbClr val="FFFFFF"/>
                </a:solidFill>
                <a:latin typeface="Bahnschrift"/>
              </a:rPr>
              <a:t>드론 기초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7CEEF08E-C374-1D4D-A882-C6E68793DC0A}"/>
              </a:ext>
            </a:extLst>
          </p:cNvPr>
          <p:cNvSpPr/>
          <p:nvPr/>
        </p:nvSpPr>
        <p:spPr>
          <a:xfrm>
            <a:off x="508000" y="1270000"/>
            <a:ext cx="5461000" cy="2476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46A743D-648D-9943-86E5-D37B73F5E0F4}"/>
              </a:ext>
            </a:extLst>
          </p:cNvPr>
          <p:cNvSpPr/>
          <p:nvPr/>
        </p:nvSpPr>
        <p:spPr>
          <a:xfrm>
            <a:off x="698500" y="1460500"/>
            <a:ext cx="533400" cy="5334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P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788B81-3BCB-2742-BE7B-AA3BEA84F038}"/>
              </a:ext>
            </a:extLst>
          </p:cNvPr>
          <p:cNvSpPr txBox="1"/>
          <p:nvPr/>
        </p:nvSpPr>
        <p:spPr>
          <a:xfrm>
            <a:off x="1371600" y="14478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프로펠러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6BC5BC-5997-6243-9CB1-E7B19DD49BBA}"/>
              </a:ext>
            </a:extLst>
          </p:cNvPr>
          <p:cNvSpPr txBox="1"/>
          <p:nvPr/>
        </p:nvSpPr>
        <p:spPr>
          <a:xfrm>
            <a:off x="762000" y="1968500"/>
            <a:ext cx="50165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공기를 밀어내서 추력을 만드는 날개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CW/CCW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방향이 다른 이유와
프로펠러 크기별 특성을 배워요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9D07827-E95A-474E-B423-8975055B7D74}"/>
              </a:ext>
            </a:extLst>
          </p:cNvPr>
          <p:cNvSpPr/>
          <p:nvPr/>
        </p:nvSpPr>
        <p:spPr>
          <a:xfrm>
            <a:off x="6286500" y="1270000"/>
            <a:ext cx="5461000" cy="2476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81021DE-F7F1-AF4C-B546-7977181D6604}"/>
              </a:ext>
            </a:extLst>
          </p:cNvPr>
          <p:cNvSpPr/>
          <p:nvPr/>
        </p:nvSpPr>
        <p:spPr>
          <a:xfrm>
            <a:off x="6477000" y="1460500"/>
            <a:ext cx="533400" cy="533400"/>
          </a:xfrm>
          <a:prstGeom prst="ellipse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M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254316-C639-D840-85CB-B36F4913E8DA}"/>
              </a:ext>
            </a:extLst>
          </p:cNvPr>
          <p:cNvSpPr txBox="1"/>
          <p:nvPr/>
        </p:nvSpPr>
        <p:spPr>
          <a:xfrm>
            <a:off x="7150100" y="14478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모터 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BLDC)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451CE3-D604-2349-93E6-769ED3651AD0}"/>
              </a:ext>
            </a:extLst>
          </p:cNvPr>
          <p:cNvSpPr txBox="1"/>
          <p:nvPr/>
        </p:nvSpPr>
        <p:spPr>
          <a:xfrm>
            <a:off x="6540500" y="1968500"/>
            <a:ext cx="50165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브러시리스 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DC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모터의 원리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전기 신호로 프로펠러를 돌리는
핵심 동력원을 이해해요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405A86C5-E463-9C46-AA33-3B292D6A2DC8}"/>
              </a:ext>
            </a:extLst>
          </p:cNvPr>
          <p:cNvSpPr/>
          <p:nvPr/>
        </p:nvSpPr>
        <p:spPr>
          <a:xfrm>
            <a:off x="508000" y="4000500"/>
            <a:ext cx="5461000" cy="2476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02F6D003-7A6C-544B-AC4C-1FEF57CB740E}"/>
              </a:ext>
            </a:extLst>
          </p:cNvPr>
          <p:cNvSpPr/>
          <p:nvPr/>
        </p:nvSpPr>
        <p:spPr>
          <a:xfrm>
            <a:off x="698500" y="4191000"/>
            <a:ext cx="533400" cy="5334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F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B0AE22-2B66-BD41-A403-67E089EEE957}"/>
              </a:ext>
            </a:extLst>
          </p:cNvPr>
          <p:cNvSpPr txBox="1"/>
          <p:nvPr/>
        </p:nvSpPr>
        <p:spPr>
          <a:xfrm>
            <a:off x="1371600" y="41783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프레임과 </a:t>
            </a:r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FC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7D2A52-53E9-9E46-81C2-8E85D7BC2316}"/>
              </a:ext>
            </a:extLst>
          </p:cNvPr>
          <p:cNvSpPr txBox="1"/>
          <p:nvPr/>
        </p:nvSpPr>
        <p:spPr>
          <a:xfrm>
            <a:off x="762000" y="4699000"/>
            <a:ext cx="50165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드론의 뼈대인 프레임 구조와
두뇌 역할을 하는 비행 컨트롤러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FC)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의
센서 구성을 알아봐요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9E70EC48-684F-A144-B3D6-AA5610C61AB1}"/>
              </a:ext>
            </a:extLst>
          </p:cNvPr>
          <p:cNvSpPr/>
          <p:nvPr/>
        </p:nvSpPr>
        <p:spPr>
          <a:xfrm>
            <a:off x="6286500" y="4000500"/>
            <a:ext cx="5461000" cy="2476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8C5A0463-8EFE-444F-8FA9-31E139BCB191}"/>
              </a:ext>
            </a:extLst>
          </p:cNvPr>
          <p:cNvSpPr/>
          <p:nvPr/>
        </p:nvSpPr>
        <p:spPr>
          <a:xfrm>
            <a:off x="6477000" y="4191000"/>
            <a:ext cx="533400" cy="5334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B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D17681-E649-AE43-AEF3-204A6CB9A734}"/>
              </a:ext>
            </a:extLst>
          </p:cNvPr>
          <p:cNvSpPr txBox="1"/>
          <p:nvPr/>
        </p:nvSpPr>
        <p:spPr>
          <a:xfrm>
            <a:off x="7150100" y="4178300"/>
            <a:ext cx="4381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배터리와 </a:t>
            </a:r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ESC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DFC29F-AC9F-9C49-B968-99C940D191C7}"/>
              </a:ext>
            </a:extLst>
          </p:cNvPr>
          <p:cNvSpPr txBox="1"/>
          <p:nvPr/>
        </p:nvSpPr>
        <p:spPr>
          <a:xfrm>
            <a:off x="6540500" y="4699000"/>
            <a:ext cx="50165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LiPo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배터리의 특성과 관리법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
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ESC(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속도 제어기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)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가 모터 속도를
어떻게 조절하는지 배워요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407040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613F6C6-D093-3C42-A861-2ACE064ED00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16BB7E8-3741-1145-B216-0770101B9CF6}"/>
              </a:ext>
            </a:extLst>
          </p:cNvPr>
          <p:cNvSpPr/>
          <p:nvPr/>
        </p:nvSpPr>
        <p:spPr>
          <a:xfrm>
            <a:off x="0" y="6705600"/>
            <a:ext cx="2044700" cy="152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B188A0-9AB4-2E48-887C-8C9F56159B79}"/>
              </a:ext>
            </a:extLst>
          </p:cNvPr>
          <p:cNvSpPr/>
          <p:nvPr/>
        </p:nvSpPr>
        <p:spPr>
          <a:xfrm>
            <a:off x="2032000" y="6705600"/>
            <a:ext cx="2044700" cy="1524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492B80-5571-434A-88AB-59ED32EDE292}"/>
              </a:ext>
            </a:extLst>
          </p:cNvPr>
          <p:cNvSpPr/>
          <p:nvPr/>
        </p:nvSpPr>
        <p:spPr>
          <a:xfrm>
            <a:off x="4064000" y="6705600"/>
            <a:ext cx="2044700" cy="152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B059FEE-8B24-024C-9CF0-30D1445B188A}"/>
              </a:ext>
            </a:extLst>
          </p:cNvPr>
          <p:cNvSpPr/>
          <p:nvPr/>
        </p:nvSpPr>
        <p:spPr>
          <a:xfrm>
            <a:off x="6096000" y="6705600"/>
            <a:ext cx="2044700" cy="152400"/>
          </a:xfrm>
          <a:prstGeom prst="rect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3C0ABF5-7D8F-324D-A1C6-ED8C2AE85EA5}"/>
              </a:ext>
            </a:extLst>
          </p:cNvPr>
          <p:cNvSpPr/>
          <p:nvPr/>
        </p:nvSpPr>
        <p:spPr>
          <a:xfrm>
            <a:off x="8128000" y="6705600"/>
            <a:ext cx="2044700" cy="152400"/>
          </a:xfrm>
          <a:prstGeom prst="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3036811-360F-E94A-AEC5-0E2139F9145A}"/>
              </a:ext>
            </a:extLst>
          </p:cNvPr>
          <p:cNvSpPr/>
          <p:nvPr/>
        </p:nvSpPr>
        <p:spPr>
          <a:xfrm>
            <a:off x="10160000" y="6705600"/>
            <a:ext cx="2044700" cy="1524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B211D-85C4-5F4D-B440-E96A3A3CE211}"/>
              </a:ext>
            </a:extLst>
          </p:cNvPr>
          <p:cNvSpPr txBox="1"/>
          <p:nvPr/>
        </p:nvSpPr>
        <p:spPr>
          <a:xfrm>
            <a:off x="508000" y="152400"/>
            <a:ext cx="508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프로펠러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72E4428-06AA-DB49-9ADE-39D70DFF74B1}"/>
              </a:ext>
            </a:extLst>
          </p:cNvPr>
          <p:cNvSpPr/>
          <p:nvPr/>
        </p:nvSpPr>
        <p:spPr>
          <a:xfrm>
            <a:off x="508000" y="736600"/>
            <a:ext cx="2286000" cy="330200"/>
          </a:xfrm>
          <a:prstGeom prst="round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Part 1 · </a:t>
            </a:r>
            <a:r>
              <a:rPr lang="ko-KR" altLang="en-US" sz="1400" b="1">
                <a:solidFill>
                  <a:srgbClr val="FFFFFF"/>
                </a:solidFill>
                <a:latin typeface="Bahnschrift"/>
              </a:rPr>
              <a:t>프로펠러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D698466-07CD-744B-949A-B1D232936036}"/>
              </a:ext>
            </a:extLst>
          </p:cNvPr>
          <p:cNvSpPr/>
          <p:nvPr/>
        </p:nvSpPr>
        <p:spPr>
          <a:xfrm>
            <a:off x="508000" y="1206500"/>
            <a:ext cx="5461000" cy="254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C8902A4-1451-DF4F-9EDA-A1D2B036554F}"/>
              </a:ext>
            </a:extLst>
          </p:cNvPr>
          <p:cNvSpPr/>
          <p:nvPr/>
        </p:nvSpPr>
        <p:spPr>
          <a:xfrm>
            <a:off x="698500" y="1397000"/>
            <a:ext cx="533400" cy="5334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?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EC62D8-CDA3-2240-A567-7F176DA9D880}"/>
              </a:ext>
            </a:extLst>
          </p:cNvPr>
          <p:cNvSpPr txBox="1"/>
          <p:nvPr/>
        </p:nvSpPr>
        <p:spPr>
          <a:xfrm>
            <a:off x="1371600" y="13970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프로펠러란 무엇일까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?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A89849-2FA8-4F44-8C96-EED6580E47ED}"/>
              </a:ext>
            </a:extLst>
          </p:cNvPr>
          <p:cNvSpPr txBox="1"/>
          <p:nvPr/>
        </p:nvSpPr>
        <p:spPr>
          <a:xfrm>
            <a:off x="762000" y="1968500"/>
            <a:ext cx="5016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선풍기 날개처럼 빙글빙글 돌아서
공기를 아래로 밀어내는 날개예요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공기를 밀어내면 드론이 위로 떠올라요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A9FE45A-75D4-4648-BD7F-CE033252365E}"/>
              </a:ext>
            </a:extLst>
          </p:cNvPr>
          <p:cNvSpPr/>
          <p:nvPr/>
        </p:nvSpPr>
        <p:spPr>
          <a:xfrm>
            <a:off x="6286500" y="1206500"/>
            <a:ext cx="5461000" cy="254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C2B9937A-1989-A346-9949-D4813874D80A}"/>
              </a:ext>
            </a:extLst>
          </p:cNvPr>
          <p:cNvSpPr/>
          <p:nvPr/>
        </p:nvSpPr>
        <p:spPr>
          <a:xfrm>
            <a:off x="6477000" y="1397000"/>
            <a:ext cx="533400" cy="533400"/>
          </a:xfrm>
          <a:prstGeom prst="ellipse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R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0D3C59-F682-A24A-838B-01C642E1E0A6}"/>
              </a:ext>
            </a:extLst>
          </p:cNvPr>
          <p:cNvSpPr txBox="1"/>
          <p:nvPr/>
        </p:nvSpPr>
        <p:spPr>
          <a:xfrm>
            <a:off x="7150100" y="13970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왜 반대로 도는 걸까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?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22EA9A-9FB7-AC48-B47D-B770C405788A}"/>
              </a:ext>
            </a:extLst>
          </p:cNvPr>
          <p:cNvSpPr txBox="1"/>
          <p:nvPr/>
        </p:nvSpPr>
        <p:spPr>
          <a:xfrm>
            <a:off x="6540500" y="1968500"/>
            <a:ext cx="5016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CW =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시계 방향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오른쪽으로 빙글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)
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CCW =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반시계 방향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왼쪽으로 빙글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)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서로 반대로 돌아야 드론이
빙글빙글 안 돌고 안정적이에요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5828CED-9661-144A-9504-ADACB02FCB57}"/>
              </a:ext>
            </a:extLst>
          </p:cNvPr>
          <p:cNvSpPr/>
          <p:nvPr/>
        </p:nvSpPr>
        <p:spPr>
          <a:xfrm>
            <a:off x="508000" y="3937000"/>
            <a:ext cx="11239500" cy="2603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16EBEFC-B03B-8645-8963-FDBDD77769F6}"/>
              </a:ext>
            </a:extLst>
          </p:cNvPr>
          <p:cNvSpPr/>
          <p:nvPr/>
        </p:nvSpPr>
        <p:spPr>
          <a:xfrm>
            <a:off x="698500" y="4127500"/>
            <a:ext cx="533400" cy="5334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S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E857AD-5A66-2F49-8E98-FF28A41DBFAF}"/>
              </a:ext>
            </a:extLst>
          </p:cNvPr>
          <p:cNvSpPr txBox="1"/>
          <p:nvPr/>
        </p:nvSpPr>
        <p:spPr>
          <a:xfrm>
            <a:off x="1371600" y="41275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프로펠러 크기가 다르면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?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E04898-3A2E-C147-A712-7C3344D2CC0F}"/>
              </a:ext>
            </a:extLst>
          </p:cNvPr>
          <p:cNvSpPr txBox="1"/>
          <p:nvPr/>
        </p:nvSpPr>
        <p:spPr>
          <a:xfrm>
            <a:off x="762000" y="4762500"/>
            <a:ext cx="10731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큰 프로펠러 → 바람을 많이 만들어서 무거운 것도 들 수 있어요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하지만 느려요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작은 프로펠러 → 빠르게 움직일 수 있어요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하지만 힘이 약해요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내가 만들 드론에 맞는 프로펠러를 골라야 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3088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E1D423-6607-9649-A49C-B6C214D08AE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C3DF397-B408-C148-9956-D0A6EB223A09}"/>
              </a:ext>
            </a:extLst>
          </p:cNvPr>
          <p:cNvSpPr/>
          <p:nvPr/>
        </p:nvSpPr>
        <p:spPr>
          <a:xfrm>
            <a:off x="0" y="6705600"/>
            <a:ext cx="2044700" cy="152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94A8A24-070C-AD47-B018-FFE98D2CB436}"/>
              </a:ext>
            </a:extLst>
          </p:cNvPr>
          <p:cNvSpPr/>
          <p:nvPr/>
        </p:nvSpPr>
        <p:spPr>
          <a:xfrm>
            <a:off x="2032000" y="6705600"/>
            <a:ext cx="2044700" cy="1524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9E3AFE-B560-D74F-85FF-8C9E35768B7B}"/>
              </a:ext>
            </a:extLst>
          </p:cNvPr>
          <p:cNvSpPr/>
          <p:nvPr/>
        </p:nvSpPr>
        <p:spPr>
          <a:xfrm>
            <a:off x="4064000" y="6705600"/>
            <a:ext cx="2044700" cy="152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00E4C9-5DFE-E342-835E-6C6792F06503}"/>
              </a:ext>
            </a:extLst>
          </p:cNvPr>
          <p:cNvSpPr/>
          <p:nvPr/>
        </p:nvSpPr>
        <p:spPr>
          <a:xfrm>
            <a:off x="6096000" y="6705600"/>
            <a:ext cx="2044700" cy="152400"/>
          </a:xfrm>
          <a:prstGeom prst="rect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FDB5F4-9085-2E4F-8775-2F371E64A065}"/>
              </a:ext>
            </a:extLst>
          </p:cNvPr>
          <p:cNvSpPr/>
          <p:nvPr/>
        </p:nvSpPr>
        <p:spPr>
          <a:xfrm>
            <a:off x="8128000" y="6705600"/>
            <a:ext cx="2044700" cy="152400"/>
          </a:xfrm>
          <a:prstGeom prst="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80849F-3E89-084E-9895-77A77076A5B2}"/>
              </a:ext>
            </a:extLst>
          </p:cNvPr>
          <p:cNvSpPr/>
          <p:nvPr/>
        </p:nvSpPr>
        <p:spPr>
          <a:xfrm>
            <a:off x="10160000" y="6705600"/>
            <a:ext cx="2044700" cy="1524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4D17F5-1BAF-2C43-A9F3-80EC3EDCD94B}"/>
              </a:ext>
            </a:extLst>
          </p:cNvPr>
          <p:cNvSpPr txBox="1"/>
          <p:nvPr/>
        </p:nvSpPr>
        <p:spPr>
          <a:xfrm>
            <a:off x="508000" y="152400"/>
            <a:ext cx="508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모터 </a:t>
            </a:r>
            <a:r>
              <a:rPr lang="en-US" altLang="ko-KR" sz="2800" b="1">
                <a:solidFill>
                  <a:srgbClr val="1E3A5F"/>
                </a:solidFill>
                <a:latin typeface="Bahnschrift"/>
              </a:rPr>
              <a:t>(</a:t>
            </a:r>
            <a:r>
              <a:rPr lang="en" altLang="ko-Kore-KR" sz="2800" b="1">
                <a:solidFill>
                  <a:srgbClr val="1E3A5F"/>
                </a:solidFill>
                <a:latin typeface="Bahnschrift"/>
              </a:rPr>
              <a:t>BLDC)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2CB7FC9-6E26-1F45-86CC-E73777FC647C}"/>
              </a:ext>
            </a:extLst>
          </p:cNvPr>
          <p:cNvSpPr/>
          <p:nvPr/>
        </p:nvSpPr>
        <p:spPr>
          <a:xfrm>
            <a:off x="508000" y="736600"/>
            <a:ext cx="2032000" cy="3302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Part 2 · </a:t>
            </a:r>
            <a:r>
              <a:rPr lang="ko-KR" altLang="en-US" sz="1400" b="1">
                <a:solidFill>
                  <a:srgbClr val="FFFFFF"/>
                </a:solidFill>
                <a:latin typeface="Bahnschrift"/>
              </a:rPr>
              <a:t>모터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0D744F2-C367-6446-9AEA-F1BBA3BA92B3}"/>
              </a:ext>
            </a:extLst>
          </p:cNvPr>
          <p:cNvSpPr/>
          <p:nvPr/>
        </p:nvSpPr>
        <p:spPr>
          <a:xfrm>
            <a:off x="508000" y="1206500"/>
            <a:ext cx="5461000" cy="254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62FEB82-1846-4940-B108-D59F0D8B9365}"/>
              </a:ext>
            </a:extLst>
          </p:cNvPr>
          <p:cNvSpPr/>
          <p:nvPr/>
        </p:nvSpPr>
        <p:spPr>
          <a:xfrm>
            <a:off x="698500" y="1397000"/>
            <a:ext cx="533400" cy="533400"/>
          </a:xfrm>
          <a:prstGeom prst="ellipse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M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2C294D-DC92-1745-89FF-86F091B66BED}"/>
              </a:ext>
            </a:extLst>
          </p:cNvPr>
          <p:cNvSpPr txBox="1"/>
          <p:nvPr/>
        </p:nvSpPr>
        <p:spPr>
          <a:xfrm>
            <a:off x="1371600" y="13970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모터가 하는 일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7557C6-3A5C-A249-A592-6C988B7A0FB7}"/>
              </a:ext>
            </a:extLst>
          </p:cNvPr>
          <p:cNvSpPr txBox="1"/>
          <p:nvPr/>
        </p:nvSpPr>
        <p:spPr>
          <a:xfrm>
            <a:off x="762000" y="1968500"/>
            <a:ext cx="5016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전기를 받아서 프로펠러를
빙글빙글 돌려주는 장치예요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모터가 없으면 프로펠러가
돌 수 없어요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B2753EE-4AD0-2049-A2EB-2FD51CC13D94}"/>
              </a:ext>
            </a:extLst>
          </p:cNvPr>
          <p:cNvSpPr/>
          <p:nvPr/>
        </p:nvSpPr>
        <p:spPr>
          <a:xfrm>
            <a:off x="6286500" y="1206500"/>
            <a:ext cx="5461000" cy="254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F11EEE6-D490-C049-893C-587E2FFBF33D}"/>
              </a:ext>
            </a:extLst>
          </p:cNvPr>
          <p:cNvSpPr/>
          <p:nvPr/>
        </p:nvSpPr>
        <p:spPr>
          <a:xfrm>
            <a:off x="6477000" y="1397000"/>
            <a:ext cx="533400" cy="533400"/>
          </a:xfrm>
          <a:prstGeom prst="ellipse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B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8963C7-B664-1843-8C92-84C19E290724}"/>
              </a:ext>
            </a:extLst>
          </p:cNvPr>
          <p:cNvSpPr txBox="1"/>
          <p:nvPr/>
        </p:nvSpPr>
        <p:spPr>
          <a:xfrm>
            <a:off x="7150100" y="13970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BLDC </a:t>
            </a:r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모터가 뭐예요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?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4AD5E1-0E36-3B4A-AA14-80E8DD6C8606}"/>
              </a:ext>
            </a:extLst>
          </p:cNvPr>
          <p:cNvSpPr txBox="1"/>
          <p:nvPr/>
        </p:nvSpPr>
        <p:spPr>
          <a:xfrm>
            <a:off x="6540500" y="1968500"/>
            <a:ext cx="5016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BLDC =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브러시리스 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DC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모터
브러시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)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가 없어서
오래 써도 잘 안 닳아요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조용하고 효율이 좋아요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DEB6982-851F-6548-B7E6-925E363F1A96}"/>
              </a:ext>
            </a:extLst>
          </p:cNvPr>
          <p:cNvSpPr/>
          <p:nvPr/>
        </p:nvSpPr>
        <p:spPr>
          <a:xfrm>
            <a:off x="508000" y="3937000"/>
            <a:ext cx="11239500" cy="2603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32B685D-D8EF-944E-9A78-3015AC37DAC7}"/>
              </a:ext>
            </a:extLst>
          </p:cNvPr>
          <p:cNvSpPr/>
          <p:nvPr/>
        </p:nvSpPr>
        <p:spPr>
          <a:xfrm>
            <a:off x="698500" y="4127500"/>
            <a:ext cx="533400" cy="533400"/>
          </a:xfrm>
          <a:prstGeom prst="ellipse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!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8EC5ED-7BB9-E94B-BFA2-BF2EDDE4562B}"/>
              </a:ext>
            </a:extLst>
          </p:cNvPr>
          <p:cNvSpPr txBox="1"/>
          <p:nvPr/>
        </p:nvSpPr>
        <p:spPr>
          <a:xfrm>
            <a:off x="1371600" y="4127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모터는 어떻게 작동할까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?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7456AD-5814-464B-8E70-58585F5ACDC0}"/>
              </a:ext>
            </a:extLst>
          </p:cNvPr>
          <p:cNvSpPr txBox="1"/>
          <p:nvPr/>
        </p:nvSpPr>
        <p:spPr>
          <a:xfrm>
            <a:off x="762000" y="4762500"/>
            <a:ext cx="10731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배터리 → 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ESC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가 전기 신호 변환 → 모터 안의 자석이 회전 → 프로펠러 빙글빙글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FC(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비행 컨트롤러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)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가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"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빨리 돌아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!"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명령 → 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ESC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가 모터에 전달해요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397234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0FCA5D0-75E2-D44C-8F74-93A9F6E90CA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3461320-ADAC-0B4B-A932-0D20FF035977}"/>
              </a:ext>
            </a:extLst>
          </p:cNvPr>
          <p:cNvSpPr/>
          <p:nvPr/>
        </p:nvSpPr>
        <p:spPr>
          <a:xfrm>
            <a:off x="0" y="6705600"/>
            <a:ext cx="2044700" cy="152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B425420-56AC-E54C-888A-B678AA1B1AC9}"/>
              </a:ext>
            </a:extLst>
          </p:cNvPr>
          <p:cNvSpPr/>
          <p:nvPr/>
        </p:nvSpPr>
        <p:spPr>
          <a:xfrm>
            <a:off x="2032000" y="6705600"/>
            <a:ext cx="2044700" cy="1524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7A419B-E54D-C147-BB59-CFF6AC85FE76}"/>
              </a:ext>
            </a:extLst>
          </p:cNvPr>
          <p:cNvSpPr/>
          <p:nvPr/>
        </p:nvSpPr>
        <p:spPr>
          <a:xfrm>
            <a:off x="4064000" y="6705600"/>
            <a:ext cx="2044700" cy="152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39B434A-303B-D44B-9F53-1B73D58522E7}"/>
              </a:ext>
            </a:extLst>
          </p:cNvPr>
          <p:cNvSpPr/>
          <p:nvPr/>
        </p:nvSpPr>
        <p:spPr>
          <a:xfrm>
            <a:off x="6096000" y="6705600"/>
            <a:ext cx="2044700" cy="152400"/>
          </a:xfrm>
          <a:prstGeom prst="rect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C15E970-8778-0F4D-BB9B-F1997BB78620}"/>
              </a:ext>
            </a:extLst>
          </p:cNvPr>
          <p:cNvSpPr/>
          <p:nvPr/>
        </p:nvSpPr>
        <p:spPr>
          <a:xfrm>
            <a:off x="8128000" y="6705600"/>
            <a:ext cx="2044700" cy="152400"/>
          </a:xfrm>
          <a:prstGeom prst="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0689EE-AD4E-8E45-A381-49CD9F4D8C24}"/>
              </a:ext>
            </a:extLst>
          </p:cNvPr>
          <p:cNvSpPr/>
          <p:nvPr/>
        </p:nvSpPr>
        <p:spPr>
          <a:xfrm>
            <a:off x="10160000" y="6705600"/>
            <a:ext cx="2044700" cy="1524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9595E-DBE7-8F43-BEA5-1FC24F91CCC8}"/>
              </a:ext>
            </a:extLst>
          </p:cNvPr>
          <p:cNvSpPr txBox="1"/>
          <p:nvPr/>
        </p:nvSpPr>
        <p:spPr>
          <a:xfrm>
            <a:off x="508000" y="152400"/>
            <a:ext cx="508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프레임과 </a:t>
            </a:r>
            <a:r>
              <a:rPr lang="en" altLang="ko-Kore-KR" sz="2800" b="1">
                <a:solidFill>
                  <a:srgbClr val="1E3A5F"/>
                </a:solidFill>
                <a:latin typeface="Bahnschrift"/>
              </a:rPr>
              <a:t>FC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B7AEB6A-C323-BE43-A0E6-FDE6E5214C50}"/>
              </a:ext>
            </a:extLst>
          </p:cNvPr>
          <p:cNvSpPr/>
          <p:nvPr/>
        </p:nvSpPr>
        <p:spPr>
          <a:xfrm>
            <a:off x="508000" y="736600"/>
            <a:ext cx="2540000" cy="3302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Part 3 · </a:t>
            </a:r>
            <a:r>
              <a:rPr lang="ko-KR" altLang="en-US" sz="1400" b="1">
                <a:solidFill>
                  <a:srgbClr val="FFFFFF"/>
                </a:solidFill>
                <a:latin typeface="Bahnschrift"/>
              </a:rPr>
              <a:t>프레임과 </a:t>
            </a:r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FC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6E846AF-BE98-FC44-85CB-6BFD7A482087}"/>
              </a:ext>
            </a:extLst>
          </p:cNvPr>
          <p:cNvSpPr/>
          <p:nvPr/>
        </p:nvSpPr>
        <p:spPr>
          <a:xfrm>
            <a:off x="508000" y="1206500"/>
            <a:ext cx="5461000" cy="254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27EC4C6-DEFA-0945-BBAA-6953FEFC322F}"/>
              </a:ext>
            </a:extLst>
          </p:cNvPr>
          <p:cNvSpPr/>
          <p:nvPr/>
        </p:nvSpPr>
        <p:spPr>
          <a:xfrm>
            <a:off x="698500" y="1397000"/>
            <a:ext cx="533400" cy="5334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F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0C7B1D-B583-B248-87F5-9225C95446DC}"/>
              </a:ext>
            </a:extLst>
          </p:cNvPr>
          <p:cNvSpPr txBox="1"/>
          <p:nvPr/>
        </p:nvSpPr>
        <p:spPr>
          <a:xfrm>
            <a:off x="1371600" y="13970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프레임 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= </a:t>
            </a:r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드론의 뼈대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FC6575-9D14-364A-BDA0-D9A1C39FF628}"/>
              </a:ext>
            </a:extLst>
          </p:cNvPr>
          <p:cNvSpPr txBox="1"/>
          <p:nvPr/>
        </p:nvSpPr>
        <p:spPr>
          <a:xfrm>
            <a:off x="762000" y="1968500"/>
            <a:ext cx="5016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모든 부품을 연결하는 틀이에요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사람의 뼈처럼 모든 것을 지탱해요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가볍고 튼튼한 재료를 써야
드론이 잘 날 수 있어요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D8D14EC-78B3-CB49-B5F4-6A39B7164903}"/>
              </a:ext>
            </a:extLst>
          </p:cNvPr>
          <p:cNvSpPr/>
          <p:nvPr/>
        </p:nvSpPr>
        <p:spPr>
          <a:xfrm>
            <a:off x="6286500" y="1206500"/>
            <a:ext cx="5461000" cy="254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4F7AC20-8C9C-B446-AA3A-FBE1CD56B5D6}"/>
              </a:ext>
            </a:extLst>
          </p:cNvPr>
          <p:cNvSpPr/>
          <p:nvPr/>
        </p:nvSpPr>
        <p:spPr>
          <a:xfrm>
            <a:off x="6477000" y="1397000"/>
            <a:ext cx="533400" cy="5334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C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172E0-D116-044E-89A7-8AC9AFD34603}"/>
              </a:ext>
            </a:extLst>
          </p:cNvPr>
          <p:cNvSpPr txBox="1"/>
          <p:nvPr/>
        </p:nvSpPr>
        <p:spPr>
          <a:xfrm>
            <a:off x="7150100" y="13970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FC = </a:t>
            </a:r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드론의 두뇌</a:t>
            </a:r>
            <a:r>
              <a:rPr lang="en-US" altLang="ko-KR" sz="1700" b="1">
                <a:solidFill>
                  <a:srgbClr val="1E3A5F"/>
                </a:solidFill>
                <a:latin typeface="Bahnschrift"/>
              </a:rPr>
              <a:t>!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DA7545-E036-FC41-B2C7-9C2C1C5E4755}"/>
              </a:ext>
            </a:extLst>
          </p:cNvPr>
          <p:cNvSpPr txBox="1"/>
          <p:nvPr/>
        </p:nvSpPr>
        <p:spPr>
          <a:xfrm>
            <a:off x="6540500" y="1968500"/>
            <a:ext cx="5016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비행 컨트롤러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FC)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는
드론의 뇌 역할을 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센서로 기울기를 느끼고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,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모터 속도를 조절해서 균형을 잡아요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04A8DC3-ACA8-CB4E-8D6E-536C54D8BD93}"/>
              </a:ext>
            </a:extLst>
          </p:cNvPr>
          <p:cNvSpPr/>
          <p:nvPr/>
        </p:nvSpPr>
        <p:spPr>
          <a:xfrm>
            <a:off x="508000" y="3937000"/>
            <a:ext cx="11239500" cy="2603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B4D70353-7CEE-EB47-8422-E76EABD03926}"/>
              </a:ext>
            </a:extLst>
          </p:cNvPr>
          <p:cNvSpPr/>
          <p:nvPr/>
        </p:nvSpPr>
        <p:spPr>
          <a:xfrm>
            <a:off x="698500" y="4127500"/>
            <a:ext cx="533400" cy="533400"/>
          </a:xfrm>
          <a:prstGeom prst="ellipse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S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18A010-140E-164B-BF69-B3716589A461}"/>
              </a:ext>
            </a:extLst>
          </p:cNvPr>
          <p:cNvSpPr txBox="1"/>
          <p:nvPr/>
        </p:nvSpPr>
        <p:spPr>
          <a:xfrm>
            <a:off x="1371600" y="4127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FC </a:t>
            </a:r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안에 들어있는 센서들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EC8584-47D7-6A47-B895-60CFA03241C2}"/>
              </a:ext>
            </a:extLst>
          </p:cNvPr>
          <p:cNvSpPr txBox="1"/>
          <p:nvPr/>
        </p:nvSpPr>
        <p:spPr>
          <a:xfrm>
            <a:off x="762000" y="4762500"/>
            <a:ext cx="10731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자이로 센서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드론이 얼마나 기울어졌는지 알려줘요
가속도 센서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얼마나 빠르게 움직이는지 알려줘요
기압 센서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얼마나 높이 떠있는지 알려줘요
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GPS: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드론이 어디에 있는지 알려줘요 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네비처럼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!)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4036456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BB01C79-5BCF-244D-8017-7848690CC41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FA5896-6690-3444-A8C2-7CE3CE2827A5}"/>
              </a:ext>
            </a:extLst>
          </p:cNvPr>
          <p:cNvSpPr/>
          <p:nvPr/>
        </p:nvSpPr>
        <p:spPr>
          <a:xfrm>
            <a:off x="0" y="6705600"/>
            <a:ext cx="2044700" cy="152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EC54F8-79CB-BB46-A32F-DB01BAFF39F9}"/>
              </a:ext>
            </a:extLst>
          </p:cNvPr>
          <p:cNvSpPr/>
          <p:nvPr/>
        </p:nvSpPr>
        <p:spPr>
          <a:xfrm>
            <a:off x="2032000" y="6705600"/>
            <a:ext cx="2044700" cy="1524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6A9181-37DD-4548-9477-39BA84699A2C}"/>
              </a:ext>
            </a:extLst>
          </p:cNvPr>
          <p:cNvSpPr/>
          <p:nvPr/>
        </p:nvSpPr>
        <p:spPr>
          <a:xfrm>
            <a:off x="4064000" y="6705600"/>
            <a:ext cx="2044700" cy="152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D2FFBDD-7D52-4C43-AA2E-45AEF5B8EF84}"/>
              </a:ext>
            </a:extLst>
          </p:cNvPr>
          <p:cNvSpPr/>
          <p:nvPr/>
        </p:nvSpPr>
        <p:spPr>
          <a:xfrm>
            <a:off x="6096000" y="6705600"/>
            <a:ext cx="2044700" cy="152400"/>
          </a:xfrm>
          <a:prstGeom prst="rect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1E4AB9-FD72-4548-8B1B-B0CCFAD0C6E4}"/>
              </a:ext>
            </a:extLst>
          </p:cNvPr>
          <p:cNvSpPr/>
          <p:nvPr/>
        </p:nvSpPr>
        <p:spPr>
          <a:xfrm>
            <a:off x="8128000" y="6705600"/>
            <a:ext cx="2044700" cy="152400"/>
          </a:xfrm>
          <a:prstGeom prst="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987816-3574-AB4A-A532-F41FF089711F}"/>
              </a:ext>
            </a:extLst>
          </p:cNvPr>
          <p:cNvSpPr/>
          <p:nvPr/>
        </p:nvSpPr>
        <p:spPr>
          <a:xfrm>
            <a:off x="10160000" y="6705600"/>
            <a:ext cx="2044700" cy="1524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9B358C-E46B-7147-8DB8-4AABB906CFC5}"/>
              </a:ext>
            </a:extLst>
          </p:cNvPr>
          <p:cNvSpPr txBox="1"/>
          <p:nvPr/>
        </p:nvSpPr>
        <p:spPr>
          <a:xfrm>
            <a:off x="508000" y="152400"/>
            <a:ext cx="508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배터리와 </a:t>
            </a:r>
            <a:r>
              <a:rPr lang="en" altLang="ko-Kore-KR" sz="2800" b="1">
                <a:solidFill>
                  <a:srgbClr val="1E3A5F"/>
                </a:solidFill>
                <a:latin typeface="Bahnschrift"/>
              </a:rPr>
              <a:t>ESC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5E9CC80-1407-2941-8C82-50AC41B07AD5}"/>
              </a:ext>
            </a:extLst>
          </p:cNvPr>
          <p:cNvSpPr/>
          <p:nvPr/>
        </p:nvSpPr>
        <p:spPr>
          <a:xfrm>
            <a:off x="508000" y="736600"/>
            <a:ext cx="2667000" cy="330200"/>
          </a:xfrm>
          <a:prstGeom prst="round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Part 4 · </a:t>
            </a:r>
            <a:r>
              <a:rPr lang="ko-KR" altLang="en-US" sz="1400" b="1">
                <a:solidFill>
                  <a:srgbClr val="FFFFFF"/>
                </a:solidFill>
                <a:latin typeface="Bahnschrift"/>
              </a:rPr>
              <a:t>배터리와 </a:t>
            </a:r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ESC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5235F3F-A58E-E24B-8489-3B764207301D}"/>
              </a:ext>
            </a:extLst>
          </p:cNvPr>
          <p:cNvSpPr/>
          <p:nvPr/>
        </p:nvSpPr>
        <p:spPr>
          <a:xfrm>
            <a:off x="508000" y="1206500"/>
            <a:ext cx="5461000" cy="254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BFDE7C2-9322-1246-BEEB-853D27AF71DC}"/>
              </a:ext>
            </a:extLst>
          </p:cNvPr>
          <p:cNvSpPr/>
          <p:nvPr/>
        </p:nvSpPr>
        <p:spPr>
          <a:xfrm>
            <a:off x="698500" y="1397000"/>
            <a:ext cx="533400" cy="5334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B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2CAB97-DFF4-9840-BAB5-6B6C91ABA41A}"/>
              </a:ext>
            </a:extLst>
          </p:cNvPr>
          <p:cNvSpPr txBox="1"/>
          <p:nvPr/>
        </p:nvSpPr>
        <p:spPr>
          <a:xfrm>
            <a:off x="1371600" y="13970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LiPo </a:t>
            </a:r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배터리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70FAC7-5EB5-B843-9DA6-326E9297307E}"/>
              </a:ext>
            </a:extLst>
          </p:cNvPr>
          <p:cNvSpPr txBox="1"/>
          <p:nvPr/>
        </p:nvSpPr>
        <p:spPr>
          <a:xfrm>
            <a:off x="762000" y="1968500"/>
            <a:ext cx="5016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리튬 폴리머 배터리는
드론의 에너지원이에요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가볍지만 많은 전기를 저장할 수 있어서
드론에 딱 맞아요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12329437-F7C0-6E4C-9524-F57F65E2C58C}"/>
              </a:ext>
            </a:extLst>
          </p:cNvPr>
          <p:cNvSpPr/>
          <p:nvPr/>
        </p:nvSpPr>
        <p:spPr>
          <a:xfrm>
            <a:off x="6286500" y="1206500"/>
            <a:ext cx="5461000" cy="2540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C88CFC1-2AFE-1447-ACC3-5E0B5751240D}"/>
              </a:ext>
            </a:extLst>
          </p:cNvPr>
          <p:cNvSpPr/>
          <p:nvPr/>
        </p:nvSpPr>
        <p:spPr>
          <a:xfrm>
            <a:off x="6477000" y="1397000"/>
            <a:ext cx="533400" cy="533400"/>
          </a:xfrm>
          <a:prstGeom prst="ellipse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b="1">
                <a:solidFill>
                  <a:srgbClr val="FFFFFF"/>
                </a:solidFill>
                <a:latin typeface="Bahnschrift"/>
              </a:rPr>
              <a:t>E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A55667-A080-A244-B8DC-772F84302EFB}"/>
              </a:ext>
            </a:extLst>
          </p:cNvPr>
          <p:cNvSpPr txBox="1"/>
          <p:nvPr/>
        </p:nvSpPr>
        <p:spPr>
          <a:xfrm>
            <a:off x="7150100" y="1397000"/>
            <a:ext cx="4381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700" b="1">
                <a:solidFill>
                  <a:srgbClr val="1E3A5F"/>
                </a:solidFill>
                <a:latin typeface="Bahnschrift"/>
              </a:rPr>
              <a:t>ESC = </a:t>
            </a:r>
            <a:r>
              <a:rPr lang="ko-KR" altLang="en-US" sz="1700" b="1">
                <a:solidFill>
                  <a:srgbClr val="1E3A5F"/>
                </a:solidFill>
                <a:latin typeface="Bahnschrift"/>
              </a:rPr>
              <a:t>속도 제어기</a:t>
            </a:r>
            <a:endParaRPr lang="ko-Kore-KR" altLang="en-US" sz="17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FEB4FE-48D1-0A41-B744-850D3D0B35FB}"/>
              </a:ext>
            </a:extLst>
          </p:cNvPr>
          <p:cNvSpPr txBox="1"/>
          <p:nvPr/>
        </p:nvSpPr>
        <p:spPr>
          <a:xfrm>
            <a:off x="6540500" y="1968500"/>
            <a:ext cx="5016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ESC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는 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FC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의 명령을 받아서
모터 속도를 조절해요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"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빨리 돌아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!" "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천천히 돌아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!"
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이런 명령을 전기 신호로 바꿔줘요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DBDE1D73-280B-A347-A7C5-BB7959FFB724}"/>
              </a:ext>
            </a:extLst>
          </p:cNvPr>
          <p:cNvSpPr/>
          <p:nvPr/>
        </p:nvSpPr>
        <p:spPr>
          <a:xfrm>
            <a:off x="508000" y="3937000"/>
            <a:ext cx="11239500" cy="2603500"/>
          </a:xfrm>
          <a:prstGeom prst="roundRect">
            <a:avLst/>
          </a:prstGeom>
          <a:solidFill>
            <a:srgbClr val="FFF3E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D02F373-373F-024F-90BD-E2D9E39876AA}"/>
              </a:ext>
            </a:extLst>
          </p:cNvPr>
          <p:cNvSpPr/>
          <p:nvPr/>
        </p:nvSpPr>
        <p:spPr>
          <a:xfrm>
            <a:off x="698500" y="4127500"/>
            <a:ext cx="533400" cy="533400"/>
          </a:xfrm>
          <a:prstGeom prst="ellipse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b="1">
                <a:solidFill>
                  <a:srgbClr val="FFFFFF"/>
                </a:solidFill>
                <a:latin typeface="Bahnschrift"/>
              </a:rPr>
              <a:t>!</a:t>
            </a:r>
            <a:endParaRPr lang="ko-Kore-KR" altLang="en-US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E94864-E3C0-5D42-8268-CAF4B904D866}"/>
              </a:ext>
            </a:extLst>
          </p:cNvPr>
          <p:cNvSpPr txBox="1"/>
          <p:nvPr/>
        </p:nvSpPr>
        <p:spPr>
          <a:xfrm>
            <a:off x="1371600" y="4127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700" b="1">
                <a:solidFill>
                  <a:srgbClr val="E74C3C"/>
                </a:solidFill>
                <a:latin typeface="Bahnschrift"/>
              </a:rPr>
              <a:t>배터리 안전 수칙</a:t>
            </a:r>
            <a:r>
              <a:rPr lang="en-US" altLang="ko-KR" sz="1700" b="1">
                <a:solidFill>
                  <a:srgbClr val="E74C3C"/>
                </a:solidFill>
                <a:latin typeface="Bahnschrift"/>
              </a:rPr>
              <a:t>!</a:t>
            </a:r>
            <a:endParaRPr lang="ko-Kore-KR" altLang="en-US" sz="1700" b="1">
              <a:solidFill>
                <a:srgbClr val="E74C3C"/>
              </a:solidFill>
              <a:latin typeface="Bahnschrif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61A22-B78A-2347-B00E-E194A4A00270}"/>
              </a:ext>
            </a:extLst>
          </p:cNvPr>
          <p:cNvSpPr txBox="1"/>
          <p:nvPr/>
        </p:nvSpPr>
        <p:spPr>
          <a:xfrm>
            <a:off x="762000" y="4762500"/>
            <a:ext cx="10731500" cy="158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500">
                <a:solidFill>
                  <a:srgbClr val="2D3436"/>
                </a:solidFill>
                <a:latin typeface="Bahnschrift"/>
              </a:rPr>
              <a:t>1.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배터리를 떨어뜨리거나 찌르면 안 돼요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 (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폭발 위험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)
2.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너무 많이 충전하거나 너무 방전하면 안 돼요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
3.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사용하지 않을 때는 서늘한 곳에 보관해요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.
4.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배터리가 부풀어 오르면 절대 사용 금지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선생님께 알려주세요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!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10771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B647770-5385-F94E-9B0D-AA0813DEA64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2365D7-B72B-D14F-8E9D-B88EF53A81E3}"/>
              </a:ext>
            </a:extLst>
          </p:cNvPr>
          <p:cNvSpPr/>
          <p:nvPr/>
        </p:nvSpPr>
        <p:spPr>
          <a:xfrm>
            <a:off x="0" y="6705600"/>
            <a:ext cx="2044700" cy="152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61D95A-E797-8B4F-9C86-74E5B4BDFE52}"/>
              </a:ext>
            </a:extLst>
          </p:cNvPr>
          <p:cNvSpPr/>
          <p:nvPr/>
        </p:nvSpPr>
        <p:spPr>
          <a:xfrm>
            <a:off x="2032000" y="6705600"/>
            <a:ext cx="2044700" cy="1524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5F3211C-5C77-5649-8F4F-40A63B5A0B2B}"/>
              </a:ext>
            </a:extLst>
          </p:cNvPr>
          <p:cNvSpPr/>
          <p:nvPr/>
        </p:nvSpPr>
        <p:spPr>
          <a:xfrm>
            <a:off x="4064000" y="6705600"/>
            <a:ext cx="2044700" cy="152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F469A39-1747-9A49-AF20-A751241DD78F}"/>
              </a:ext>
            </a:extLst>
          </p:cNvPr>
          <p:cNvSpPr/>
          <p:nvPr/>
        </p:nvSpPr>
        <p:spPr>
          <a:xfrm>
            <a:off x="6096000" y="6705600"/>
            <a:ext cx="2044700" cy="152400"/>
          </a:xfrm>
          <a:prstGeom prst="rect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54D8D9-9480-CD4B-A588-38A489B9FB5E}"/>
              </a:ext>
            </a:extLst>
          </p:cNvPr>
          <p:cNvSpPr/>
          <p:nvPr/>
        </p:nvSpPr>
        <p:spPr>
          <a:xfrm>
            <a:off x="8128000" y="6705600"/>
            <a:ext cx="2044700" cy="152400"/>
          </a:xfrm>
          <a:prstGeom prst="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9CA812-42F0-FF40-882F-459D04072292}"/>
              </a:ext>
            </a:extLst>
          </p:cNvPr>
          <p:cNvSpPr/>
          <p:nvPr/>
        </p:nvSpPr>
        <p:spPr>
          <a:xfrm>
            <a:off x="10160000" y="6705600"/>
            <a:ext cx="2044700" cy="1524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2F3C9-64F2-2D4E-8C46-3AD45BAE4E02}"/>
              </a:ext>
            </a:extLst>
          </p:cNvPr>
          <p:cNvSpPr txBox="1"/>
          <p:nvPr/>
        </p:nvSpPr>
        <p:spPr>
          <a:xfrm>
            <a:off x="2540000" y="152400"/>
            <a:ext cx="711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드론의 구조 한눈에 보기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7A364EC-239D-124C-BD12-A4EE3F69A9CE}"/>
              </a:ext>
            </a:extLst>
          </p:cNvPr>
          <p:cNvSpPr/>
          <p:nvPr/>
        </p:nvSpPr>
        <p:spPr>
          <a:xfrm>
            <a:off x="889000" y="2222500"/>
            <a:ext cx="2032000" cy="952500"/>
          </a:xfrm>
          <a:prstGeom prst="round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배터리
전기 공급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90431A01-D647-8D4F-A93F-D3BD407EBC4B}"/>
              </a:ext>
            </a:extLst>
          </p:cNvPr>
          <p:cNvSpPr/>
          <p:nvPr/>
        </p:nvSpPr>
        <p:spPr>
          <a:xfrm>
            <a:off x="2984500" y="2546350"/>
            <a:ext cx="317500" cy="304800"/>
          </a:xfrm>
          <a:prstGeom prst="rightArrow">
            <a:avLst/>
          </a:prstGeom>
          <a:solidFill>
            <a:srgbClr val="BDC3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784081A-2523-004A-BA1E-7C7D83E87BE5}"/>
              </a:ext>
            </a:extLst>
          </p:cNvPr>
          <p:cNvSpPr/>
          <p:nvPr/>
        </p:nvSpPr>
        <p:spPr>
          <a:xfrm>
            <a:off x="3365500" y="2222500"/>
            <a:ext cx="2032000" cy="9525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ko-Kore-KR" sz="1600" b="1">
                <a:solidFill>
                  <a:srgbClr val="FFFFFF"/>
                </a:solidFill>
                <a:latin typeface="Bahnschrift"/>
              </a:rPr>
              <a:t>ESC
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속도 조절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3" name="오른쪽 화살표[R] 12">
            <a:extLst>
              <a:ext uri="{FF2B5EF4-FFF2-40B4-BE49-F238E27FC236}">
                <a16:creationId xmlns:a16="http://schemas.microsoft.com/office/drawing/2014/main" id="{A49CF06A-9FE2-5E49-BB92-CED83345EDA7}"/>
              </a:ext>
            </a:extLst>
          </p:cNvPr>
          <p:cNvSpPr/>
          <p:nvPr/>
        </p:nvSpPr>
        <p:spPr>
          <a:xfrm>
            <a:off x="5461000" y="2546350"/>
            <a:ext cx="317500" cy="304800"/>
          </a:xfrm>
          <a:prstGeom prst="rightArrow">
            <a:avLst/>
          </a:prstGeom>
          <a:solidFill>
            <a:srgbClr val="BDC3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A9E58442-9EC7-FC43-9F19-B1D2CA3CA113}"/>
              </a:ext>
            </a:extLst>
          </p:cNvPr>
          <p:cNvSpPr/>
          <p:nvPr/>
        </p:nvSpPr>
        <p:spPr>
          <a:xfrm>
            <a:off x="5842000" y="2222500"/>
            <a:ext cx="2032000" cy="9525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모터
회전 동력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71B6DC3F-C5F0-964F-841E-BF131BE23AA4}"/>
              </a:ext>
            </a:extLst>
          </p:cNvPr>
          <p:cNvSpPr/>
          <p:nvPr/>
        </p:nvSpPr>
        <p:spPr>
          <a:xfrm>
            <a:off x="7937500" y="2546350"/>
            <a:ext cx="317500" cy="304800"/>
          </a:xfrm>
          <a:prstGeom prst="rightArrow">
            <a:avLst/>
          </a:prstGeom>
          <a:solidFill>
            <a:srgbClr val="BDC3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3A012D9-F1FD-8744-B2B6-7805E2477861}"/>
              </a:ext>
            </a:extLst>
          </p:cNvPr>
          <p:cNvSpPr/>
          <p:nvPr/>
        </p:nvSpPr>
        <p:spPr>
          <a:xfrm>
            <a:off x="8318500" y="2222500"/>
            <a:ext cx="2032000" cy="952500"/>
          </a:xfrm>
          <a:prstGeom prst="round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프로펠러
양력 생성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5D47E2F-9A7D-0F45-94B4-AB57B0CD77B1}"/>
              </a:ext>
            </a:extLst>
          </p:cNvPr>
          <p:cNvSpPr/>
          <p:nvPr/>
        </p:nvSpPr>
        <p:spPr>
          <a:xfrm>
            <a:off x="4699000" y="1016000"/>
            <a:ext cx="2794000" cy="698500"/>
          </a:xfrm>
          <a:prstGeom prst="roundRect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FC (</a:t>
            </a:r>
            <a:r>
              <a:rPr lang="ko-KR" altLang="en-US" sz="1400" b="1">
                <a:solidFill>
                  <a:srgbClr val="FFFFFF"/>
                </a:solidFill>
                <a:latin typeface="Bahnschrift"/>
              </a:rPr>
              <a:t>비행 컨트롤러</a:t>
            </a:r>
            <a:r>
              <a:rPr lang="en-US" altLang="ko-KR" sz="1400" b="1">
                <a:solidFill>
                  <a:srgbClr val="FFFFFF"/>
                </a:solidFill>
                <a:latin typeface="Bahnschrift"/>
              </a:rPr>
              <a:t>) = </a:t>
            </a:r>
            <a:r>
              <a:rPr lang="ko-KR" altLang="en-US" sz="1400" b="1">
                <a:solidFill>
                  <a:srgbClr val="FFFFFF"/>
                </a:solidFill>
                <a:latin typeface="Bahnschrift"/>
              </a:rPr>
              <a:t>드론의 두뇌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8" name="아래쪽 화살표[D] 17">
            <a:extLst>
              <a:ext uri="{FF2B5EF4-FFF2-40B4-BE49-F238E27FC236}">
                <a16:creationId xmlns:a16="http://schemas.microsoft.com/office/drawing/2014/main" id="{04C3B82F-75D8-1140-8694-0120CC64C1C0}"/>
              </a:ext>
            </a:extLst>
          </p:cNvPr>
          <p:cNvSpPr/>
          <p:nvPr/>
        </p:nvSpPr>
        <p:spPr>
          <a:xfrm>
            <a:off x="5943600" y="1739900"/>
            <a:ext cx="304800" cy="381000"/>
          </a:xfrm>
          <a:prstGeom prst="downArrow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B7FBF4E-8038-8941-AA86-1ED20619BAD5}"/>
              </a:ext>
            </a:extLst>
          </p:cNvPr>
          <p:cNvSpPr/>
          <p:nvPr/>
        </p:nvSpPr>
        <p:spPr>
          <a:xfrm>
            <a:off x="1905000" y="3492500"/>
            <a:ext cx="8128000" cy="5715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2D3436"/>
                </a:solidFill>
                <a:latin typeface="Bahnschrift"/>
              </a:rPr>
              <a:t>프레임 </a:t>
            </a:r>
            <a:r>
              <a:rPr lang="en-US" altLang="ko-KR" sz="1600" b="1">
                <a:solidFill>
                  <a:srgbClr val="2D3436"/>
                </a:solidFill>
                <a:latin typeface="Bahnschrift"/>
              </a:rPr>
              <a:t>(</a:t>
            </a:r>
            <a:r>
              <a:rPr lang="ko-KR" altLang="en-US" sz="1600" b="1">
                <a:solidFill>
                  <a:srgbClr val="2D3436"/>
                </a:solidFill>
                <a:latin typeface="Bahnschrift"/>
              </a:rPr>
              <a:t>뼈대</a:t>
            </a:r>
            <a:r>
              <a:rPr lang="en-US" altLang="ko-KR" sz="1600" b="1">
                <a:solidFill>
                  <a:srgbClr val="2D3436"/>
                </a:solidFill>
                <a:latin typeface="Bahnschrift"/>
              </a:rPr>
              <a:t>) — </a:t>
            </a:r>
            <a:r>
              <a:rPr lang="ko-KR" altLang="en-US" sz="1600" b="1">
                <a:solidFill>
                  <a:srgbClr val="2D3436"/>
                </a:solidFill>
                <a:latin typeface="Bahnschrift"/>
              </a:rPr>
              <a:t>모든 부품을 연결하고 지탱해요</a:t>
            </a:r>
            <a:r>
              <a:rPr lang="en-US" altLang="ko-KR" sz="1600" b="1">
                <a:solidFill>
                  <a:srgbClr val="2D3436"/>
                </a:solidFill>
                <a:latin typeface="Bahnschrift"/>
              </a:rPr>
              <a:t>!</a:t>
            </a:r>
            <a:endParaRPr lang="ko-Kore-KR" altLang="en-US" sz="1600" b="1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CE97E2-42AA-6941-BC51-3F8B1D5BA252}"/>
              </a:ext>
            </a:extLst>
          </p:cNvPr>
          <p:cNvSpPr txBox="1"/>
          <p:nvPr/>
        </p:nvSpPr>
        <p:spPr>
          <a:xfrm>
            <a:off x="762000" y="4381500"/>
            <a:ext cx="1066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000" b="1">
                <a:solidFill>
                  <a:srgbClr val="4A90D9"/>
                </a:solidFill>
                <a:latin typeface="Bahnschrift"/>
              </a:rPr>
              <a:t>사람 몸으로 비유하면</a:t>
            </a:r>
            <a:r>
              <a:rPr lang="en-US" altLang="ko-KR" sz="2000" b="1">
                <a:solidFill>
                  <a:srgbClr val="4A90D9"/>
                </a:solidFill>
                <a:latin typeface="Bahnschrift"/>
              </a:rPr>
              <a:t>?</a:t>
            </a:r>
            <a:endParaRPr lang="ko-Kore-KR" altLang="en-US" sz="2000" b="1">
              <a:solidFill>
                <a:srgbClr val="4A90D9"/>
              </a:solidFill>
              <a:latin typeface="Bahnschrift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58470D60-027D-4C49-A4A1-2D995A224F5C}"/>
              </a:ext>
            </a:extLst>
          </p:cNvPr>
          <p:cNvSpPr/>
          <p:nvPr/>
        </p:nvSpPr>
        <p:spPr>
          <a:xfrm>
            <a:off x="762000" y="4953000"/>
            <a:ext cx="2095500" cy="698500"/>
          </a:xfrm>
          <a:prstGeom prst="round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배터리 </a:t>
            </a:r>
            <a:r>
              <a:rPr lang="en-US" altLang="ko-KR" sz="1600" b="1">
                <a:solidFill>
                  <a:srgbClr val="FFFFFF"/>
                </a:solidFill>
                <a:latin typeface="Bahnschrift"/>
              </a:rPr>
              <a:t>= 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밥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77A50547-B779-164E-AFC3-A4CECEDC63D2}"/>
              </a:ext>
            </a:extLst>
          </p:cNvPr>
          <p:cNvSpPr/>
          <p:nvPr/>
        </p:nvSpPr>
        <p:spPr>
          <a:xfrm>
            <a:off x="2984500" y="4953000"/>
            <a:ext cx="2095500" cy="698500"/>
          </a:xfrm>
          <a:prstGeom prst="roundRect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ko-Kore-KR" sz="1600" b="1">
                <a:solidFill>
                  <a:srgbClr val="FFFFFF"/>
                </a:solidFill>
                <a:latin typeface="Bahnschrift"/>
              </a:rPr>
              <a:t>FC = 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뇌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362294CD-3D20-1844-BBD5-683DDD31F9CB}"/>
              </a:ext>
            </a:extLst>
          </p:cNvPr>
          <p:cNvSpPr/>
          <p:nvPr/>
        </p:nvSpPr>
        <p:spPr>
          <a:xfrm>
            <a:off x="5207000" y="4953000"/>
            <a:ext cx="2095500" cy="698500"/>
          </a:xfrm>
          <a:prstGeom prst="round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모터 </a:t>
            </a:r>
            <a:r>
              <a:rPr lang="en-US" altLang="ko-KR" sz="1600" b="1">
                <a:solidFill>
                  <a:srgbClr val="FFFFFF"/>
                </a:solidFill>
                <a:latin typeface="Bahnschrift"/>
              </a:rPr>
              <a:t>= 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근육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5EAEF04-B51C-604E-8682-DE0FED377503}"/>
              </a:ext>
            </a:extLst>
          </p:cNvPr>
          <p:cNvSpPr/>
          <p:nvPr/>
        </p:nvSpPr>
        <p:spPr>
          <a:xfrm>
            <a:off x="7429500" y="4953000"/>
            <a:ext cx="2095500" cy="698500"/>
          </a:xfrm>
          <a:prstGeom prst="round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프로펠러 </a:t>
            </a:r>
            <a:r>
              <a:rPr lang="en-US" altLang="ko-KR" sz="1600" b="1">
                <a:solidFill>
                  <a:srgbClr val="FFFFFF"/>
                </a:solidFill>
                <a:latin typeface="Bahnschrift"/>
              </a:rPr>
              <a:t>= 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손발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2361B2F9-7AF8-0D4C-AD15-E295CFA41F63}"/>
              </a:ext>
            </a:extLst>
          </p:cNvPr>
          <p:cNvSpPr/>
          <p:nvPr/>
        </p:nvSpPr>
        <p:spPr>
          <a:xfrm>
            <a:off x="9652000" y="4953000"/>
            <a:ext cx="2095500" cy="698500"/>
          </a:xfrm>
          <a:prstGeom prst="round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프레임 </a:t>
            </a:r>
            <a:r>
              <a:rPr lang="en-US" altLang="ko-KR" sz="1600" b="1">
                <a:solidFill>
                  <a:srgbClr val="FFFFFF"/>
                </a:solidFill>
                <a:latin typeface="Bahnschrift"/>
              </a:rPr>
              <a:t>= 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뼈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A1397B-79DF-F94A-8E07-A8FB9C38B7D1}"/>
              </a:ext>
            </a:extLst>
          </p:cNvPr>
          <p:cNvSpPr txBox="1"/>
          <p:nvPr/>
        </p:nvSpPr>
        <p:spPr>
          <a:xfrm>
            <a:off x="1778000" y="5905500"/>
            <a:ext cx="863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b="1">
                <a:solidFill>
                  <a:srgbClr val="1E3A5F"/>
                </a:solidFill>
                <a:latin typeface="Bahnschrift"/>
              </a:rPr>
              <a:t>이 모든 부품이 힘을 합쳐야 드론이 하늘을 날 수 있어요</a:t>
            </a:r>
            <a:r>
              <a:rPr lang="en-US" altLang="ko-KR" b="1">
                <a:solidFill>
                  <a:srgbClr val="1E3A5F"/>
                </a:solidFill>
                <a:latin typeface="Bahnschrift"/>
              </a:rPr>
              <a:t>!</a:t>
            </a:r>
            <a:endParaRPr lang="ko-Kore-KR" altLang="en-US" b="1">
              <a:solidFill>
                <a:srgbClr val="1E3A5F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388602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84D2A4-61FF-CB45-B02F-AFF71589AD5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999EEC-8537-F948-9883-E66AAB2245F6}"/>
              </a:ext>
            </a:extLst>
          </p:cNvPr>
          <p:cNvSpPr/>
          <p:nvPr/>
        </p:nvSpPr>
        <p:spPr>
          <a:xfrm>
            <a:off x="0" y="6705600"/>
            <a:ext cx="2044700" cy="152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064997-9A19-D14E-B15C-400735C29D82}"/>
              </a:ext>
            </a:extLst>
          </p:cNvPr>
          <p:cNvSpPr/>
          <p:nvPr/>
        </p:nvSpPr>
        <p:spPr>
          <a:xfrm>
            <a:off x="2032000" y="6705600"/>
            <a:ext cx="2044700" cy="1524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FDC068-86B6-E840-AF93-9300CBB8929B}"/>
              </a:ext>
            </a:extLst>
          </p:cNvPr>
          <p:cNvSpPr/>
          <p:nvPr/>
        </p:nvSpPr>
        <p:spPr>
          <a:xfrm>
            <a:off x="4064000" y="6705600"/>
            <a:ext cx="2044700" cy="152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FA6C29-D22E-844E-A5AC-D81EA0330335}"/>
              </a:ext>
            </a:extLst>
          </p:cNvPr>
          <p:cNvSpPr/>
          <p:nvPr/>
        </p:nvSpPr>
        <p:spPr>
          <a:xfrm>
            <a:off x="6096000" y="6705600"/>
            <a:ext cx="2044700" cy="152400"/>
          </a:xfrm>
          <a:prstGeom prst="rect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B6137D-D418-4547-B287-37CBC63BBEDD}"/>
              </a:ext>
            </a:extLst>
          </p:cNvPr>
          <p:cNvSpPr/>
          <p:nvPr/>
        </p:nvSpPr>
        <p:spPr>
          <a:xfrm>
            <a:off x="8128000" y="6705600"/>
            <a:ext cx="2044700" cy="152400"/>
          </a:xfrm>
          <a:prstGeom prst="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E2F52B1-249D-9F42-8DBC-2CC7A8DAFA51}"/>
              </a:ext>
            </a:extLst>
          </p:cNvPr>
          <p:cNvSpPr/>
          <p:nvPr/>
        </p:nvSpPr>
        <p:spPr>
          <a:xfrm>
            <a:off x="10160000" y="6705600"/>
            <a:ext cx="2044700" cy="1524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8D31B-06B1-824F-813E-4C50EBC76167}"/>
              </a:ext>
            </a:extLst>
          </p:cNvPr>
          <p:cNvSpPr txBox="1"/>
          <p:nvPr/>
        </p:nvSpPr>
        <p:spPr>
          <a:xfrm>
            <a:off x="3556000" y="317500"/>
            <a:ext cx="508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3600" b="1">
                <a:solidFill>
                  <a:srgbClr val="FFFFFF"/>
                </a:solidFill>
                <a:latin typeface="Bahnschrift"/>
              </a:rPr>
              <a:t>퀴즈 타임</a:t>
            </a:r>
            <a:r>
              <a:rPr lang="en-US" altLang="ko-KR" sz="3600" b="1">
                <a:solidFill>
                  <a:srgbClr val="FFFFFF"/>
                </a:solidFill>
                <a:latin typeface="Bahnschrift"/>
              </a:rPr>
              <a:t>!</a:t>
            </a:r>
            <a:endParaRPr lang="ko-Kore-KR" altLang="en-US" sz="3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3AA8F-B507-6B4B-96D8-C5F1641D938A}"/>
              </a:ext>
            </a:extLst>
          </p:cNvPr>
          <p:cNvSpPr txBox="1"/>
          <p:nvPr/>
        </p:nvSpPr>
        <p:spPr>
          <a:xfrm>
            <a:off x="3810000" y="1016000"/>
            <a:ext cx="457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600">
                <a:solidFill>
                  <a:srgbClr val="95C8ED"/>
                </a:solidFill>
                <a:latin typeface="Bahnschrift"/>
              </a:rPr>
              <a:t>배운 내용을 확인해 볼까요</a:t>
            </a:r>
            <a:r>
              <a:rPr lang="en-US" altLang="ko-KR" sz="1600">
                <a:solidFill>
                  <a:srgbClr val="95C8ED"/>
                </a:solidFill>
                <a:latin typeface="Bahnschrift"/>
              </a:rPr>
              <a:t>?</a:t>
            </a:r>
            <a:endParaRPr lang="ko-Kore-KR" altLang="en-US" sz="1600">
              <a:solidFill>
                <a:srgbClr val="95C8ED"/>
              </a:solidFill>
              <a:latin typeface="Bahnschrift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5BDB86B-A455-6441-9504-5187128C7D09}"/>
              </a:ext>
            </a:extLst>
          </p:cNvPr>
          <p:cNvSpPr/>
          <p:nvPr/>
        </p:nvSpPr>
        <p:spPr>
          <a:xfrm>
            <a:off x="508000" y="1460500"/>
            <a:ext cx="5461000" cy="2413000"/>
          </a:xfrm>
          <a:prstGeom prst="roundRect">
            <a:avLst/>
          </a:prstGeom>
          <a:solidFill>
            <a:srgbClr val="2C52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028C34-50E4-DE47-93A2-FCDCA0D71404}"/>
              </a:ext>
            </a:extLst>
          </p:cNvPr>
          <p:cNvSpPr/>
          <p:nvPr/>
        </p:nvSpPr>
        <p:spPr>
          <a:xfrm>
            <a:off x="508000" y="1460500"/>
            <a:ext cx="76200" cy="24130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5563274-8149-8842-83A4-44DF76025162}"/>
              </a:ext>
            </a:extLst>
          </p:cNvPr>
          <p:cNvSpPr/>
          <p:nvPr/>
        </p:nvSpPr>
        <p:spPr>
          <a:xfrm>
            <a:off x="736600" y="1651000"/>
            <a:ext cx="457200" cy="4572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  <a:latin typeface="Bahnschrift"/>
              </a:rPr>
              <a:t>1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885616-702D-AA49-BA51-D64457B90AE6}"/>
              </a:ext>
            </a:extLst>
          </p:cNvPr>
          <p:cNvSpPr txBox="1"/>
          <p:nvPr/>
        </p:nvSpPr>
        <p:spPr>
          <a:xfrm>
            <a:off x="1333500" y="16891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600" b="1">
                <a:solidFill>
                  <a:srgbClr val="FFFFFF"/>
                </a:solidFill>
                <a:latin typeface="Bahnschrift"/>
              </a:rPr>
              <a:t>Q1. 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프로펠러가 서로 반대 방향으로 도는 이유는</a:t>
            </a:r>
            <a:r>
              <a:rPr lang="en-US" altLang="ko-KR" sz="1600" b="1">
                <a:solidFill>
                  <a:srgbClr val="FFFFFF"/>
                </a:solidFill>
                <a:latin typeface="Bahnschrift"/>
              </a:rPr>
              <a:t>?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5B0757-576D-9640-8668-E90ECA8D48A2}"/>
              </a:ext>
            </a:extLst>
          </p:cNvPr>
          <p:cNvSpPr txBox="1"/>
          <p:nvPr/>
        </p:nvSpPr>
        <p:spPr>
          <a:xfrm>
            <a:off x="825500" y="2349500"/>
            <a:ext cx="48895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>
                <a:solidFill>
                  <a:srgbClr val="E8E8E8"/>
                </a:solidFill>
                <a:latin typeface="Bahnschrift"/>
              </a:rPr>
              <a:t>드론이 안 돌고 안정적으로 날기 위해서</a:t>
            </a:r>
            <a:r>
              <a:rPr lang="en-US" altLang="ko-KR">
                <a:solidFill>
                  <a:srgbClr val="E8E8E8"/>
                </a:solidFill>
                <a:latin typeface="Bahnschrift"/>
              </a:rPr>
              <a:t>!</a:t>
            </a:r>
            <a:endParaRPr lang="ko-Kore-KR" altLang="en-US">
              <a:solidFill>
                <a:srgbClr val="E8E8E8"/>
              </a:solidFill>
              <a:latin typeface="Bahnschrift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85ECDFE7-56DC-4849-9603-736C85C8B453}"/>
              </a:ext>
            </a:extLst>
          </p:cNvPr>
          <p:cNvSpPr/>
          <p:nvPr/>
        </p:nvSpPr>
        <p:spPr>
          <a:xfrm>
            <a:off x="6286500" y="1460500"/>
            <a:ext cx="5461000" cy="2413000"/>
          </a:xfrm>
          <a:prstGeom prst="roundRect">
            <a:avLst/>
          </a:prstGeom>
          <a:solidFill>
            <a:srgbClr val="2C52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4A86E3-C981-204C-8A81-09CD352B410B}"/>
              </a:ext>
            </a:extLst>
          </p:cNvPr>
          <p:cNvSpPr/>
          <p:nvPr/>
        </p:nvSpPr>
        <p:spPr>
          <a:xfrm>
            <a:off x="6286500" y="1460500"/>
            <a:ext cx="76200" cy="24130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1579CBD-83ED-C04E-9C0E-D734B02C47C7}"/>
              </a:ext>
            </a:extLst>
          </p:cNvPr>
          <p:cNvSpPr/>
          <p:nvPr/>
        </p:nvSpPr>
        <p:spPr>
          <a:xfrm>
            <a:off x="6515100" y="1651000"/>
            <a:ext cx="457200" cy="457200"/>
          </a:xfrm>
          <a:prstGeom prst="ellipse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  <a:latin typeface="Bahnschrift"/>
              </a:rPr>
              <a:t>2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EEE82C-07A4-7144-88EB-4D9DFFAEB4A1}"/>
              </a:ext>
            </a:extLst>
          </p:cNvPr>
          <p:cNvSpPr txBox="1"/>
          <p:nvPr/>
        </p:nvSpPr>
        <p:spPr>
          <a:xfrm>
            <a:off x="7112000" y="16891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600" b="1">
                <a:solidFill>
                  <a:srgbClr val="FFFFFF"/>
                </a:solidFill>
                <a:latin typeface="Bahnschrift"/>
              </a:rPr>
              <a:t>Q2. FC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는 드론에서 어떤 역할을 할까</a:t>
            </a:r>
            <a:r>
              <a:rPr lang="en-US" altLang="ko-KR" sz="1600" b="1">
                <a:solidFill>
                  <a:srgbClr val="FFFFFF"/>
                </a:solidFill>
                <a:latin typeface="Bahnschrift"/>
              </a:rPr>
              <a:t>?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9979C2-E257-904B-99CB-D178BBCBB91F}"/>
              </a:ext>
            </a:extLst>
          </p:cNvPr>
          <p:cNvSpPr txBox="1"/>
          <p:nvPr/>
        </p:nvSpPr>
        <p:spPr>
          <a:xfrm>
            <a:off x="6604000" y="2349500"/>
            <a:ext cx="48895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>
                <a:solidFill>
                  <a:srgbClr val="E8E8E8"/>
                </a:solidFill>
                <a:latin typeface="Bahnschrift"/>
              </a:rPr>
              <a:t>두뇌</a:t>
            </a:r>
            <a:r>
              <a:rPr lang="en-US" altLang="ko-KR">
                <a:solidFill>
                  <a:srgbClr val="E8E8E8"/>
                </a:solidFill>
                <a:latin typeface="Bahnschrift"/>
              </a:rPr>
              <a:t>! </a:t>
            </a:r>
            <a:r>
              <a:rPr lang="ko-KR" altLang="en-US">
                <a:solidFill>
                  <a:srgbClr val="E8E8E8"/>
                </a:solidFill>
                <a:latin typeface="Bahnschrift"/>
              </a:rPr>
              <a:t>센서로 느끼고 모터를 제어해요</a:t>
            </a:r>
            <a:r>
              <a:rPr lang="en-US" altLang="ko-KR">
                <a:solidFill>
                  <a:srgbClr val="E8E8E8"/>
                </a:solidFill>
                <a:latin typeface="Bahnschrift"/>
              </a:rPr>
              <a:t>.</a:t>
            </a:r>
            <a:endParaRPr lang="ko-Kore-KR" altLang="en-US">
              <a:solidFill>
                <a:srgbClr val="E8E8E8"/>
              </a:solidFill>
              <a:latin typeface="Bahnschrift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1D6E6839-294C-B241-B7DA-A0A49208CF7A}"/>
              </a:ext>
            </a:extLst>
          </p:cNvPr>
          <p:cNvSpPr/>
          <p:nvPr/>
        </p:nvSpPr>
        <p:spPr>
          <a:xfrm>
            <a:off x="508000" y="4191000"/>
            <a:ext cx="5461000" cy="2413000"/>
          </a:xfrm>
          <a:prstGeom prst="roundRect">
            <a:avLst/>
          </a:prstGeom>
          <a:solidFill>
            <a:srgbClr val="2C52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672D38-CD0E-1F4E-857B-0C9485EFC782}"/>
              </a:ext>
            </a:extLst>
          </p:cNvPr>
          <p:cNvSpPr/>
          <p:nvPr/>
        </p:nvSpPr>
        <p:spPr>
          <a:xfrm>
            <a:off x="508000" y="4191000"/>
            <a:ext cx="76200" cy="24130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81EADAE-7FD9-274E-94B3-AF01910BA8C8}"/>
              </a:ext>
            </a:extLst>
          </p:cNvPr>
          <p:cNvSpPr/>
          <p:nvPr/>
        </p:nvSpPr>
        <p:spPr>
          <a:xfrm>
            <a:off x="736600" y="4381500"/>
            <a:ext cx="457200" cy="4572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  <a:latin typeface="Bahnschrift"/>
              </a:rPr>
              <a:t>3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27E1BC-8E91-BB48-99C3-FC27CD6B1E27}"/>
              </a:ext>
            </a:extLst>
          </p:cNvPr>
          <p:cNvSpPr txBox="1"/>
          <p:nvPr/>
        </p:nvSpPr>
        <p:spPr>
          <a:xfrm>
            <a:off x="1333500" y="44196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600" b="1">
                <a:solidFill>
                  <a:srgbClr val="FFFFFF"/>
                </a:solidFill>
                <a:latin typeface="Bahnschrift"/>
              </a:rPr>
              <a:t>Q3. ESC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는 무엇을 조절하는 장치일까</a:t>
            </a:r>
            <a:r>
              <a:rPr lang="en-US" altLang="ko-KR" sz="1600" b="1">
                <a:solidFill>
                  <a:srgbClr val="FFFFFF"/>
                </a:solidFill>
                <a:latin typeface="Bahnschrift"/>
              </a:rPr>
              <a:t>?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C70D55-D3B0-0040-BAC1-4F024E3649E1}"/>
              </a:ext>
            </a:extLst>
          </p:cNvPr>
          <p:cNvSpPr txBox="1"/>
          <p:nvPr/>
        </p:nvSpPr>
        <p:spPr>
          <a:xfrm>
            <a:off x="825500" y="5080000"/>
            <a:ext cx="48895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>
                <a:solidFill>
                  <a:srgbClr val="E8E8E8"/>
                </a:solidFill>
                <a:latin typeface="Bahnschrift"/>
              </a:rPr>
              <a:t>모터의 속도를 조절해요</a:t>
            </a:r>
            <a:r>
              <a:rPr lang="en-US" altLang="ko-KR">
                <a:solidFill>
                  <a:srgbClr val="E8E8E8"/>
                </a:solidFill>
                <a:latin typeface="Bahnschrift"/>
              </a:rPr>
              <a:t>!</a:t>
            </a:r>
            <a:endParaRPr lang="ko-Kore-KR" altLang="en-US">
              <a:solidFill>
                <a:srgbClr val="E8E8E8"/>
              </a:solidFill>
              <a:latin typeface="Bahnschrift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5952D3EA-B212-4B46-8D8D-38FB21E9F8CA}"/>
              </a:ext>
            </a:extLst>
          </p:cNvPr>
          <p:cNvSpPr/>
          <p:nvPr/>
        </p:nvSpPr>
        <p:spPr>
          <a:xfrm>
            <a:off x="6286500" y="4191000"/>
            <a:ext cx="5461000" cy="2413000"/>
          </a:xfrm>
          <a:prstGeom prst="roundRect">
            <a:avLst/>
          </a:prstGeom>
          <a:solidFill>
            <a:srgbClr val="2C52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65C874-BEF5-AF42-BA1E-E697BC42412F}"/>
              </a:ext>
            </a:extLst>
          </p:cNvPr>
          <p:cNvSpPr/>
          <p:nvPr/>
        </p:nvSpPr>
        <p:spPr>
          <a:xfrm>
            <a:off x="6286500" y="4191000"/>
            <a:ext cx="76200" cy="24130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062ED1F-B808-D143-9832-83B6AE6CDD6A}"/>
              </a:ext>
            </a:extLst>
          </p:cNvPr>
          <p:cNvSpPr/>
          <p:nvPr/>
        </p:nvSpPr>
        <p:spPr>
          <a:xfrm>
            <a:off x="6515100" y="4381500"/>
            <a:ext cx="457200" cy="4572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ore-KR" sz="1600" b="1">
                <a:solidFill>
                  <a:srgbClr val="FFFFFF"/>
                </a:solidFill>
                <a:latin typeface="Bahnschrift"/>
              </a:rPr>
              <a:t>4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217A07-0F9A-4A44-A9B7-0D3F0D5BE6B5}"/>
              </a:ext>
            </a:extLst>
          </p:cNvPr>
          <p:cNvSpPr txBox="1"/>
          <p:nvPr/>
        </p:nvSpPr>
        <p:spPr>
          <a:xfrm>
            <a:off x="7112000" y="44196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600" b="1">
                <a:solidFill>
                  <a:srgbClr val="FFFFFF"/>
                </a:solidFill>
                <a:latin typeface="Bahnschrift"/>
              </a:rPr>
              <a:t>Q4. </a:t>
            </a:r>
            <a:r>
              <a:rPr lang="ko-KR" altLang="en-US" sz="1600" b="1">
                <a:solidFill>
                  <a:srgbClr val="FFFFFF"/>
                </a:solidFill>
                <a:latin typeface="Bahnschrift"/>
              </a:rPr>
              <a:t>배터리가 부풀면 어떻게 해야 할까</a:t>
            </a:r>
            <a:r>
              <a:rPr lang="en-US" altLang="ko-KR" sz="1600" b="1">
                <a:solidFill>
                  <a:srgbClr val="FFFFFF"/>
                </a:solidFill>
                <a:latin typeface="Bahnschrift"/>
              </a:rPr>
              <a:t>?</a:t>
            </a:r>
            <a:endParaRPr lang="ko-Kore-KR" altLang="en-US" sz="16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663DAE-11FD-B44E-8772-69BCA3B990CE}"/>
              </a:ext>
            </a:extLst>
          </p:cNvPr>
          <p:cNvSpPr txBox="1"/>
          <p:nvPr/>
        </p:nvSpPr>
        <p:spPr>
          <a:xfrm>
            <a:off x="6604000" y="5080000"/>
            <a:ext cx="4889500" cy="1333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>
                <a:solidFill>
                  <a:srgbClr val="E8E8E8"/>
                </a:solidFill>
                <a:latin typeface="Bahnschrift"/>
              </a:rPr>
              <a:t>절대 사용 금지</a:t>
            </a:r>
            <a:r>
              <a:rPr lang="en-US" altLang="ko-KR">
                <a:solidFill>
                  <a:srgbClr val="E8E8E8"/>
                </a:solidFill>
                <a:latin typeface="Bahnschrift"/>
              </a:rPr>
              <a:t>! </a:t>
            </a:r>
            <a:r>
              <a:rPr lang="ko-KR" altLang="en-US">
                <a:solidFill>
                  <a:srgbClr val="E8E8E8"/>
                </a:solidFill>
                <a:latin typeface="Bahnschrift"/>
              </a:rPr>
              <a:t>선생님께 알려줘요</a:t>
            </a:r>
            <a:r>
              <a:rPr lang="en-US" altLang="ko-KR">
                <a:solidFill>
                  <a:srgbClr val="E8E8E8"/>
                </a:solidFill>
                <a:latin typeface="Bahnschrift"/>
              </a:rPr>
              <a:t>!</a:t>
            </a:r>
            <a:endParaRPr lang="ko-Kore-KR" altLang="en-US">
              <a:solidFill>
                <a:srgbClr val="E8E8E8"/>
              </a:solidFill>
              <a:latin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369550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692B091-E192-FD40-9F5E-77BD7040557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E5BF53-58EC-4849-9A57-11B04C4CB9BA}"/>
              </a:ext>
            </a:extLst>
          </p:cNvPr>
          <p:cNvSpPr/>
          <p:nvPr/>
        </p:nvSpPr>
        <p:spPr>
          <a:xfrm>
            <a:off x="0" y="6705600"/>
            <a:ext cx="2044700" cy="152400"/>
          </a:xfrm>
          <a:prstGeom prst="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C74101-90E9-1843-BD26-0B9147318375}"/>
              </a:ext>
            </a:extLst>
          </p:cNvPr>
          <p:cNvSpPr/>
          <p:nvPr/>
        </p:nvSpPr>
        <p:spPr>
          <a:xfrm>
            <a:off x="2032000" y="6705600"/>
            <a:ext cx="2044700" cy="152400"/>
          </a:xfrm>
          <a:prstGeom prst="rect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8ACC05-7442-5D48-8ACB-D629FCDCE527}"/>
              </a:ext>
            </a:extLst>
          </p:cNvPr>
          <p:cNvSpPr/>
          <p:nvPr/>
        </p:nvSpPr>
        <p:spPr>
          <a:xfrm>
            <a:off x="4064000" y="6705600"/>
            <a:ext cx="2044700" cy="152400"/>
          </a:xfrm>
          <a:prstGeom prst="rect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539C4B5-0027-214E-A7F3-DF1430BB2644}"/>
              </a:ext>
            </a:extLst>
          </p:cNvPr>
          <p:cNvSpPr/>
          <p:nvPr/>
        </p:nvSpPr>
        <p:spPr>
          <a:xfrm>
            <a:off x="6096000" y="6705600"/>
            <a:ext cx="2044700" cy="152400"/>
          </a:xfrm>
          <a:prstGeom prst="rect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81E8D91-79F1-C646-9FDC-9A8C6BF915A2}"/>
              </a:ext>
            </a:extLst>
          </p:cNvPr>
          <p:cNvSpPr/>
          <p:nvPr/>
        </p:nvSpPr>
        <p:spPr>
          <a:xfrm>
            <a:off x="8128000" y="6705600"/>
            <a:ext cx="2044700" cy="152400"/>
          </a:xfrm>
          <a:prstGeom prst="rect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A62376-6938-4E4D-B97E-B879F47EC3A6}"/>
              </a:ext>
            </a:extLst>
          </p:cNvPr>
          <p:cNvSpPr/>
          <p:nvPr/>
        </p:nvSpPr>
        <p:spPr>
          <a:xfrm>
            <a:off x="10160000" y="6705600"/>
            <a:ext cx="2044700" cy="152400"/>
          </a:xfrm>
          <a:prstGeom prst="rect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E0EC9-9D0E-2240-9C3B-D82622981B07}"/>
              </a:ext>
            </a:extLst>
          </p:cNvPr>
          <p:cNvSpPr txBox="1"/>
          <p:nvPr/>
        </p:nvSpPr>
        <p:spPr>
          <a:xfrm>
            <a:off x="2540000" y="152400"/>
            <a:ext cx="711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800" b="1">
                <a:solidFill>
                  <a:srgbClr val="1E3A5F"/>
                </a:solidFill>
                <a:latin typeface="Bahnschrift"/>
              </a:rPr>
              <a:t>오늘 배운 것 정리</a:t>
            </a:r>
            <a:endParaRPr lang="ko-Kore-KR" altLang="en-US" sz="28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9885605-C355-CF48-9A5D-C5BD47D21C37}"/>
              </a:ext>
            </a:extLst>
          </p:cNvPr>
          <p:cNvSpPr/>
          <p:nvPr/>
        </p:nvSpPr>
        <p:spPr>
          <a:xfrm>
            <a:off x="508000" y="825500"/>
            <a:ext cx="7112000" cy="4191000"/>
          </a:xfrm>
          <a:prstGeom prst="roundRect">
            <a:avLst/>
          </a:prstGeom>
          <a:solidFill>
            <a:srgbClr val="F8F9F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6363E9E-BC13-844F-99AB-DCEBCFBBA655}"/>
              </a:ext>
            </a:extLst>
          </p:cNvPr>
          <p:cNvSpPr/>
          <p:nvPr/>
        </p:nvSpPr>
        <p:spPr>
          <a:xfrm>
            <a:off x="698500" y="952500"/>
            <a:ext cx="1778000" cy="330200"/>
          </a:xfrm>
          <a:prstGeom prst="roundRect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Bahnschrift"/>
              </a:rPr>
              <a:t>오늘의 핵심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D77B2E2-9F86-D44E-9C98-8EAC57F708E9}"/>
              </a:ext>
            </a:extLst>
          </p:cNvPr>
          <p:cNvSpPr/>
          <p:nvPr/>
        </p:nvSpPr>
        <p:spPr>
          <a:xfrm>
            <a:off x="762000" y="1460500"/>
            <a:ext cx="406400" cy="406400"/>
          </a:xfrm>
          <a:prstGeom prst="ellipse">
            <a:avLst/>
          </a:prstGeom>
          <a:solidFill>
            <a:srgbClr val="4A90D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P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E5B206-3D8D-0B42-B3EE-52B879FF27C9}"/>
              </a:ext>
            </a:extLst>
          </p:cNvPr>
          <p:cNvSpPr txBox="1"/>
          <p:nvPr/>
        </p:nvSpPr>
        <p:spPr>
          <a:xfrm>
            <a:off x="1270000" y="1485900"/>
            <a:ext cx="6159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프로펠러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공기를 밀어 양력을 만드는 날개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AEACABE-198E-F249-9F06-48867BDA2762}"/>
              </a:ext>
            </a:extLst>
          </p:cNvPr>
          <p:cNvSpPr/>
          <p:nvPr/>
        </p:nvSpPr>
        <p:spPr>
          <a:xfrm>
            <a:off x="762000" y="2019300"/>
            <a:ext cx="406400" cy="406400"/>
          </a:xfrm>
          <a:prstGeom prst="ellipse">
            <a:avLst/>
          </a:prstGeom>
          <a:solidFill>
            <a:srgbClr val="E74C3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M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E2D296-CA72-B547-B023-F8AA8637FBA0}"/>
              </a:ext>
            </a:extLst>
          </p:cNvPr>
          <p:cNvSpPr txBox="1"/>
          <p:nvPr/>
        </p:nvSpPr>
        <p:spPr>
          <a:xfrm>
            <a:off x="1270000" y="2044700"/>
            <a:ext cx="6159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모터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BLDC):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프로펠러를 돌리는 동력원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26ED7AD-334D-AB4F-8BF2-CFAF9659A908}"/>
              </a:ext>
            </a:extLst>
          </p:cNvPr>
          <p:cNvSpPr/>
          <p:nvPr/>
        </p:nvSpPr>
        <p:spPr>
          <a:xfrm>
            <a:off x="762000" y="2578100"/>
            <a:ext cx="406400" cy="406400"/>
          </a:xfrm>
          <a:prstGeom prst="ellipse">
            <a:avLst/>
          </a:prstGeom>
          <a:solidFill>
            <a:srgbClr val="27AE6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F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4CD7BD-0DFD-9640-89D7-A864DEFEAA43}"/>
              </a:ext>
            </a:extLst>
          </p:cNvPr>
          <p:cNvSpPr txBox="1"/>
          <p:nvPr/>
        </p:nvSpPr>
        <p:spPr>
          <a:xfrm>
            <a:off x="1270000" y="2603500"/>
            <a:ext cx="6159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프레임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모든 부품을 잡아주는 뼈대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B4FE454-3B75-9649-8438-F2469383FDCD}"/>
              </a:ext>
            </a:extLst>
          </p:cNvPr>
          <p:cNvSpPr/>
          <p:nvPr/>
        </p:nvSpPr>
        <p:spPr>
          <a:xfrm>
            <a:off x="762000" y="3136900"/>
            <a:ext cx="406400" cy="406400"/>
          </a:xfrm>
          <a:prstGeom prst="ellipse">
            <a:avLst/>
          </a:prstGeom>
          <a:solidFill>
            <a:srgbClr val="9B59B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C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AEA285-06A1-2645-ABD2-B0D161CEC713}"/>
              </a:ext>
            </a:extLst>
          </p:cNvPr>
          <p:cNvSpPr txBox="1"/>
          <p:nvPr/>
        </p:nvSpPr>
        <p:spPr>
          <a:xfrm>
            <a:off x="1270000" y="3162300"/>
            <a:ext cx="6159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FC: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센서로 균형을 잡는 드론의 두뇌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96A28BA-69FC-DD4F-892D-48B523EB1A65}"/>
              </a:ext>
            </a:extLst>
          </p:cNvPr>
          <p:cNvSpPr/>
          <p:nvPr/>
        </p:nvSpPr>
        <p:spPr>
          <a:xfrm>
            <a:off x="762000" y="3695700"/>
            <a:ext cx="406400" cy="406400"/>
          </a:xfrm>
          <a:prstGeom prst="ellipse">
            <a:avLst/>
          </a:prstGeom>
          <a:solidFill>
            <a:srgbClr val="FF92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B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B66AD0-A481-5440-9EA6-2FC340383392}"/>
              </a:ext>
            </a:extLst>
          </p:cNvPr>
          <p:cNvSpPr txBox="1"/>
          <p:nvPr/>
        </p:nvSpPr>
        <p:spPr>
          <a:xfrm>
            <a:off x="1270000" y="3721100"/>
            <a:ext cx="6159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500">
                <a:solidFill>
                  <a:srgbClr val="2D3436"/>
                </a:solidFill>
                <a:latin typeface="Bahnschrift"/>
              </a:rPr>
              <a:t>배터리</a:t>
            </a:r>
            <a:r>
              <a:rPr lang="en-US" altLang="ko-KR" sz="1500">
                <a:solidFill>
                  <a:srgbClr val="2D3436"/>
                </a:solidFill>
                <a:latin typeface="Bahnschrift"/>
              </a:rPr>
              <a:t>(</a:t>
            </a:r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LiPo):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드론의 에너지원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14815E4-E905-2248-BBBE-08694F4F3C6F}"/>
              </a:ext>
            </a:extLst>
          </p:cNvPr>
          <p:cNvSpPr/>
          <p:nvPr/>
        </p:nvSpPr>
        <p:spPr>
          <a:xfrm>
            <a:off x="762000" y="4254500"/>
            <a:ext cx="406400" cy="406400"/>
          </a:xfrm>
          <a:prstGeom prst="ellipse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" altLang="ko-Kore-KR" sz="1400" b="1">
                <a:solidFill>
                  <a:srgbClr val="FFFFFF"/>
                </a:solidFill>
                <a:latin typeface="Bahnschrift"/>
              </a:rPr>
              <a:t>E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98AD95-B50A-3741-B83F-FD29DE8EA379}"/>
              </a:ext>
            </a:extLst>
          </p:cNvPr>
          <p:cNvSpPr txBox="1"/>
          <p:nvPr/>
        </p:nvSpPr>
        <p:spPr>
          <a:xfrm>
            <a:off x="1270000" y="4279900"/>
            <a:ext cx="61595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ko-Kore-KR" sz="1500">
                <a:solidFill>
                  <a:srgbClr val="2D3436"/>
                </a:solidFill>
                <a:latin typeface="Bahnschrift"/>
              </a:rPr>
              <a:t>ESC: </a:t>
            </a:r>
            <a:r>
              <a:rPr lang="ko-KR" altLang="en-US" sz="1500">
                <a:solidFill>
                  <a:srgbClr val="2D3436"/>
                </a:solidFill>
                <a:latin typeface="Bahnschrift"/>
              </a:rPr>
              <a:t>모터 속도를 조절하는 제어기</a:t>
            </a:r>
            <a:endParaRPr lang="ko-Kore-KR" altLang="en-US" sz="1500">
              <a:solidFill>
                <a:srgbClr val="2D3436"/>
              </a:solidFill>
              <a:latin typeface="Bahnschrift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96BE6352-F6F5-E54B-B1CE-B440CE511EBA}"/>
              </a:ext>
            </a:extLst>
          </p:cNvPr>
          <p:cNvSpPr/>
          <p:nvPr/>
        </p:nvSpPr>
        <p:spPr>
          <a:xfrm>
            <a:off x="7874000" y="825500"/>
            <a:ext cx="3810000" cy="2032000"/>
          </a:xfrm>
          <a:prstGeom prst="roundRect">
            <a:avLst/>
          </a:prstGeom>
          <a:solidFill>
            <a:srgbClr val="E8F4F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8457D1A0-923A-DF4F-9B8E-E2F8B7ACF7A8}"/>
              </a:ext>
            </a:extLst>
          </p:cNvPr>
          <p:cNvSpPr/>
          <p:nvPr/>
        </p:nvSpPr>
        <p:spPr>
          <a:xfrm>
            <a:off x="8064500" y="952500"/>
            <a:ext cx="1905000" cy="330200"/>
          </a:xfrm>
          <a:prstGeom prst="roundRect">
            <a:avLst/>
          </a:prstGeom>
          <a:solidFill>
            <a:srgbClr val="2980B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Bahnschrift"/>
              </a:rPr>
              <a:t>다음 시간 예고</a:t>
            </a:r>
            <a:endParaRPr lang="ko-Kore-KR" altLang="en-US" sz="1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7B1EA2-090E-B645-80EF-3E20F5D442B2}"/>
              </a:ext>
            </a:extLst>
          </p:cNvPr>
          <p:cNvSpPr txBox="1"/>
          <p:nvPr/>
        </p:nvSpPr>
        <p:spPr>
          <a:xfrm>
            <a:off x="8128000" y="1397000"/>
            <a:ext cx="330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ko-KR" sz="1600" b="1">
                <a:solidFill>
                  <a:srgbClr val="1E3A5F"/>
                </a:solidFill>
                <a:latin typeface="Bahnschrift"/>
              </a:rPr>
              <a:t>3</a:t>
            </a:r>
            <a:r>
              <a:rPr lang="ko-KR" altLang="en-US" sz="1600" b="1">
                <a:solidFill>
                  <a:srgbClr val="1E3A5F"/>
                </a:solidFill>
                <a:latin typeface="Bahnschrift"/>
              </a:rPr>
              <a:t>주차에서는
드론을 직접 조종하는
방법을 배워요</a:t>
            </a:r>
            <a:r>
              <a:rPr lang="en-US" altLang="ko-KR" sz="1600" b="1">
                <a:solidFill>
                  <a:srgbClr val="1E3A5F"/>
                </a:solidFill>
                <a:latin typeface="Bahnschrift"/>
              </a:rPr>
              <a:t>!</a:t>
            </a:r>
            <a:endParaRPr lang="ko-Kore-KR" altLang="en-US" sz="1600" b="1">
              <a:solidFill>
                <a:srgbClr val="1E3A5F"/>
              </a:solidFill>
              <a:latin typeface="Bahnschrift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F261C02A-0F31-8A4D-ACD5-5CBA78F294D2}"/>
              </a:ext>
            </a:extLst>
          </p:cNvPr>
          <p:cNvSpPr/>
          <p:nvPr/>
        </p:nvSpPr>
        <p:spPr>
          <a:xfrm>
            <a:off x="7874000" y="2921000"/>
            <a:ext cx="3810000" cy="2095500"/>
          </a:xfrm>
          <a:prstGeom prst="roundRect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BED43A-B4CE-B54E-8A72-02D83920EE52}"/>
              </a:ext>
            </a:extLst>
          </p:cNvPr>
          <p:cNvSpPr txBox="1"/>
          <p:nvPr/>
        </p:nvSpPr>
        <p:spPr>
          <a:xfrm>
            <a:off x="8191500" y="3213100"/>
            <a:ext cx="3175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2400" b="1">
                <a:solidFill>
                  <a:srgbClr val="FFFFFF"/>
                </a:solidFill>
                <a:latin typeface="Bahnschrift"/>
              </a:rPr>
              <a:t>오늘 수업
수고했어요</a:t>
            </a:r>
            <a:r>
              <a:rPr lang="en-US" altLang="ko-KR" sz="2400" b="1">
                <a:solidFill>
                  <a:srgbClr val="FFFFFF"/>
                </a:solidFill>
                <a:latin typeface="Bahnschrift"/>
              </a:rPr>
              <a:t>!</a:t>
            </a:r>
            <a:endParaRPr lang="ko-Kore-KR" altLang="en-US" sz="2400" b="1">
              <a:solidFill>
                <a:srgbClr val="FFFFFF"/>
              </a:solidFill>
              <a:latin typeface="Bahnschrift"/>
            </a:endParaRPr>
          </a:p>
        </p:txBody>
      </p:sp>
      <p:sp>
        <p:nvSpPr>
          <p:cNvPr id="29" name="포인트가 5개인 별[5] 28">
            <a:extLst>
              <a:ext uri="{FF2B5EF4-FFF2-40B4-BE49-F238E27FC236}">
                <a16:creationId xmlns:a16="http://schemas.microsoft.com/office/drawing/2014/main" id="{5CC72E22-9940-194E-89E6-D8B4C9880F74}"/>
              </a:ext>
            </a:extLst>
          </p:cNvPr>
          <p:cNvSpPr/>
          <p:nvPr/>
        </p:nvSpPr>
        <p:spPr>
          <a:xfrm>
            <a:off x="9461500" y="4445000"/>
            <a:ext cx="508000" cy="508000"/>
          </a:xfrm>
          <a:prstGeom prst="star5">
            <a:avLst/>
          </a:prstGeom>
          <a:solidFill>
            <a:srgbClr val="F1C40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1643561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9A8CB91-AC44-664C-A977-12BD00BE9E37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760</Words>
  <Application>Microsoft Macintosh PowerPoint</Application>
  <PresentationFormat>와이드스크린</PresentationFormat>
  <Paragraphs>113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Bahnschrift</vt:lpstr>
      <vt:lpstr>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(대학원생) 강경태 (기계공학과)</dc:creator>
  <cp:lastModifiedBy>(대학원생) 강경태 (기계공학과)</cp:lastModifiedBy>
  <cp:revision>2</cp:revision>
  <dcterms:created xsi:type="dcterms:W3CDTF">2026-02-17T08:12:00Z</dcterms:created>
  <dcterms:modified xsi:type="dcterms:W3CDTF">2026-02-20T12:58:51Z</dcterms:modified>
</cp:coreProperties>
</file>